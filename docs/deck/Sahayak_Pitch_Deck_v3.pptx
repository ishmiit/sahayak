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India banked half a billion people, then left them to be robbed. Sahayak protects them where they are: at the counter and at home, offline, in their language, privately.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Losses were flat from 2024 to 2025 while complaints rose: the fraud is moving to the people least able to spot it. The pension figure is from LASI 2017–18, say so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counter is where people meet Sahayak and claim benefits; the phone is where it protects them. Invite the judges to scan the code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screenshots from the running prototype. The second one was taken with the network switched off: the pill says 'On this phone · offline'.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verdict never depends on a model alone; with the model off, everything still works, on the node and on the 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it before they ask: we promised a big model, we measured one, and we chose rules for the verdict because it was right more often on genuine messages, 1,000 times faster, and every verdict explains itself. The Crucible server was never connected to Sahayak; the change note says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complement the network filters and the helplines; no one else checks the thing in front of the person, offline, and explains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number comes from a script in bench/ and the testing report; the caveats are on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Optum's mission is healthier lives: this is the shortest path from Sahayak to a hospital bill that never has to be paid.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Impact is economic (rupees at risk, entitlements claimed, cards made) and social (safety, dignity,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operator's incentive matters: most rural operators earn very little, and every slip is a paid service at the counter.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Maps Sahayak onto the track: financial inclusion first, with public service delivery and health on the same counter.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the technology is built; the partnerships are what this challenge begins. Update the status pills in docs/deck/facts_v3.json as letters come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technology is built and measured; the pilot is integration and field validation, not new research.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line: banked half a billion; Sahayak helps keep them safe and claim what they are owed.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F14"/>
        </a:solidFill>
      </p:bgPr>
    </p:bg>
    <p:spTree>
      <p:nvGrpSpPr>
        <p:cNvPr id="1" name=""/>
        <p:cNvGrpSpPr/>
        <p:nvPr/>
      </p:nvGrpSpPr>
      <p:grpSpPr>
        <a:xfrm>
          <a:off x="0" y="0"/>
          <a:ext cx="0" cy="0"/>
          <a:chOff x="0" y="0"/>
          <a:chExt cx="0" cy="0"/>
        </a:xfrm>
      </p:grpSpPr>
      <p:sp>
        <p:nvSpPr>
          <p:cNvPr id="2" name="Shape 0"/>
          <p:cNvSpPr/>
          <p:nvPr/>
        </p:nvSpPr>
        <p:spPr>
          <a:xfrm>
            <a:off x="11475720" y="384048"/>
            <a:ext cx="109728" cy="109728"/>
          </a:xfrm>
          <a:prstGeom prst="ellipse">
            <a:avLst/>
          </a:prstGeom>
          <a:solidFill>
            <a:srgbClr val="FF9E3D"/>
          </a:solidFill>
          <a:ln/>
        </p:spPr>
      </p:sp>
      <p:sp>
        <p:nvSpPr>
          <p:cNvPr id="3" name="Shape 1"/>
          <p:cNvSpPr/>
          <p:nvPr/>
        </p:nvSpPr>
        <p:spPr>
          <a:xfrm>
            <a:off x="11658600" y="384048"/>
            <a:ext cx="109728" cy="109728"/>
          </a:xfrm>
          <a:prstGeom prst="ellipse">
            <a:avLst/>
          </a:prstGeom>
          <a:solidFill>
            <a:srgbClr val="EEF3EE"/>
          </a:solidFill>
          <a:ln/>
        </p:spPr>
      </p:sp>
      <p:sp>
        <p:nvSpPr>
          <p:cNvPr id="4" name="Shape 2"/>
          <p:cNvSpPr/>
          <p:nvPr/>
        </p:nvSpPr>
        <p:spPr>
          <a:xfrm>
            <a:off x="11841480" y="384048"/>
            <a:ext cx="109728" cy="109728"/>
          </a:xfrm>
          <a:prstGeom prst="ellipse">
            <a:avLst/>
          </a:prstGeom>
          <a:solidFill>
            <a:srgbClr val="27C08A"/>
          </a:solidFill>
          <a:ln/>
        </p:spPr>
      </p:sp>
      <p:sp>
        <p:nvSpPr>
          <p:cNvPr id="5" name="Text 3"/>
          <p:cNvSpPr/>
          <p:nvPr/>
        </p:nvSpPr>
        <p:spPr>
          <a:xfrm>
            <a:off x="640080" y="1828800"/>
            <a:ext cx="10972800" cy="1097280"/>
          </a:xfrm>
          <a:prstGeom prst="rect">
            <a:avLst/>
          </a:prstGeom>
          <a:noFill/>
          <a:ln/>
        </p:spPr>
        <p:txBody>
          <a:bodyPr wrap="square" lIns="0" tIns="0" rIns="0" bIns="0" rtlCol="0" anchor="ctr"/>
          <a:lstStyle/>
          <a:p>
            <a:pPr indent="0" marL="0">
              <a:buNone/>
            </a:pPr>
            <a:r>
              <a:rPr lang="en-US" sz="6200" b="1" spc="100" kern="0" dirty="0">
                <a:solidFill>
                  <a:srgbClr val="EEF3EE"/>
                </a:solidFill>
                <a:latin typeface="Arial" pitchFamily="34" charset="0"/>
                <a:ea typeface="Arial" pitchFamily="34" charset="-122"/>
                <a:cs typeface="Arial" pitchFamily="34" charset="-120"/>
              </a:rPr>
              <a:t>SAHAYAK</a:t>
            </a:r>
            <a:endParaRPr lang="en-US" sz="6200" dirty="0"/>
          </a:p>
        </p:txBody>
      </p:sp>
      <p:sp>
        <p:nvSpPr>
          <p:cNvPr id="6" name="Text 4"/>
          <p:cNvSpPr/>
          <p:nvPr/>
        </p:nvSpPr>
        <p:spPr>
          <a:xfrm>
            <a:off x="658368" y="2971800"/>
            <a:ext cx="10607040" cy="548640"/>
          </a:xfrm>
          <a:prstGeom prst="rect">
            <a:avLst/>
          </a:prstGeom>
          <a:noFill/>
          <a:ln/>
        </p:spPr>
        <p:txBody>
          <a:bodyPr wrap="square" lIns="0" tIns="0" rIns="0" bIns="0" rtlCol="0" anchor="ctr"/>
          <a:lstStyle/>
          <a:p>
            <a:pPr indent="0" marL="0">
              <a:buNone/>
            </a:pPr>
            <a:r>
              <a:rPr lang="en-US" sz="2200" b="1" dirty="0">
                <a:solidFill>
                  <a:srgbClr val="27C08A"/>
                </a:solidFill>
                <a:latin typeface="Arial" pitchFamily="34" charset="0"/>
                <a:ea typeface="Arial" pitchFamily="34" charset="-122"/>
                <a:cs typeface="Arial" pitchFamily="34" charset="-120"/>
              </a:rPr>
              <a:t>Offline. Vernacular. On your side.</a:t>
            </a:r>
            <a:endParaRPr lang="en-US" sz="2200" dirty="0"/>
          </a:p>
        </p:txBody>
      </p:sp>
      <p:sp>
        <p:nvSpPr>
          <p:cNvPr id="7" name="Text 5"/>
          <p:cNvSpPr/>
          <p:nvPr/>
        </p:nvSpPr>
        <p:spPr>
          <a:xfrm>
            <a:off x="658368" y="3611880"/>
            <a:ext cx="10424160" cy="731520"/>
          </a:xfrm>
          <a:prstGeom prst="rect">
            <a:avLst/>
          </a:prstGeom>
          <a:noFill/>
          <a:ln/>
        </p:spPr>
        <p:txBody>
          <a:bodyPr wrap="square" lIns="0" tIns="0" rIns="0" bIns="0" rtlCol="0" anchor="ctr"/>
          <a:lstStyle/>
          <a:p>
            <a:pPr indent="0" marL="0">
              <a:buNone/>
            </a:pPr>
            <a:r>
              <a:rPr lang="en-US" sz="1500" dirty="0">
                <a:solidFill>
                  <a:srgbClr val="9DB0A4"/>
                </a:solidFill>
                <a:latin typeface="Calibri" pitchFamily="34" charset="0"/>
                <a:ea typeface="Calibri" pitchFamily="34" charset="-122"/>
                <a:cs typeface="Calibri" pitchFamily="34" charset="-120"/>
              </a:rPr>
              <a:t>A scam shield and benefits guide for people new to digital money: at the CSC counter and on their own phone, with no internet, in Hindi and English, by voice or touch. Built and measured.</a:t>
            </a:r>
            <a:endParaRPr lang="en-US" sz="1500" dirty="0"/>
          </a:p>
        </p:txBody>
      </p:sp>
      <p:sp>
        <p:nvSpPr>
          <p:cNvPr id="8" name="Text 6"/>
          <p:cNvSpPr/>
          <p:nvPr/>
        </p:nvSpPr>
        <p:spPr>
          <a:xfrm>
            <a:off x="658368" y="5577840"/>
            <a:ext cx="10972800" cy="365760"/>
          </a:xfrm>
          <a:prstGeom prst="rect">
            <a:avLst/>
          </a:prstGeom>
          <a:noFill/>
          <a:ln/>
        </p:spPr>
        <p:txBody>
          <a:bodyPr wrap="square" lIns="0" tIns="0" rIns="0" bIns="0" rtlCol="0" anchor="ctr"/>
          <a:lstStyle/>
          <a:p>
            <a:pPr indent="0" marL="0">
              <a:buNone/>
            </a:pPr>
            <a:r>
              <a:rPr lang="en-US" sz="1300" b="1" dirty="0">
                <a:solidFill>
                  <a:srgbClr val="EEF3EE"/>
                </a:solidFill>
                <a:latin typeface="Calibri" pitchFamily="34" charset="0"/>
                <a:ea typeface="Calibri" pitchFamily="34" charset="-122"/>
                <a:cs typeface="Calibri" pitchFamily="34" charset="-120"/>
              </a:rPr>
              <a:t>Ideas for India 2026</a:t>
            </a:r>
            <a:pPr indent="0" marL="0">
              <a:buNone/>
            </a:pPr>
            <a:r>
              <a:rPr lang="en-US" sz="1300" dirty="0">
                <a:solidFill>
                  <a:srgbClr val="9DB0A4"/>
                </a:solidFill>
                <a:latin typeface="Calibri" pitchFamily="34" charset="0"/>
                <a:ea typeface="Calibri" pitchFamily="34" charset="-122"/>
                <a:cs typeface="Calibri" pitchFamily="34" charset="-120"/>
              </a:rPr>
              <a:t>   ·   Inclusive Innovation for Bharat · Financial Inclusion</a:t>
            </a:r>
            <a:endParaRPr lang="en-US" sz="1300" dirty="0"/>
          </a:p>
        </p:txBody>
      </p:sp>
      <p:sp>
        <p:nvSpPr>
          <p:cNvPr id="9" name="Text 7"/>
          <p:cNvSpPr/>
          <p:nvPr/>
        </p:nvSpPr>
        <p:spPr>
          <a:xfrm>
            <a:off x="658368" y="5943600"/>
            <a:ext cx="10972800" cy="365760"/>
          </a:xfrm>
          <a:prstGeom prst="rect">
            <a:avLst/>
          </a:prstGeom>
          <a:noFill/>
          <a:ln/>
        </p:spPr>
        <p:txBody>
          <a:bodyPr wrap="square" lIns="0" tIns="0" rIns="0" bIns="0" rtlCol="0" anchor="ctr"/>
          <a:lstStyle/>
          <a:p>
            <a:pPr indent="0" marL="0">
              <a:buNone/>
            </a:pPr>
            <a:r>
              <a:rPr lang="en-US" sz="1300" dirty="0">
                <a:solidFill>
                  <a:srgbClr val="6E8579"/>
                </a:solidFill>
                <a:latin typeface="Calibri" pitchFamily="34" charset="0"/>
                <a:ea typeface="Calibri" pitchFamily="34" charset="-122"/>
                <a:cs typeface="Calibri" pitchFamily="34" charset="-120"/>
              </a:rPr>
              <a:t>Roshan Raj  ·  Ishmiit Singh</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F14"/>
        </a:solidFill>
      </p:bgPr>
    </p:bg>
    <p:spTree>
      <p:nvGrpSpPr>
        <p:cNvPr id="1" name=""/>
        <p:cNvGrpSpPr/>
        <p:nvPr/>
      </p:nvGrpSpPr>
      <p:grpSpPr>
        <a:xfrm>
          <a:off x="0" y="0"/>
          <a:ext cx="0" cy="0"/>
          <a:chOff x="0" y="0"/>
          <a:chExt cx="0" cy="0"/>
        </a:xfrm>
      </p:grpSpPr>
      <p:sp>
        <p:nvSpPr>
          <p:cNvPr id="2" name="Shape 0"/>
          <p:cNvSpPr/>
          <p:nvPr/>
        </p:nvSpPr>
        <p:spPr>
          <a:xfrm>
            <a:off x="11475720" y="384048"/>
            <a:ext cx="109728" cy="109728"/>
          </a:xfrm>
          <a:prstGeom prst="ellipse">
            <a:avLst/>
          </a:prstGeom>
          <a:solidFill>
            <a:srgbClr val="FF9E3D"/>
          </a:solidFill>
          <a:ln/>
        </p:spPr>
      </p:sp>
      <p:sp>
        <p:nvSpPr>
          <p:cNvPr id="3" name="Shape 1"/>
          <p:cNvSpPr/>
          <p:nvPr/>
        </p:nvSpPr>
        <p:spPr>
          <a:xfrm>
            <a:off x="11658600" y="384048"/>
            <a:ext cx="109728" cy="109728"/>
          </a:xfrm>
          <a:prstGeom prst="ellipse">
            <a:avLst/>
          </a:prstGeom>
          <a:solidFill>
            <a:srgbClr val="EEF3EE"/>
          </a:solidFill>
          <a:ln/>
        </p:spPr>
      </p:sp>
      <p:sp>
        <p:nvSpPr>
          <p:cNvPr id="4" name="Shape 2"/>
          <p:cNvSpPr/>
          <p:nvPr/>
        </p:nvSpPr>
        <p:spPr>
          <a:xfrm>
            <a:off x="11841480" y="384048"/>
            <a:ext cx="109728" cy="109728"/>
          </a:xfrm>
          <a:prstGeom prst="ellipse">
            <a:avLst/>
          </a:prstGeom>
          <a:solidFill>
            <a:srgbClr val="27C08A"/>
          </a:solidFill>
          <a:ln/>
        </p:spPr>
      </p:sp>
      <p:sp>
        <p:nvSpPr>
          <p:cNvPr id="5" name="Shape 3"/>
          <p:cNvSpPr/>
          <p:nvPr/>
        </p:nvSpPr>
        <p:spPr>
          <a:xfrm>
            <a:off x="566928" y="603504"/>
            <a:ext cx="128016" cy="128016"/>
          </a:xfrm>
          <a:prstGeom prst="ellipse">
            <a:avLst/>
          </a:prstGeom>
          <a:solidFill>
            <a:srgbClr val="27C08A"/>
          </a:solidFill>
          <a:ln/>
        </p:spPr>
      </p:sp>
      <p:sp>
        <p:nvSpPr>
          <p:cNvPr id="6" name="Text 4"/>
          <p:cNvSpPr/>
          <p:nvPr/>
        </p:nvSpPr>
        <p:spPr>
          <a:xfrm>
            <a:off x="777240" y="457200"/>
            <a:ext cx="10058400" cy="411480"/>
          </a:xfrm>
          <a:prstGeom prst="rect">
            <a:avLst/>
          </a:prstGeom>
          <a:noFill/>
          <a:ln/>
        </p:spPr>
        <p:txBody>
          <a:bodyPr wrap="square" lIns="0" tIns="0" rIns="0" bIns="0" rtlCol="0" anchor="ctr"/>
          <a:lstStyle/>
          <a:p>
            <a:pPr indent="0" marL="0">
              <a:buNone/>
            </a:pPr>
            <a:r>
              <a:rPr lang="en-US" sz="1250" b="1" spc="200" kern="0" dirty="0">
                <a:solidFill>
                  <a:srgbClr val="27C08A"/>
                </a:solidFill>
                <a:latin typeface="Arial" pitchFamily="34" charset="0"/>
                <a:ea typeface="Arial" pitchFamily="34" charset="-122"/>
                <a:cs typeface="Arial" pitchFamily="34" charset="-120"/>
              </a:rPr>
              <a:t>PROBLEM STATEMENT</a:t>
            </a:r>
            <a:endParaRPr lang="en-US" sz="1250" dirty="0"/>
          </a:p>
        </p:txBody>
      </p:sp>
      <p:sp>
        <p:nvSpPr>
          <p:cNvPr id="7" name="Text 5"/>
          <p:cNvSpPr/>
          <p:nvPr/>
        </p:nvSpPr>
        <p:spPr>
          <a:xfrm>
            <a:off x="548640" y="868680"/>
            <a:ext cx="11064240" cy="914400"/>
          </a:xfrm>
          <a:prstGeom prst="rect">
            <a:avLst/>
          </a:prstGeom>
          <a:noFill/>
          <a:ln/>
        </p:spPr>
        <p:txBody>
          <a:bodyPr wrap="square" lIns="0" tIns="0" rIns="0" bIns="0" rtlCol="0" anchor="ctr"/>
          <a:lstStyle/>
          <a:p>
            <a:pPr indent="0" marL="0">
              <a:buNone/>
            </a:pPr>
            <a:r>
              <a:rPr lang="en-US" sz="3000" b="1" dirty="0">
                <a:solidFill>
                  <a:srgbClr val="EEF3EE"/>
                </a:solidFill>
                <a:latin typeface="Arial" pitchFamily="34" charset="0"/>
                <a:ea typeface="Arial" pitchFamily="34" charset="-122"/>
                <a:cs typeface="Arial" pitchFamily="34" charset="-120"/>
              </a:rPr>
              <a:t>Banked, then left to be robbed</a:t>
            </a:r>
            <a:endParaRPr lang="en-US" sz="3000" dirty="0"/>
          </a:p>
        </p:txBody>
      </p:sp>
      <p:sp>
        <p:nvSpPr>
          <p:cNvPr id="8" name="Text 6"/>
          <p:cNvSpPr/>
          <p:nvPr/>
        </p:nvSpPr>
        <p:spPr>
          <a:xfrm>
            <a:off x="548640" y="1737360"/>
            <a:ext cx="11064240" cy="502920"/>
          </a:xfrm>
          <a:prstGeom prst="rect">
            <a:avLst/>
          </a:prstGeom>
          <a:noFill/>
          <a:ln/>
        </p:spPr>
        <p:txBody>
          <a:bodyPr wrap="square" lIns="0" tIns="0" rIns="0" bIns="0" rtlCol="0" anchor="ctr"/>
          <a:lstStyle/>
          <a:p>
            <a:pPr indent="0" marL="0">
              <a:buNone/>
            </a:pPr>
            <a:r>
              <a:rPr lang="en-US" sz="1500" dirty="0">
                <a:solidFill>
                  <a:srgbClr val="9DB0A4"/>
                </a:solidFill>
                <a:latin typeface="Calibri" pitchFamily="34" charset="0"/>
                <a:ea typeface="Calibri" pitchFamily="34" charset="-122"/>
                <a:cs typeface="Calibri" pitchFamily="34" charset="-120"/>
              </a:rPr>
              <a:t>Hundreds of millions of first-time account holders now get OTPs, UPI requests and scheme messages they were never taught to read, and miss benefits they are owed.</a:t>
            </a:r>
            <a:endParaRPr lang="en-US" sz="1500" dirty="0"/>
          </a:p>
        </p:txBody>
      </p:sp>
      <p:sp>
        <p:nvSpPr>
          <p:cNvPr id="9" name="Shape 7"/>
          <p:cNvSpPr/>
          <p:nvPr/>
        </p:nvSpPr>
        <p:spPr>
          <a:xfrm>
            <a:off x="548640" y="2423160"/>
            <a:ext cx="2633472" cy="2103120"/>
          </a:xfrm>
          <a:prstGeom prst="roundRect">
            <a:avLst>
              <a:gd name="adj" fmla="val 4348"/>
            </a:avLst>
          </a:prstGeom>
          <a:solidFill>
            <a:srgbClr val="152017"/>
          </a:solidFill>
          <a:ln w="12700">
            <a:solidFill>
              <a:srgbClr val="2C4636"/>
            </a:solidFill>
            <a:prstDash val="solid"/>
          </a:ln>
          <a:effectLst>
            <a:outerShdw sx="100000" sy="100000" kx="0" ky="0" algn="bl" rotWithShape="0" blurRad="127000" dist="38100" dir="5400000">
              <a:srgbClr val="000000">
                <a:alpha val="40000"/>
              </a:srgbClr>
            </a:outerShdw>
          </a:effectLst>
        </p:spPr>
      </p:sp>
      <p:sp>
        <p:nvSpPr>
          <p:cNvPr id="10" name="Text 8"/>
          <p:cNvSpPr/>
          <p:nvPr/>
        </p:nvSpPr>
        <p:spPr>
          <a:xfrm>
            <a:off x="777240" y="2606040"/>
            <a:ext cx="2286000" cy="685800"/>
          </a:xfrm>
          <a:prstGeom prst="rect">
            <a:avLst/>
          </a:prstGeom>
          <a:noFill/>
          <a:ln/>
        </p:spPr>
        <p:txBody>
          <a:bodyPr wrap="square" lIns="0" tIns="0" rIns="0" bIns="0" rtlCol="0" anchor="b">
            <a:normAutofit/>
          </a:bodyPr>
          <a:lstStyle/>
          <a:p>
            <a:pPr indent="0" marL="0">
              <a:buNone/>
            </a:pPr>
            <a:r>
              <a:rPr lang="en-US" sz="2400" b="1" dirty="0">
                <a:solidFill>
                  <a:srgbClr val="FF9E3D"/>
                </a:solidFill>
                <a:latin typeface="Arial" pitchFamily="34" charset="0"/>
                <a:ea typeface="Arial" pitchFamily="34" charset="-122"/>
                <a:cs typeface="Arial" pitchFamily="34" charset="-120"/>
              </a:rPr>
              <a:t>₹22,495 crore</a:t>
            </a:r>
            <a:endParaRPr lang="en-US" sz="2400" dirty="0"/>
          </a:p>
        </p:txBody>
      </p:sp>
      <p:sp>
        <p:nvSpPr>
          <p:cNvPr id="11" name="Text 9"/>
          <p:cNvSpPr/>
          <p:nvPr/>
        </p:nvSpPr>
        <p:spPr>
          <a:xfrm>
            <a:off x="777240" y="3383280"/>
            <a:ext cx="2240280" cy="1051560"/>
          </a:xfrm>
          <a:prstGeom prst="rect">
            <a:avLst/>
          </a:prstGeom>
          <a:noFill/>
          <a:ln/>
        </p:spPr>
        <p:txBody>
          <a:bodyPr wrap="square" lIns="0" tIns="0" rIns="0" bIns="0" rtlCol="0" anchor="t"/>
          <a:lstStyle/>
          <a:p>
            <a:pPr indent="0" marL="0">
              <a:buNone/>
            </a:pPr>
            <a:r>
              <a:rPr lang="en-US" sz="1250" dirty="0">
                <a:solidFill>
                  <a:srgbClr val="9DB0A4"/>
                </a:solidFill>
                <a:latin typeface="Calibri" pitchFamily="34" charset="0"/>
                <a:ea typeface="Calibri" pitchFamily="34" charset="-122"/>
                <a:cs typeface="Calibri" pitchFamily="34" charset="-120"/>
              </a:rPr>
              <a:t>lost to financial cyber fraud in 2025, across 24 lakh complaints</a:t>
            </a:r>
            <a:endParaRPr lang="en-US" sz="1250" dirty="0"/>
          </a:p>
        </p:txBody>
      </p:sp>
      <p:sp>
        <p:nvSpPr>
          <p:cNvPr id="12" name="Shape 10"/>
          <p:cNvSpPr/>
          <p:nvPr/>
        </p:nvSpPr>
        <p:spPr>
          <a:xfrm>
            <a:off x="3364992" y="2423160"/>
            <a:ext cx="2633472" cy="2103120"/>
          </a:xfrm>
          <a:prstGeom prst="roundRect">
            <a:avLst>
              <a:gd name="adj" fmla="val 4348"/>
            </a:avLst>
          </a:prstGeom>
          <a:solidFill>
            <a:srgbClr val="152017"/>
          </a:solidFill>
          <a:ln w="12700">
            <a:solidFill>
              <a:srgbClr val="2C4636"/>
            </a:solidFill>
            <a:prstDash val="solid"/>
          </a:ln>
          <a:effectLst>
            <a:outerShdw sx="100000" sy="100000" kx="0" ky="0" algn="bl" rotWithShape="0" blurRad="127000" dist="38100" dir="5400000">
              <a:srgbClr val="000000">
                <a:alpha val="40000"/>
              </a:srgbClr>
            </a:outerShdw>
          </a:effectLst>
        </p:spPr>
      </p:sp>
      <p:sp>
        <p:nvSpPr>
          <p:cNvPr id="13" name="Text 11"/>
          <p:cNvSpPr/>
          <p:nvPr/>
        </p:nvSpPr>
        <p:spPr>
          <a:xfrm>
            <a:off x="3593592" y="2606040"/>
            <a:ext cx="2286000" cy="685800"/>
          </a:xfrm>
          <a:prstGeom prst="rect">
            <a:avLst/>
          </a:prstGeom>
          <a:noFill/>
          <a:ln/>
        </p:spPr>
        <p:txBody>
          <a:bodyPr wrap="square" lIns="0" tIns="0" rIns="0" bIns="0" rtlCol="0" anchor="b">
            <a:normAutofit/>
          </a:bodyPr>
          <a:lstStyle/>
          <a:p>
            <a:pPr indent="0" marL="0">
              <a:buNone/>
            </a:pPr>
            <a:r>
              <a:rPr lang="en-US" sz="2400" b="1" dirty="0">
                <a:solidFill>
                  <a:srgbClr val="FF9E3D"/>
                </a:solidFill>
                <a:latin typeface="Arial" pitchFamily="34" charset="0"/>
                <a:ea typeface="Arial" pitchFamily="34" charset="-122"/>
                <a:cs typeface="Arial" pitchFamily="34" charset="-120"/>
              </a:rPr>
              <a:t>₹4,005 crore</a:t>
            </a:r>
            <a:endParaRPr lang="en-US" sz="2400" dirty="0"/>
          </a:p>
        </p:txBody>
      </p:sp>
      <p:sp>
        <p:nvSpPr>
          <p:cNvPr id="14" name="Text 12"/>
          <p:cNvSpPr/>
          <p:nvPr/>
        </p:nvSpPr>
        <p:spPr>
          <a:xfrm>
            <a:off x="3593592" y="3383280"/>
            <a:ext cx="2240280" cy="1051560"/>
          </a:xfrm>
          <a:prstGeom prst="rect">
            <a:avLst/>
          </a:prstGeom>
          <a:noFill/>
          <a:ln/>
        </p:spPr>
        <p:txBody>
          <a:bodyPr wrap="square" lIns="0" tIns="0" rIns="0" bIns="0" rtlCol="0" anchor="t"/>
          <a:lstStyle/>
          <a:p>
            <a:pPr indent="0" marL="0">
              <a:buNone/>
            </a:pPr>
            <a:r>
              <a:rPr lang="en-US" sz="1250" dirty="0">
                <a:solidFill>
                  <a:srgbClr val="9DB0A4"/>
                </a:solidFill>
                <a:latin typeface="Calibri" pitchFamily="34" charset="0"/>
                <a:ea typeface="Calibri" pitchFamily="34" charset="-122"/>
                <a:cs typeface="Calibri" pitchFamily="34" charset="-120"/>
              </a:rPr>
              <a:t>lost by senior citizens in 2025 (1,03,488 complaints)</a:t>
            </a:r>
            <a:endParaRPr lang="en-US" sz="1250" dirty="0"/>
          </a:p>
        </p:txBody>
      </p:sp>
      <p:sp>
        <p:nvSpPr>
          <p:cNvPr id="15" name="Shape 13"/>
          <p:cNvSpPr/>
          <p:nvPr/>
        </p:nvSpPr>
        <p:spPr>
          <a:xfrm>
            <a:off x="6181344" y="2423160"/>
            <a:ext cx="2633472" cy="2103120"/>
          </a:xfrm>
          <a:prstGeom prst="roundRect">
            <a:avLst>
              <a:gd name="adj" fmla="val 4348"/>
            </a:avLst>
          </a:prstGeom>
          <a:solidFill>
            <a:srgbClr val="152017"/>
          </a:solidFill>
          <a:ln w="12700">
            <a:solidFill>
              <a:srgbClr val="2C4636"/>
            </a:solidFill>
            <a:prstDash val="solid"/>
          </a:ln>
          <a:effectLst>
            <a:outerShdw sx="100000" sy="100000" kx="0" ky="0" algn="bl" rotWithShape="0" blurRad="127000" dist="38100" dir="5400000">
              <a:srgbClr val="000000">
                <a:alpha val="40000"/>
              </a:srgbClr>
            </a:outerShdw>
          </a:effectLst>
        </p:spPr>
      </p:sp>
      <p:sp>
        <p:nvSpPr>
          <p:cNvPr id="16" name="Text 14"/>
          <p:cNvSpPr/>
          <p:nvPr/>
        </p:nvSpPr>
        <p:spPr>
          <a:xfrm>
            <a:off x="6409944" y="2606040"/>
            <a:ext cx="2286000" cy="685800"/>
          </a:xfrm>
          <a:prstGeom prst="rect">
            <a:avLst/>
          </a:prstGeom>
          <a:noFill/>
          <a:ln/>
        </p:spPr>
        <p:txBody>
          <a:bodyPr wrap="square" lIns="0" tIns="0" rIns="0" bIns="0" rtlCol="0" anchor="b">
            <a:normAutofit/>
          </a:bodyPr>
          <a:lstStyle/>
          <a:p>
            <a:pPr indent="0" marL="0">
              <a:buNone/>
            </a:pPr>
            <a:r>
              <a:rPr lang="en-US" sz="2400" b="1" dirty="0">
                <a:solidFill>
                  <a:srgbClr val="4FE3B0"/>
                </a:solidFill>
                <a:latin typeface="Arial" pitchFamily="34" charset="0"/>
                <a:ea typeface="Arial" pitchFamily="34" charset="-122"/>
                <a:cs typeface="Arial" pitchFamily="34" charset="-120"/>
              </a:rPr>
              <a:t>1 in 5</a:t>
            </a:r>
            <a:endParaRPr lang="en-US" sz="2400" dirty="0"/>
          </a:p>
        </p:txBody>
      </p:sp>
      <p:sp>
        <p:nvSpPr>
          <p:cNvPr id="17" name="Text 15"/>
          <p:cNvSpPr/>
          <p:nvPr/>
        </p:nvSpPr>
        <p:spPr>
          <a:xfrm>
            <a:off x="6409944" y="3383280"/>
            <a:ext cx="2240280" cy="1051560"/>
          </a:xfrm>
          <a:prstGeom prst="rect">
            <a:avLst/>
          </a:prstGeom>
          <a:noFill/>
          <a:ln/>
        </p:spPr>
        <p:txBody>
          <a:bodyPr wrap="square" lIns="0" tIns="0" rIns="0" bIns="0" rtlCol="0" anchor="t"/>
          <a:lstStyle/>
          <a:p>
            <a:pPr indent="0" marL="0">
              <a:buNone/>
            </a:pPr>
            <a:r>
              <a:rPr lang="en-US" sz="1250" dirty="0">
                <a:solidFill>
                  <a:srgbClr val="9DB0A4"/>
                </a:solidFill>
                <a:latin typeface="Calibri" pitchFamily="34" charset="0"/>
                <a:ea typeface="Calibri" pitchFamily="34" charset="-122"/>
                <a:cs typeface="Calibri" pitchFamily="34" charset="-120"/>
              </a:rPr>
              <a:t>families with a UPI user hit by UPI fraud in the last 3 years; 51% never reported it</a:t>
            </a:r>
            <a:endParaRPr lang="en-US" sz="1250" dirty="0"/>
          </a:p>
        </p:txBody>
      </p:sp>
      <p:sp>
        <p:nvSpPr>
          <p:cNvPr id="18" name="Shape 16"/>
          <p:cNvSpPr/>
          <p:nvPr/>
        </p:nvSpPr>
        <p:spPr>
          <a:xfrm>
            <a:off x="8997696" y="2423160"/>
            <a:ext cx="2633472" cy="2103120"/>
          </a:xfrm>
          <a:prstGeom prst="roundRect">
            <a:avLst>
              <a:gd name="adj" fmla="val 4348"/>
            </a:avLst>
          </a:prstGeom>
          <a:solidFill>
            <a:srgbClr val="152017"/>
          </a:solidFill>
          <a:ln w="12700">
            <a:solidFill>
              <a:srgbClr val="2C4636"/>
            </a:solidFill>
            <a:prstDash val="solid"/>
          </a:ln>
          <a:effectLst>
            <a:outerShdw sx="100000" sy="100000" kx="0" ky="0" algn="bl" rotWithShape="0" blurRad="127000" dist="38100" dir="5400000">
              <a:srgbClr val="000000">
                <a:alpha val="40000"/>
              </a:srgbClr>
            </a:outerShdw>
          </a:effectLst>
        </p:spPr>
      </p:sp>
      <p:sp>
        <p:nvSpPr>
          <p:cNvPr id="19" name="Text 17"/>
          <p:cNvSpPr/>
          <p:nvPr/>
        </p:nvSpPr>
        <p:spPr>
          <a:xfrm>
            <a:off x="9226296" y="2606040"/>
            <a:ext cx="2286000" cy="685800"/>
          </a:xfrm>
          <a:prstGeom prst="rect">
            <a:avLst/>
          </a:prstGeom>
          <a:noFill/>
          <a:ln/>
        </p:spPr>
        <p:txBody>
          <a:bodyPr wrap="square" lIns="0" tIns="0" rIns="0" bIns="0" rtlCol="0" anchor="b">
            <a:normAutofit/>
          </a:bodyPr>
          <a:lstStyle/>
          <a:p>
            <a:pPr indent="0" marL="0">
              <a:buNone/>
            </a:pPr>
            <a:r>
              <a:rPr lang="en-US" sz="2400" b="1" dirty="0">
                <a:solidFill>
                  <a:srgbClr val="27C08A"/>
                </a:solidFill>
                <a:latin typeface="Arial" pitchFamily="34" charset="0"/>
                <a:ea typeface="Arial" pitchFamily="34" charset="-122"/>
                <a:cs typeface="Arial" pitchFamily="34" charset="-120"/>
              </a:rPr>
              <a:t>55%</a:t>
            </a:r>
            <a:endParaRPr lang="en-US" sz="2400" dirty="0"/>
          </a:p>
        </p:txBody>
      </p:sp>
      <p:sp>
        <p:nvSpPr>
          <p:cNvPr id="20" name="Text 18"/>
          <p:cNvSpPr/>
          <p:nvPr/>
        </p:nvSpPr>
        <p:spPr>
          <a:xfrm>
            <a:off x="9226296" y="3383280"/>
            <a:ext cx="2240280" cy="1051560"/>
          </a:xfrm>
          <a:prstGeom prst="rect">
            <a:avLst/>
          </a:prstGeom>
          <a:noFill/>
          <a:ln/>
        </p:spPr>
        <p:txBody>
          <a:bodyPr wrap="square" lIns="0" tIns="0" rIns="0" bIns="0" rtlCol="0" anchor="t"/>
          <a:lstStyle/>
          <a:p>
            <a:pPr indent="0" marL="0">
              <a:buNone/>
            </a:pPr>
            <a:r>
              <a:rPr lang="en-US" sz="1250" dirty="0">
                <a:solidFill>
                  <a:srgbClr val="9DB0A4"/>
                </a:solidFill>
                <a:latin typeface="Calibri" pitchFamily="34" charset="0"/>
                <a:ea typeface="Calibri" pitchFamily="34" charset="-122"/>
                <a:cs typeface="Calibri" pitchFamily="34" charset="-120"/>
              </a:rPr>
              <a:t>of people aged 60+ know the old-age pension exists; 29% of poor elders receive it</a:t>
            </a:r>
            <a:endParaRPr lang="en-US" sz="1250" dirty="0"/>
          </a:p>
        </p:txBody>
      </p:sp>
      <p:sp>
        <p:nvSpPr>
          <p:cNvPr id="21" name="Shape 19"/>
          <p:cNvSpPr/>
          <p:nvPr/>
        </p:nvSpPr>
        <p:spPr>
          <a:xfrm>
            <a:off x="548640" y="4754880"/>
            <a:ext cx="11064240" cy="1051560"/>
          </a:xfrm>
          <a:prstGeom prst="roundRect">
            <a:avLst>
              <a:gd name="adj" fmla="val 8696"/>
            </a:avLst>
          </a:prstGeom>
          <a:solidFill>
            <a:srgbClr val="1B2A20"/>
          </a:solidFill>
          <a:ln w="12700">
            <a:solidFill>
              <a:srgbClr val="2C4636"/>
            </a:solidFill>
            <a:prstDash val="solid"/>
          </a:ln>
          <a:effectLst>
            <a:outerShdw sx="100000" sy="100000" kx="0" ky="0" algn="bl" rotWithShape="0" blurRad="127000" dist="38100" dir="5400000">
              <a:srgbClr val="000000">
                <a:alpha val="40000"/>
              </a:srgbClr>
            </a:outerShdw>
          </a:effectLst>
        </p:spPr>
      </p:sp>
      <p:sp>
        <p:nvSpPr>
          <p:cNvPr id="22" name="Text 20"/>
          <p:cNvSpPr/>
          <p:nvPr/>
        </p:nvSpPr>
        <p:spPr>
          <a:xfrm>
            <a:off x="822960" y="4846320"/>
            <a:ext cx="10515600" cy="868680"/>
          </a:xfrm>
          <a:prstGeom prst="rect">
            <a:avLst/>
          </a:prstGeom>
          <a:noFill/>
          <a:ln/>
        </p:spPr>
        <p:txBody>
          <a:bodyPr wrap="square" lIns="0" tIns="0" rIns="0" bIns="0" rtlCol="0" anchor="ctr"/>
          <a:lstStyle/>
          <a:p>
            <a:pPr indent="0" marL="0">
              <a:buNone/>
            </a:pPr>
            <a:r>
              <a:rPr lang="en-US" sz="1400" dirty="0">
                <a:solidFill>
                  <a:srgbClr val="EEF3EE"/>
                </a:solidFill>
                <a:latin typeface="Calibri" pitchFamily="34" charset="0"/>
                <a:ea typeface="Calibri" pitchFamily="34" charset="-122"/>
                <a:cs typeface="Calibri" pitchFamily="34" charset="-120"/>
              </a:rPr>
              <a:t>And most safety tools assume the internet, English, an app account and the cloud, and a person who already knows what a scam looks like: what the people most at risk are least likely to have, or trust.</a:t>
            </a:r>
            <a:endParaRPr lang="en-US" sz="1400" dirty="0"/>
          </a:p>
        </p:txBody>
      </p:sp>
      <p:sp>
        <p:nvSpPr>
          <p:cNvPr id="23" name="Text 21"/>
          <p:cNvSpPr/>
          <p:nvPr/>
        </p:nvSpPr>
        <p:spPr>
          <a:xfrm>
            <a:off x="548640" y="6355080"/>
            <a:ext cx="11064240" cy="320040"/>
          </a:xfrm>
          <a:prstGeom prst="rect">
            <a:avLst/>
          </a:prstGeom>
          <a:noFill/>
          <a:ln/>
        </p:spPr>
        <p:txBody>
          <a:bodyPr wrap="square" lIns="0" tIns="0" rIns="0" bIns="0" rtlCol="0" anchor="t"/>
          <a:lstStyle/>
          <a:p>
            <a:pPr indent="0" marL="0">
              <a:buNone/>
            </a:pPr>
            <a:r>
              <a:rPr lang="en-US" sz="950" dirty="0">
                <a:solidFill>
                  <a:srgbClr val="6E8579"/>
                </a:solidFill>
                <a:latin typeface="Calibri" pitchFamily="34" charset="0"/>
                <a:ea typeface="Calibri" pitchFamily="34" charset="-122"/>
                <a:cs typeface="Calibri" pitchFamily="34" charset="-120"/>
              </a:rPr>
              <a:t>Sources: MHA / I4C, Rajya Sabha, Feb 2026; MHA, Rajya Sabha, 5 Aug 2026; LocalCircles survey, 2025; LASI Wave 1, 2017–18 (IIPS)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F14"/>
        </a:solidFill>
      </p:bgPr>
    </p:bg>
    <p:spTree>
      <p:nvGrpSpPr>
        <p:cNvPr id="1" name=""/>
        <p:cNvGrpSpPr/>
        <p:nvPr/>
      </p:nvGrpSpPr>
      <p:grpSpPr>
        <a:xfrm>
          <a:off x="0" y="0"/>
          <a:ext cx="0" cy="0"/>
          <a:chOff x="0" y="0"/>
          <a:chExt cx="0" cy="0"/>
        </a:xfrm>
      </p:grpSpPr>
      <p:sp>
        <p:nvSpPr>
          <p:cNvPr id="2" name="Shape 0"/>
          <p:cNvSpPr/>
          <p:nvPr/>
        </p:nvSpPr>
        <p:spPr>
          <a:xfrm>
            <a:off x="11475720" y="384048"/>
            <a:ext cx="109728" cy="109728"/>
          </a:xfrm>
          <a:prstGeom prst="ellipse">
            <a:avLst/>
          </a:prstGeom>
          <a:solidFill>
            <a:srgbClr val="FF9E3D"/>
          </a:solidFill>
          <a:ln/>
        </p:spPr>
      </p:sp>
      <p:sp>
        <p:nvSpPr>
          <p:cNvPr id="3" name="Shape 1"/>
          <p:cNvSpPr/>
          <p:nvPr/>
        </p:nvSpPr>
        <p:spPr>
          <a:xfrm>
            <a:off x="11658600" y="384048"/>
            <a:ext cx="109728" cy="109728"/>
          </a:xfrm>
          <a:prstGeom prst="ellipse">
            <a:avLst/>
          </a:prstGeom>
          <a:solidFill>
            <a:srgbClr val="EEF3EE"/>
          </a:solidFill>
          <a:ln/>
        </p:spPr>
      </p:sp>
      <p:sp>
        <p:nvSpPr>
          <p:cNvPr id="4" name="Shape 2"/>
          <p:cNvSpPr/>
          <p:nvPr/>
        </p:nvSpPr>
        <p:spPr>
          <a:xfrm>
            <a:off x="11841480" y="384048"/>
            <a:ext cx="109728" cy="109728"/>
          </a:xfrm>
          <a:prstGeom prst="ellipse">
            <a:avLst/>
          </a:prstGeom>
          <a:solidFill>
            <a:srgbClr val="27C08A"/>
          </a:solidFill>
          <a:ln/>
        </p:spPr>
      </p:sp>
      <p:sp>
        <p:nvSpPr>
          <p:cNvPr id="5" name="Shape 3"/>
          <p:cNvSpPr/>
          <p:nvPr/>
        </p:nvSpPr>
        <p:spPr>
          <a:xfrm>
            <a:off x="566928" y="603504"/>
            <a:ext cx="128016" cy="128016"/>
          </a:xfrm>
          <a:prstGeom prst="ellipse">
            <a:avLst/>
          </a:prstGeom>
          <a:solidFill>
            <a:srgbClr val="27C08A"/>
          </a:solidFill>
          <a:ln/>
        </p:spPr>
      </p:sp>
      <p:sp>
        <p:nvSpPr>
          <p:cNvPr id="6" name="Text 4"/>
          <p:cNvSpPr/>
          <p:nvPr/>
        </p:nvSpPr>
        <p:spPr>
          <a:xfrm>
            <a:off x="777240" y="457200"/>
            <a:ext cx="10058400" cy="411480"/>
          </a:xfrm>
          <a:prstGeom prst="rect">
            <a:avLst/>
          </a:prstGeom>
          <a:noFill/>
          <a:ln/>
        </p:spPr>
        <p:txBody>
          <a:bodyPr wrap="square" lIns="0" tIns="0" rIns="0" bIns="0" rtlCol="0" anchor="ctr"/>
          <a:lstStyle/>
          <a:p>
            <a:pPr indent="0" marL="0">
              <a:buNone/>
            </a:pPr>
            <a:r>
              <a:rPr lang="en-US" sz="1250" b="1" spc="200" kern="0" dirty="0">
                <a:solidFill>
                  <a:srgbClr val="27C08A"/>
                </a:solidFill>
                <a:latin typeface="Arial" pitchFamily="34" charset="0"/>
                <a:ea typeface="Arial" pitchFamily="34" charset="-122"/>
                <a:cs typeface="Arial" pitchFamily="34" charset="-120"/>
              </a:rPr>
              <a:t>THE SOLUTION</a:t>
            </a:r>
            <a:endParaRPr lang="en-US" sz="1250" dirty="0"/>
          </a:p>
        </p:txBody>
      </p:sp>
      <p:sp>
        <p:nvSpPr>
          <p:cNvPr id="7" name="Text 5"/>
          <p:cNvSpPr/>
          <p:nvPr/>
        </p:nvSpPr>
        <p:spPr>
          <a:xfrm>
            <a:off x="548640" y="868680"/>
            <a:ext cx="11064240" cy="914400"/>
          </a:xfrm>
          <a:prstGeom prst="rect">
            <a:avLst/>
          </a:prstGeom>
          <a:noFill/>
          <a:ln/>
        </p:spPr>
        <p:txBody>
          <a:bodyPr wrap="square" lIns="0" tIns="0" rIns="0" bIns="0" rtlCol="0" anchor="ctr"/>
          <a:lstStyle/>
          <a:p>
            <a:pPr indent="0" marL="0">
              <a:buNone/>
            </a:pPr>
            <a:r>
              <a:rPr lang="en-US" sz="3000" b="1" dirty="0">
                <a:solidFill>
                  <a:srgbClr val="EEF3EE"/>
                </a:solidFill>
                <a:latin typeface="Arial" pitchFamily="34" charset="0"/>
                <a:ea typeface="Arial" pitchFamily="34" charset="-122"/>
                <a:cs typeface="Arial" pitchFamily="34" charset="-120"/>
              </a:rPr>
              <a:t>At the counter, and on the phone at home</a:t>
            </a:r>
            <a:endParaRPr lang="en-US" sz="3000" dirty="0"/>
          </a:p>
        </p:txBody>
      </p:sp>
      <p:sp>
        <p:nvSpPr>
          <p:cNvPr id="8" name="Text 6"/>
          <p:cNvSpPr/>
          <p:nvPr/>
        </p:nvSpPr>
        <p:spPr>
          <a:xfrm>
            <a:off x="548640" y="1737360"/>
            <a:ext cx="11064240" cy="502920"/>
          </a:xfrm>
          <a:prstGeom prst="rect">
            <a:avLst/>
          </a:prstGeom>
          <a:noFill/>
          <a:ln/>
        </p:spPr>
        <p:txBody>
          <a:bodyPr wrap="square" lIns="0" tIns="0" rIns="0" bIns="0" rtlCol="0" anchor="ctr"/>
          <a:lstStyle/>
          <a:p>
            <a:pPr indent="0" marL="0">
              <a:buNone/>
            </a:pPr>
            <a:r>
              <a:rPr lang="en-US" sz="1500" dirty="0">
                <a:solidFill>
                  <a:srgbClr val="9DB0A4"/>
                </a:solidFill>
                <a:latin typeface="Calibri" pitchFamily="34" charset="0"/>
                <a:ea typeface="Calibri" pitchFamily="34" charset="-122"/>
                <a:cs typeface="Calibri" pitchFamily="34" charset="-120"/>
              </a:rPr>
              <a:t>One small computer at a CSC or bank-agent counter; phones join its Wi-Fi, which has no internet. A phone that has opened Sahayak's secure web address once (the public site today; the node's own after a one-time HTTPS setup) runs the same checks with no node at all.</a:t>
            </a:r>
            <a:endParaRPr lang="en-US" sz="1500" dirty="0"/>
          </a:p>
        </p:txBody>
      </p:sp>
      <p:sp>
        <p:nvSpPr>
          <p:cNvPr id="9" name="Shape 7"/>
          <p:cNvSpPr/>
          <p:nvPr/>
        </p:nvSpPr>
        <p:spPr>
          <a:xfrm>
            <a:off x="548640" y="2468880"/>
            <a:ext cx="3520440" cy="2651760"/>
          </a:xfrm>
          <a:prstGeom prst="roundRect">
            <a:avLst>
              <a:gd name="adj" fmla="val 3448"/>
            </a:avLst>
          </a:prstGeom>
          <a:solidFill>
            <a:srgbClr val="152017"/>
          </a:solidFill>
          <a:ln w="12700">
            <a:solidFill>
              <a:srgbClr val="2C4636"/>
            </a:solidFill>
            <a:prstDash val="solid"/>
          </a:ln>
          <a:effectLst>
            <a:outerShdw sx="100000" sy="100000" kx="0" ky="0" algn="bl" rotWithShape="0" blurRad="127000" dist="38100" dir="5400000">
              <a:srgbClr val="000000">
                <a:alpha val="40000"/>
              </a:srgbClr>
            </a:outerShdw>
          </a:effectLst>
        </p:spPr>
      </p:sp>
      <p:sp>
        <p:nvSpPr>
          <p:cNvPr id="10" name="Text 8"/>
          <p:cNvSpPr/>
          <p:nvPr/>
        </p:nvSpPr>
        <p:spPr>
          <a:xfrm>
            <a:off x="850392" y="2724912"/>
            <a:ext cx="2926080" cy="731520"/>
          </a:xfrm>
          <a:prstGeom prst="rect">
            <a:avLst/>
          </a:prstGeom>
          <a:noFill/>
          <a:ln/>
        </p:spPr>
        <p:txBody>
          <a:bodyPr wrap="square" lIns="0" tIns="0" rIns="0" bIns="0" rtlCol="0" anchor="t"/>
          <a:lstStyle/>
          <a:p>
            <a:pPr indent="0" marL="0">
              <a:buNone/>
            </a:pPr>
            <a:r>
              <a:rPr lang="en-US" sz="1700" b="1" dirty="0">
                <a:solidFill>
                  <a:srgbClr val="FF9E3D"/>
                </a:solidFill>
                <a:latin typeface="Arial" pitchFamily="34" charset="0"/>
                <a:ea typeface="Arial" pitchFamily="34" charset="-122"/>
                <a:cs typeface="Arial" pitchFamily="34" charset="-120"/>
              </a:rPr>
              <a:t>"Is this a scam?"</a:t>
            </a:r>
            <a:endParaRPr lang="en-US" sz="1700" dirty="0"/>
          </a:p>
        </p:txBody>
      </p:sp>
      <p:sp>
        <p:nvSpPr>
          <p:cNvPr id="11" name="Text 9"/>
          <p:cNvSpPr/>
          <p:nvPr/>
        </p:nvSpPr>
        <p:spPr>
          <a:xfrm>
            <a:off x="850392" y="3493008"/>
            <a:ext cx="2971800" cy="1463040"/>
          </a:xfrm>
          <a:prstGeom prst="rect">
            <a:avLst/>
          </a:prstGeom>
          <a:noFill/>
          <a:ln/>
        </p:spPr>
        <p:txBody>
          <a:bodyPr wrap="square" lIns="0" tIns="0" rIns="0" bIns="0" rtlCol="0" anchor="t"/>
          <a:lstStyle/>
          <a:p>
            <a:pPr indent="0" marL="0">
              <a:buNone/>
            </a:pPr>
            <a:r>
              <a:rPr lang="en-US" sz="1250" dirty="0">
                <a:solidFill>
                  <a:srgbClr val="9DB0A4"/>
                </a:solidFill>
                <a:latin typeface="Calibri" pitchFamily="34" charset="0"/>
                <a:ea typeface="Calibri" pitchFamily="34" charset="-122"/>
                <a:cs typeface="Calibri" pitchFamily="34" charset="-120"/>
              </a:rPr>
              <a:t>Paste, speak, photograph or describe a message, a call or a UPI QR. A verdict in milliseconds, the three reasons, what to do now, and a ready 1930 complaint.</a:t>
            </a:r>
            <a:endParaRPr lang="en-US" sz="1250" dirty="0"/>
          </a:p>
        </p:txBody>
      </p:sp>
      <p:sp>
        <p:nvSpPr>
          <p:cNvPr id="12" name="Shape 10"/>
          <p:cNvSpPr/>
          <p:nvPr/>
        </p:nvSpPr>
        <p:spPr>
          <a:xfrm>
            <a:off x="4315968" y="2468880"/>
            <a:ext cx="3520440" cy="2651760"/>
          </a:xfrm>
          <a:prstGeom prst="roundRect">
            <a:avLst>
              <a:gd name="adj" fmla="val 3448"/>
            </a:avLst>
          </a:prstGeom>
          <a:solidFill>
            <a:srgbClr val="152017"/>
          </a:solidFill>
          <a:ln w="12700">
            <a:solidFill>
              <a:srgbClr val="2C4636"/>
            </a:solidFill>
            <a:prstDash val="solid"/>
          </a:ln>
          <a:effectLst>
            <a:outerShdw sx="100000" sy="100000" kx="0" ky="0" algn="bl" rotWithShape="0" blurRad="127000" dist="38100" dir="5400000">
              <a:srgbClr val="000000">
                <a:alpha val="40000"/>
              </a:srgbClr>
            </a:outerShdw>
          </a:effectLst>
        </p:spPr>
      </p:sp>
      <p:sp>
        <p:nvSpPr>
          <p:cNvPr id="13" name="Text 11"/>
          <p:cNvSpPr/>
          <p:nvPr/>
        </p:nvSpPr>
        <p:spPr>
          <a:xfrm>
            <a:off x="4617720" y="2724912"/>
            <a:ext cx="2926080" cy="731520"/>
          </a:xfrm>
          <a:prstGeom prst="rect">
            <a:avLst/>
          </a:prstGeom>
          <a:noFill/>
          <a:ln/>
        </p:spPr>
        <p:txBody>
          <a:bodyPr wrap="square" lIns="0" tIns="0" rIns="0" bIns="0" rtlCol="0" anchor="t"/>
          <a:lstStyle/>
          <a:p>
            <a:pPr indent="0" marL="0">
              <a:buNone/>
            </a:pPr>
            <a:r>
              <a:rPr lang="en-US" sz="1700" b="1" dirty="0">
                <a:solidFill>
                  <a:srgbClr val="27C08A"/>
                </a:solidFill>
                <a:latin typeface="Arial" pitchFamily="34" charset="0"/>
                <a:ea typeface="Arial" pitchFamily="34" charset="-122"/>
                <a:cs typeface="Arial" pitchFamily="34" charset="-120"/>
              </a:rPr>
              <a:t>"What am I owed?"</a:t>
            </a:r>
            <a:endParaRPr lang="en-US" sz="1700" dirty="0"/>
          </a:p>
        </p:txBody>
      </p:sp>
      <p:sp>
        <p:nvSpPr>
          <p:cNvPr id="14" name="Text 12"/>
          <p:cNvSpPr/>
          <p:nvPr/>
        </p:nvSpPr>
        <p:spPr>
          <a:xfrm>
            <a:off x="4617720" y="3493008"/>
            <a:ext cx="2971800" cy="1463040"/>
          </a:xfrm>
          <a:prstGeom prst="rect">
            <a:avLst/>
          </a:prstGeom>
          <a:noFill/>
          <a:ln/>
        </p:spPr>
        <p:txBody>
          <a:bodyPr wrap="square" lIns="0" tIns="0" rIns="0" bIns="0" rtlCol="0" anchor="t"/>
          <a:lstStyle/>
          <a:p>
            <a:pPr indent="0" marL="0">
              <a:buNone/>
            </a:pPr>
            <a:r>
              <a:rPr lang="en-US" sz="1250" dirty="0">
                <a:solidFill>
                  <a:srgbClr val="9DB0A4"/>
                </a:solidFill>
                <a:latin typeface="Calibri" pitchFamily="34" charset="0"/>
                <a:ea typeface="Calibri" pitchFamily="34" charset="-122"/>
                <a:cs typeface="Calibri" pitchFamily="34" charset="-120"/>
              </a:rPr>
              <a:t>A spoken interview (median 5 questions) across 12 central schemes, health first: what you can get, the papers, where to go, what to say, and a printed slip.</a:t>
            </a:r>
            <a:endParaRPr lang="en-US" sz="1250" dirty="0"/>
          </a:p>
        </p:txBody>
      </p:sp>
      <p:sp>
        <p:nvSpPr>
          <p:cNvPr id="15" name="Shape 13"/>
          <p:cNvSpPr/>
          <p:nvPr/>
        </p:nvSpPr>
        <p:spPr>
          <a:xfrm>
            <a:off x="8083296" y="2468880"/>
            <a:ext cx="3520440" cy="2651760"/>
          </a:xfrm>
          <a:prstGeom prst="roundRect">
            <a:avLst>
              <a:gd name="adj" fmla="val 3448"/>
            </a:avLst>
          </a:prstGeom>
          <a:solidFill>
            <a:srgbClr val="152017"/>
          </a:solidFill>
          <a:ln w="12700">
            <a:solidFill>
              <a:srgbClr val="2C4636"/>
            </a:solidFill>
            <a:prstDash val="solid"/>
          </a:ln>
          <a:effectLst>
            <a:outerShdw sx="100000" sy="100000" kx="0" ky="0" algn="bl" rotWithShape="0" blurRad="127000" dist="38100" dir="5400000">
              <a:srgbClr val="000000">
                <a:alpha val="40000"/>
              </a:srgbClr>
            </a:outerShdw>
          </a:effectLst>
        </p:spPr>
      </p:sp>
      <p:sp>
        <p:nvSpPr>
          <p:cNvPr id="16" name="Text 14"/>
          <p:cNvSpPr/>
          <p:nvPr/>
        </p:nvSpPr>
        <p:spPr>
          <a:xfrm>
            <a:off x="8385048" y="2724912"/>
            <a:ext cx="2926080" cy="731520"/>
          </a:xfrm>
          <a:prstGeom prst="rect">
            <a:avLst/>
          </a:prstGeom>
          <a:noFill/>
          <a:ln/>
        </p:spPr>
        <p:txBody>
          <a:bodyPr wrap="square" lIns="0" tIns="0" rIns="0" bIns="0" rtlCol="0" anchor="t"/>
          <a:lstStyle/>
          <a:p>
            <a:pPr indent="0" marL="0">
              <a:buNone/>
            </a:pPr>
            <a:r>
              <a:rPr lang="en-US" sz="1700" b="1" dirty="0">
                <a:solidFill>
                  <a:srgbClr val="4FE3B0"/>
                </a:solidFill>
                <a:latin typeface="Arial" pitchFamily="34" charset="0"/>
                <a:ea typeface="Arial" pitchFamily="34" charset="-122"/>
                <a:cs typeface="Arial" pitchFamily="34" charset="-120"/>
              </a:rPr>
              <a:t>Then, on their own phone</a:t>
            </a:r>
            <a:endParaRPr lang="en-US" sz="1700" dirty="0"/>
          </a:p>
        </p:txBody>
      </p:sp>
      <p:sp>
        <p:nvSpPr>
          <p:cNvPr id="17" name="Text 15"/>
          <p:cNvSpPr/>
          <p:nvPr/>
        </p:nvSpPr>
        <p:spPr>
          <a:xfrm>
            <a:off x="8385048" y="3493008"/>
            <a:ext cx="2971800" cy="1463040"/>
          </a:xfrm>
          <a:prstGeom prst="rect">
            <a:avLst/>
          </a:prstGeom>
          <a:noFill/>
          <a:ln/>
        </p:spPr>
        <p:txBody>
          <a:bodyPr wrap="square" lIns="0" tIns="0" rIns="0" bIns="0" rtlCol="0" anchor="t"/>
          <a:lstStyle/>
          <a:p>
            <a:pPr indent="0" marL="0">
              <a:buNone/>
            </a:pPr>
            <a:r>
              <a:rPr lang="en-US" sz="1250" dirty="0">
                <a:solidFill>
                  <a:srgbClr val="9DB0A4"/>
                </a:solidFill>
                <a:latin typeface="Calibri" pitchFamily="34" charset="0"/>
                <a:ea typeface="Calibri" pitchFamily="34" charset="-122"/>
                <a:cs typeface="Calibri" pitchFamily="34" charset="-120"/>
              </a:rPr>
              <a:t>At home, when the call actually comes: the same scam check and benefits interview, on the phone, with no node and no internet. Nothing leaves the phone.</a:t>
            </a:r>
            <a:endParaRPr lang="en-US" sz="1250" dirty="0"/>
          </a:p>
        </p:txBody>
      </p:sp>
      <p:sp>
        <p:nvSpPr>
          <p:cNvPr id="18" name="Shape 16"/>
          <p:cNvSpPr/>
          <p:nvPr/>
        </p:nvSpPr>
        <p:spPr>
          <a:xfrm>
            <a:off x="548640" y="5349240"/>
            <a:ext cx="11064240" cy="1188720"/>
          </a:xfrm>
          <a:prstGeom prst="roundRect">
            <a:avLst>
              <a:gd name="adj" fmla="val 7692"/>
            </a:avLst>
          </a:prstGeom>
          <a:solidFill>
            <a:srgbClr val="1B2A20"/>
          </a:solidFill>
          <a:ln w="12700">
            <a:solidFill>
              <a:srgbClr val="2C4636"/>
            </a:solidFill>
            <a:prstDash val="solid"/>
          </a:ln>
          <a:effectLst>
            <a:outerShdw sx="100000" sy="100000" kx="0" ky="0" algn="bl" rotWithShape="0" blurRad="127000" dist="38100" dir="5400000">
              <a:srgbClr val="000000">
                <a:alpha val="40000"/>
              </a:srgbClr>
            </a:outerShdw>
          </a:effectLst>
        </p:spPr>
      </p:sp>
      <p:pic>
        <p:nvPicPr>
          <p:cNvPr id="19" name="Image 0" descr="/Users/rosh/Personal/Hackathons/Optum - Inclusive Innovation for Bharat Hackathon/Project/Sahayak/docs/deck/img/tryit_qr.png">    </p:cNvPr>
          <p:cNvPicPr>
            <a:picLocks noChangeAspect="1"/>
          </p:cNvPicPr>
          <p:nvPr/>
        </p:nvPicPr>
        <p:blipFill>
          <a:blip r:embed="rId1"/>
          <a:stretch>
            <a:fillRect/>
          </a:stretch>
        </p:blipFill>
        <p:spPr>
          <a:xfrm>
            <a:off x="713232" y="5440680"/>
            <a:ext cx="1005840" cy="1005840"/>
          </a:xfrm>
          <a:prstGeom prst="rect">
            <a:avLst/>
          </a:prstGeom>
        </p:spPr>
      </p:pic>
      <p:sp>
        <p:nvSpPr>
          <p:cNvPr id="20" name="Text 17"/>
          <p:cNvSpPr/>
          <p:nvPr/>
        </p:nvSpPr>
        <p:spPr>
          <a:xfrm>
            <a:off x="1920240" y="5486400"/>
            <a:ext cx="9509760" cy="411480"/>
          </a:xfrm>
          <a:prstGeom prst="rect">
            <a:avLst/>
          </a:prstGeom>
          <a:noFill/>
          <a:ln/>
        </p:spPr>
        <p:txBody>
          <a:bodyPr wrap="square" lIns="0" tIns="0" rIns="0" bIns="0" rtlCol="0" anchor="ctr"/>
          <a:lstStyle/>
          <a:p>
            <a:pPr indent="0" marL="0">
              <a:buNone/>
            </a:pPr>
            <a:r>
              <a:rPr lang="en-US" sz="1500" b="1" dirty="0">
                <a:solidFill>
                  <a:srgbClr val="EEF3EE"/>
                </a:solidFill>
                <a:latin typeface="Calibri" pitchFamily="34" charset="0"/>
                <a:ea typeface="Calibri" pitchFamily="34" charset="-122"/>
                <a:cs typeface="Calibri" pitchFamily="34" charset="-120"/>
              </a:rPr>
              <a:t>Try it now, on your own phone: </a:t>
            </a:r>
            <a:pPr indent="0" marL="0">
              <a:buNone/>
            </a:pPr>
            <a:r>
              <a:rPr lang="en-US" sz="1500" b="1" dirty="0">
                <a:solidFill>
                  <a:srgbClr val="27C08A"/>
                </a:solidFill>
                <a:latin typeface="Calibri" pitchFamily="34" charset="0"/>
                <a:ea typeface="Calibri" pitchFamily="34" charset="-122"/>
                <a:cs typeface="Calibri" pitchFamily="34" charset="-120"/>
              </a:rPr>
              <a:t>roshworldwide.github.io/optum-v2</a:t>
            </a:r>
            <a:endParaRPr lang="en-US" sz="1500" dirty="0"/>
          </a:p>
        </p:txBody>
      </p:sp>
      <p:sp>
        <p:nvSpPr>
          <p:cNvPr id="21" name="Text 18"/>
          <p:cNvSpPr/>
          <p:nvPr/>
        </p:nvSpPr>
        <p:spPr>
          <a:xfrm>
            <a:off x="1920240" y="5925312"/>
            <a:ext cx="9509760" cy="411480"/>
          </a:xfrm>
          <a:prstGeom prst="rect">
            <a:avLst/>
          </a:prstGeom>
          <a:noFill/>
          <a:ln/>
        </p:spPr>
        <p:txBody>
          <a:bodyPr wrap="square" lIns="0" tIns="0" rIns="0" bIns="0" rtlCol="0" anchor="ctr"/>
          <a:lstStyle/>
          <a:p>
            <a:pPr indent="0" marL="0">
              <a:buNone/>
            </a:pPr>
            <a:r>
              <a:rPr lang="en-US" sz="1250" dirty="0">
                <a:solidFill>
                  <a:srgbClr val="9DB0A4"/>
                </a:solidFill>
                <a:latin typeface="Calibri" pitchFamily="34" charset="0"/>
                <a:ea typeface="Calibri" pitchFamily="34" charset="-122"/>
                <a:cs typeface="Calibri" pitchFamily="34" charset="-120"/>
              </a:rPr>
              <a:t>Check a message, switch on airplane mode, check another: it still works, and gives the node's exact answer.</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F14"/>
        </a:solidFill>
      </p:bgPr>
    </p:bg>
    <p:spTree>
      <p:nvGrpSpPr>
        <p:cNvPr id="1" name=""/>
        <p:cNvGrpSpPr/>
        <p:nvPr/>
      </p:nvGrpSpPr>
      <p:grpSpPr>
        <a:xfrm>
          <a:off x="0" y="0"/>
          <a:ext cx="0" cy="0"/>
          <a:chOff x="0" y="0"/>
          <a:chExt cx="0" cy="0"/>
        </a:xfrm>
      </p:grpSpPr>
      <p:sp>
        <p:nvSpPr>
          <p:cNvPr id="2" name="Shape 0"/>
          <p:cNvSpPr/>
          <p:nvPr/>
        </p:nvSpPr>
        <p:spPr>
          <a:xfrm>
            <a:off x="11475720" y="384048"/>
            <a:ext cx="109728" cy="109728"/>
          </a:xfrm>
          <a:prstGeom prst="ellipse">
            <a:avLst/>
          </a:prstGeom>
          <a:solidFill>
            <a:srgbClr val="FF9E3D"/>
          </a:solidFill>
          <a:ln/>
        </p:spPr>
      </p:sp>
      <p:sp>
        <p:nvSpPr>
          <p:cNvPr id="3" name="Shape 1"/>
          <p:cNvSpPr/>
          <p:nvPr/>
        </p:nvSpPr>
        <p:spPr>
          <a:xfrm>
            <a:off x="11658600" y="384048"/>
            <a:ext cx="109728" cy="109728"/>
          </a:xfrm>
          <a:prstGeom prst="ellipse">
            <a:avLst/>
          </a:prstGeom>
          <a:solidFill>
            <a:srgbClr val="EEF3EE"/>
          </a:solidFill>
          <a:ln/>
        </p:spPr>
      </p:sp>
      <p:sp>
        <p:nvSpPr>
          <p:cNvPr id="4" name="Shape 2"/>
          <p:cNvSpPr/>
          <p:nvPr/>
        </p:nvSpPr>
        <p:spPr>
          <a:xfrm>
            <a:off x="11841480" y="384048"/>
            <a:ext cx="109728" cy="109728"/>
          </a:xfrm>
          <a:prstGeom prst="ellipse">
            <a:avLst/>
          </a:prstGeom>
          <a:solidFill>
            <a:srgbClr val="27C08A"/>
          </a:solidFill>
          <a:ln/>
        </p:spPr>
      </p:sp>
      <p:sp>
        <p:nvSpPr>
          <p:cNvPr id="5" name="Shape 3"/>
          <p:cNvSpPr/>
          <p:nvPr/>
        </p:nvSpPr>
        <p:spPr>
          <a:xfrm>
            <a:off x="566928" y="603504"/>
            <a:ext cx="128016" cy="128016"/>
          </a:xfrm>
          <a:prstGeom prst="ellipse">
            <a:avLst/>
          </a:prstGeom>
          <a:solidFill>
            <a:srgbClr val="27C08A"/>
          </a:solidFill>
          <a:ln/>
        </p:spPr>
      </p:sp>
      <p:sp>
        <p:nvSpPr>
          <p:cNvPr id="6" name="Text 4"/>
          <p:cNvSpPr/>
          <p:nvPr/>
        </p:nvSpPr>
        <p:spPr>
          <a:xfrm>
            <a:off x="777240" y="457200"/>
            <a:ext cx="10058400" cy="411480"/>
          </a:xfrm>
          <a:prstGeom prst="rect">
            <a:avLst/>
          </a:prstGeom>
          <a:noFill/>
          <a:ln/>
        </p:spPr>
        <p:txBody>
          <a:bodyPr wrap="square" lIns="0" tIns="0" rIns="0" bIns="0" rtlCol="0" anchor="ctr"/>
          <a:lstStyle/>
          <a:p>
            <a:pPr indent="0" marL="0">
              <a:buNone/>
            </a:pPr>
            <a:r>
              <a:rPr lang="en-US" sz="1250" b="1" spc="200" kern="0" dirty="0">
                <a:solidFill>
                  <a:srgbClr val="27C08A"/>
                </a:solidFill>
                <a:latin typeface="Arial" pitchFamily="34" charset="0"/>
                <a:ea typeface="Arial" pitchFamily="34" charset="-122"/>
                <a:cs typeface="Arial" pitchFamily="34" charset="-120"/>
              </a:rPr>
              <a:t>SEE IT WORKING</a:t>
            </a:r>
            <a:endParaRPr lang="en-US" sz="1250" dirty="0"/>
          </a:p>
        </p:txBody>
      </p:sp>
      <p:sp>
        <p:nvSpPr>
          <p:cNvPr id="7" name="Text 5"/>
          <p:cNvSpPr/>
          <p:nvPr/>
        </p:nvSpPr>
        <p:spPr>
          <a:xfrm>
            <a:off x="548640" y="868680"/>
            <a:ext cx="11064240" cy="914400"/>
          </a:xfrm>
          <a:prstGeom prst="rect">
            <a:avLst/>
          </a:prstGeom>
          <a:noFill/>
          <a:ln/>
        </p:spPr>
        <p:txBody>
          <a:bodyPr wrap="square" lIns="0" tIns="0" rIns="0" bIns="0" rtlCol="0" anchor="ctr"/>
          <a:lstStyle/>
          <a:p>
            <a:pPr indent="0" marL="0">
              <a:buNone/>
            </a:pPr>
            <a:r>
              <a:rPr lang="en-US" sz="3000" b="1" dirty="0">
                <a:solidFill>
                  <a:srgbClr val="EEF3EE"/>
                </a:solidFill>
                <a:latin typeface="Arial" pitchFamily="34" charset="0"/>
                <a:ea typeface="Arial" pitchFamily="34" charset="-122"/>
                <a:cs typeface="Arial" pitchFamily="34" charset="-120"/>
              </a:rPr>
              <a:t>Built, and on a phone today</a:t>
            </a:r>
            <a:endParaRPr lang="en-US" sz="3000" dirty="0"/>
          </a:p>
        </p:txBody>
      </p:sp>
      <p:pic>
        <p:nvPicPr>
          <p:cNvPr id="8" name="Image 0" descr="/Users/rosh/Personal/Hackathons/Optum - Inclusive Innovation for Bharat Hackathon/Project/Sahayak/docs/deck/img/03_result_kyc_hi.png">    </p:cNvPr>
          <p:cNvPicPr>
            <a:picLocks noChangeAspect="1"/>
          </p:cNvPicPr>
          <p:nvPr/>
        </p:nvPicPr>
        <p:blipFill>
          <a:blip r:embed="rId1"/>
          <a:stretch>
            <a:fillRect/>
          </a:stretch>
        </p:blipFill>
        <p:spPr>
          <a:xfrm>
            <a:off x="685800" y="1783080"/>
            <a:ext cx="2240280" cy="3959352"/>
          </a:xfrm>
          <a:prstGeom prst="rect">
            <a:avLst/>
          </a:prstGeom>
        </p:spPr>
      </p:pic>
      <p:sp>
        <p:nvSpPr>
          <p:cNvPr id="9" name="Text 6"/>
          <p:cNvSpPr/>
          <p:nvPr/>
        </p:nvSpPr>
        <p:spPr>
          <a:xfrm>
            <a:off x="411480" y="5833872"/>
            <a:ext cx="2788920" cy="457200"/>
          </a:xfrm>
          <a:prstGeom prst="rect">
            <a:avLst/>
          </a:prstGeom>
          <a:noFill/>
          <a:ln/>
        </p:spPr>
        <p:txBody>
          <a:bodyPr wrap="square" lIns="0" tIns="0" rIns="0" bIns="0" rtlCol="0" anchor="t"/>
          <a:lstStyle/>
          <a:p>
            <a:pPr algn="ctr" indent="0" marL="0">
              <a:buNone/>
            </a:pPr>
            <a:r>
              <a:rPr lang="en-US" sz="1250" b="1" dirty="0">
                <a:solidFill>
                  <a:srgbClr val="EEF3EE"/>
                </a:solidFill>
                <a:latin typeface="Calibri" pitchFamily="34" charset="0"/>
                <a:ea typeface="Calibri" pitchFamily="34" charset="-122"/>
                <a:cs typeface="Calibri" pitchFamily="34" charset="-120"/>
              </a:rPr>
              <a:t>A fake KYC SMS, on the node</a:t>
            </a:r>
            <a:endParaRPr lang="en-US" sz="1250" dirty="0"/>
          </a:p>
        </p:txBody>
      </p:sp>
      <p:pic>
        <p:nvPicPr>
          <p:cNvPr id="10" name="Image 1" descr="/Users/rosh/Personal/Hackathons/Optum - Inclusive Innovation for Bharat Hackathon/Project/Sahayak/docs/deck/img/20_phone_offline_scam_en.png">    </p:cNvPr>
          <p:cNvPicPr>
            <a:picLocks noChangeAspect="1"/>
          </p:cNvPicPr>
          <p:nvPr/>
        </p:nvPicPr>
        <p:blipFill>
          <a:blip r:embed="rId2"/>
          <a:stretch>
            <a:fillRect/>
          </a:stretch>
        </p:blipFill>
        <p:spPr>
          <a:xfrm>
            <a:off x="3502152" y="1783080"/>
            <a:ext cx="2240280" cy="3959352"/>
          </a:xfrm>
          <a:prstGeom prst="rect">
            <a:avLst/>
          </a:prstGeom>
        </p:spPr>
      </p:pic>
      <p:sp>
        <p:nvSpPr>
          <p:cNvPr id="11" name="Text 7"/>
          <p:cNvSpPr/>
          <p:nvPr/>
        </p:nvSpPr>
        <p:spPr>
          <a:xfrm>
            <a:off x="3227832" y="5833872"/>
            <a:ext cx="2788920" cy="457200"/>
          </a:xfrm>
          <a:prstGeom prst="rect">
            <a:avLst/>
          </a:prstGeom>
          <a:noFill/>
          <a:ln/>
        </p:spPr>
        <p:txBody>
          <a:bodyPr wrap="square" lIns="0" tIns="0" rIns="0" bIns="0" rtlCol="0" anchor="t"/>
          <a:lstStyle/>
          <a:p>
            <a:pPr algn="ctr" indent="0" marL="0">
              <a:buNone/>
            </a:pPr>
            <a:r>
              <a:rPr lang="en-US" sz="1250" b="1" dirty="0">
                <a:solidFill>
                  <a:srgbClr val="EEF3EE"/>
                </a:solidFill>
                <a:latin typeface="Calibri" pitchFamily="34" charset="0"/>
                <a:ea typeface="Calibri" pitchFamily="34" charset="-122"/>
                <a:cs typeface="Calibri" pitchFamily="34" charset="-120"/>
              </a:rPr>
              <a:t>Airplane mode: checked on the phone</a:t>
            </a:r>
            <a:endParaRPr lang="en-US" sz="1250" dirty="0"/>
          </a:p>
        </p:txBody>
      </p:sp>
      <p:pic>
        <p:nvPicPr>
          <p:cNvPr id="12" name="Image 2" descr="/Users/rosh/Personal/Hackathons/Optum - Inclusive Innovation for Bharat Hackathon/Project/Sahayak/docs/deck/img/21_health_first_senior_hi.png">    </p:cNvPr>
          <p:cNvPicPr>
            <a:picLocks noChangeAspect="1"/>
          </p:cNvPicPr>
          <p:nvPr/>
        </p:nvPicPr>
        <p:blipFill>
          <a:blip r:embed="rId3"/>
          <a:stretch>
            <a:fillRect/>
          </a:stretch>
        </p:blipFill>
        <p:spPr>
          <a:xfrm>
            <a:off x="6318504" y="1783080"/>
            <a:ext cx="2240280" cy="3959352"/>
          </a:xfrm>
          <a:prstGeom prst="rect">
            <a:avLst/>
          </a:prstGeom>
        </p:spPr>
      </p:pic>
      <p:sp>
        <p:nvSpPr>
          <p:cNvPr id="13" name="Text 8"/>
          <p:cNvSpPr/>
          <p:nvPr/>
        </p:nvSpPr>
        <p:spPr>
          <a:xfrm>
            <a:off x="6044184" y="5833872"/>
            <a:ext cx="2788920" cy="457200"/>
          </a:xfrm>
          <a:prstGeom prst="rect">
            <a:avLst/>
          </a:prstGeom>
          <a:noFill/>
          <a:ln/>
        </p:spPr>
        <p:txBody>
          <a:bodyPr wrap="square" lIns="0" tIns="0" rIns="0" bIns="0" rtlCol="0" anchor="t"/>
          <a:lstStyle/>
          <a:p>
            <a:pPr algn="ctr" indent="0" marL="0">
              <a:buNone/>
            </a:pPr>
            <a:r>
              <a:rPr lang="en-US" sz="1250" b="1" dirty="0">
                <a:solidFill>
                  <a:srgbClr val="EEF3EE"/>
                </a:solidFill>
                <a:latin typeface="Calibri" pitchFamily="34" charset="0"/>
                <a:ea typeface="Calibri" pitchFamily="34" charset="-122"/>
                <a:cs typeface="Calibri" pitchFamily="34" charset="-120"/>
              </a:rPr>
              <a:t>Age 74: health cover first</a:t>
            </a:r>
            <a:endParaRPr lang="en-US" sz="1250" dirty="0"/>
          </a:p>
        </p:txBody>
      </p:sp>
      <p:pic>
        <p:nvPicPr>
          <p:cNvPr id="14" name="Image 3" descr="/Users/rosh/Personal/Hackathons/Optum - Inclusive Innovation for Bharat Hackathon/Project/Sahayak/docs/deck/img/13_qr_cashback_hi.png">    </p:cNvPr>
          <p:cNvPicPr>
            <a:picLocks noChangeAspect="1"/>
          </p:cNvPicPr>
          <p:nvPr/>
        </p:nvPicPr>
        <p:blipFill>
          <a:blip r:embed="rId4"/>
          <a:stretch>
            <a:fillRect/>
          </a:stretch>
        </p:blipFill>
        <p:spPr>
          <a:xfrm>
            <a:off x="9134856" y="1783080"/>
            <a:ext cx="2240280" cy="3959352"/>
          </a:xfrm>
          <a:prstGeom prst="rect">
            <a:avLst/>
          </a:prstGeom>
        </p:spPr>
      </p:pic>
      <p:sp>
        <p:nvSpPr>
          <p:cNvPr id="15" name="Text 9"/>
          <p:cNvSpPr/>
          <p:nvPr/>
        </p:nvSpPr>
        <p:spPr>
          <a:xfrm>
            <a:off x="8860536" y="5833872"/>
            <a:ext cx="2788920" cy="457200"/>
          </a:xfrm>
          <a:prstGeom prst="rect">
            <a:avLst/>
          </a:prstGeom>
          <a:noFill/>
          <a:ln/>
        </p:spPr>
        <p:txBody>
          <a:bodyPr wrap="square" lIns="0" tIns="0" rIns="0" bIns="0" rtlCol="0" anchor="t"/>
          <a:lstStyle/>
          <a:p>
            <a:pPr algn="ctr" indent="0" marL="0">
              <a:buNone/>
            </a:pPr>
            <a:r>
              <a:rPr lang="en-US" sz="1250" b="1" dirty="0">
                <a:solidFill>
                  <a:srgbClr val="EEF3EE"/>
                </a:solidFill>
                <a:latin typeface="Calibri" pitchFamily="34" charset="0"/>
                <a:ea typeface="Calibri" pitchFamily="34" charset="-122"/>
                <a:cs typeface="Calibri" pitchFamily="34" charset="-120"/>
              </a:rPr>
              <a:t>"Scan to get cashback" QR</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F14"/>
        </a:solidFill>
      </p:bgPr>
    </p:bg>
    <p:spTree>
      <p:nvGrpSpPr>
        <p:cNvPr id="1" name=""/>
        <p:cNvGrpSpPr/>
        <p:nvPr/>
      </p:nvGrpSpPr>
      <p:grpSpPr>
        <a:xfrm>
          <a:off x="0" y="0"/>
          <a:ext cx="0" cy="0"/>
          <a:chOff x="0" y="0"/>
          <a:chExt cx="0" cy="0"/>
        </a:xfrm>
      </p:grpSpPr>
      <p:sp>
        <p:nvSpPr>
          <p:cNvPr id="2" name="Shape 0"/>
          <p:cNvSpPr/>
          <p:nvPr/>
        </p:nvSpPr>
        <p:spPr>
          <a:xfrm>
            <a:off x="11475720" y="384048"/>
            <a:ext cx="109728" cy="109728"/>
          </a:xfrm>
          <a:prstGeom prst="ellipse">
            <a:avLst/>
          </a:prstGeom>
          <a:solidFill>
            <a:srgbClr val="FF9E3D"/>
          </a:solidFill>
          <a:ln/>
        </p:spPr>
      </p:sp>
      <p:sp>
        <p:nvSpPr>
          <p:cNvPr id="3" name="Shape 1"/>
          <p:cNvSpPr/>
          <p:nvPr/>
        </p:nvSpPr>
        <p:spPr>
          <a:xfrm>
            <a:off x="11658600" y="384048"/>
            <a:ext cx="109728" cy="109728"/>
          </a:xfrm>
          <a:prstGeom prst="ellipse">
            <a:avLst/>
          </a:prstGeom>
          <a:solidFill>
            <a:srgbClr val="EEF3EE"/>
          </a:solidFill>
          <a:ln/>
        </p:spPr>
      </p:sp>
      <p:sp>
        <p:nvSpPr>
          <p:cNvPr id="4" name="Shape 2"/>
          <p:cNvSpPr/>
          <p:nvPr/>
        </p:nvSpPr>
        <p:spPr>
          <a:xfrm>
            <a:off x="11841480" y="384048"/>
            <a:ext cx="109728" cy="109728"/>
          </a:xfrm>
          <a:prstGeom prst="ellipse">
            <a:avLst/>
          </a:prstGeom>
          <a:solidFill>
            <a:srgbClr val="27C08A"/>
          </a:solidFill>
          <a:ln/>
        </p:spPr>
      </p:sp>
      <p:sp>
        <p:nvSpPr>
          <p:cNvPr id="5" name="Shape 3"/>
          <p:cNvSpPr/>
          <p:nvPr/>
        </p:nvSpPr>
        <p:spPr>
          <a:xfrm>
            <a:off x="566928" y="603504"/>
            <a:ext cx="128016" cy="128016"/>
          </a:xfrm>
          <a:prstGeom prst="ellipse">
            <a:avLst/>
          </a:prstGeom>
          <a:solidFill>
            <a:srgbClr val="27C08A"/>
          </a:solidFill>
          <a:ln/>
        </p:spPr>
      </p:sp>
      <p:sp>
        <p:nvSpPr>
          <p:cNvPr id="6" name="Text 4"/>
          <p:cNvSpPr/>
          <p:nvPr/>
        </p:nvSpPr>
        <p:spPr>
          <a:xfrm>
            <a:off x="777240" y="457200"/>
            <a:ext cx="10058400" cy="411480"/>
          </a:xfrm>
          <a:prstGeom prst="rect">
            <a:avLst/>
          </a:prstGeom>
          <a:noFill/>
          <a:ln/>
        </p:spPr>
        <p:txBody>
          <a:bodyPr wrap="square" lIns="0" tIns="0" rIns="0" bIns="0" rtlCol="0" anchor="ctr"/>
          <a:lstStyle/>
          <a:p>
            <a:pPr indent="0" marL="0">
              <a:buNone/>
            </a:pPr>
            <a:r>
              <a:rPr lang="en-US" sz="1250" b="1" spc="200" kern="0" dirty="0">
                <a:solidFill>
                  <a:srgbClr val="27C08A"/>
                </a:solidFill>
                <a:latin typeface="Arial" pitchFamily="34" charset="0"/>
                <a:ea typeface="Arial" pitchFamily="34" charset="-122"/>
                <a:cs typeface="Arial" pitchFamily="34" charset="-120"/>
              </a:rPr>
              <a:t>HOW IT WORKS</a:t>
            </a:r>
            <a:endParaRPr lang="en-US" sz="1250" dirty="0"/>
          </a:p>
        </p:txBody>
      </p:sp>
      <p:sp>
        <p:nvSpPr>
          <p:cNvPr id="7" name="Text 5"/>
          <p:cNvSpPr/>
          <p:nvPr/>
        </p:nvSpPr>
        <p:spPr>
          <a:xfrm>
            <a:off x="548640" y="868680"/>
            <a:ext cx="11064240" cy="914400"/>
          </a:xfrm>
          <a:prstGeom prst="rect">
            <a:avLst/>
          </a:prstGeom>
          <a:noFill/>
          <a:ln/>
        </p:spPr>
        <p:txBody>
          <a:bodyPr wrap="square" lIns="0" tIns="0" rIns="0" bIns="0" rtlCol="0" anchor="ctr"/>
          <a:lstStyle/>
          <a:p>
            <a:pPr indent="0" marL="0">
              <a:buNone/>
            </a:pPr>
            <a:r>
              <a:rPr lang="en-US" sz="3000" b="1" dirty="0">
                <a:solidFill>
                  <a:srgbClr val="EEF3EE"/>
                </a:solidFill>
                <a:latin typeface="Arial" pitchFamily="34" charset="0"/>
                <a:ea typeface="Arial" pitchFamily="34" charset="-122"/>
                <a:cs typeface="Arial" pitchFamily="34" charset="-120"/>
              </a:rPr>
              <a:t>Technology and implementation</a:t>
            </a:r>
            <a:endParaRPr lang="en-US" sz="3000" dirty="0"/>
          </a:p>
        </p:txBody>
      </p:sp>
      <p:sp>
        <p:nvSpPr>
          <p:cNvPr id="8" name="Shape 6"/>
          <p:cNvSpPr/>
          <p:nvPr/>
        </p:nvSpPr>
        <p:spPr>
          <a:xfrm>
            <a:off x="548640" y="1737360"/>
            <a:ext cx="11064240" cy="713232"/>
          </a:xfrm>
          <a:prstGeom prst="roundRect">
            <a:avLst>
              <a:gd name="adj" fmla="val 12821"/>
            </a:avLst>
          </a:prstGeom>
          <a:solidFill>
            <a:srgbClr val="152017"/>
          </a:solidFill>
          <a:ln w="12700">
            <a:solidFill>
              <a:srgbClr val="2C4636"/>
            </a:solidFill>
            <a:prstDash val="solid"/>
          </a:ln>
          <a:effectLst>
            <a:outerShdw sx="100000" sy="100000" kx="0" ky="0" algn="bl" rotWithShape="0" blurRad="127000" dist="38100" dir="5400000">
              <a:srgbClr val="000000">
                <a:alpha val="40000"/>
              </a:srgbClr>
            </a:outerShdw>
          </a:effectLst>
        </p:spPr>
      </p:sp>
      <p:sp>
        <p:nvSpPr>
          <p:cNvPr id="9" name="Shape 7"/>
          <p:cNvSpPr/>
          <p:nvPr/>
        </p:nvSpPr>
        <p:spPr>
          <a:xfrm>
            <a:off x="777240" y="1874520"/>
            <a:ext cx="438912" cy="438912"/>
          </a:xfrm>
          <a:prstGeom prst="roundRect">
            <a:avLst>
              <a:gd name="adj" fmla="val 12500"/>
            </a:avLst>
          </a:prstGeom>
          <a:solidFill>
            <a:srgbClr val="1B2A20"/>
          </a:solidFill>
          <a:ln w="12700">
            <a:solidFill>
              <a:srgbClr val="27C08A"/>
            </a:solidFill>
            <a:prstDash val="solid"/>
          </a:ln>
        </p:spPr>
      </p:sp>
      <p:sp>
        <p:nvSpPr>
          <p:cNvPr id="10" name="Text 8"/>
          <p:cNvSpPr/>
          <p:nvPr/>
        </p:nvSpPr>
        <p:spPr>
          <a:xfrm>
            <a:off x="777240" y="1874520"/>
            <a:ext cx="438912" cy="438912"/>
          </a:xfrm>
          <a:prstGeom prst="rect">
            <a:avLst/>
          </a:prstGeom>
          <a:noFill/>
          <a:ln/>
        </p:spPr>
        <p:txBody>
          <a:bodyPr wrap="square" lIns="0" tIns="0" rIns="0" bIns="0" rtlCol="0" anchor="ctr"/>
          <a:lstStyle/>
          <a:p>
            <a:pPr algn="ctr" indent="0" marL="0">
              <a:buNone/>
            </a:pPr>
            <a:r>
              <a:rPr lang="en-US" sz="1400" b="1" dirty="0">
                <a:solidFill>
                  <a:srgbClr val="27C08A"/>
                </a:solidFill>
                <a:latin typeface="Arial" pitchFamily="34" charset="0"/>
                <a:ea typeface="Arial" pitchFamily="34" charset="-122"/>
                <a:cs typeface="Arial" pitchFamily="34" charset="-120"/>
              </a:rPr>
              <a:t>01</a:t>
            </a:r>
            <a:endParaRPr lang="en-US" sz="1400" dirty="0"/>
          </a:p>
        </p:txBody>
      </p:sp>
      <p:sp>
        <p:nvSpPr>
          <p:cNvPr id="11" name="Text 9"/>
          <p:cNvSpPr/>
          <p:nvPr/>
        </p:nvSpPr>
        <p:spPr>
          <a:xfrm>
            <a:off x="1463040" y="1773936"/>
            <a:ext cx="2926080" cy="640080"/>
          </a:xfrm>
          <a:prstGeom prst="rect">
            <a:avLst/>
          </a:prstGeom>
          <a:noFill/>
          <a:ln/>
        </p:spPr>
        <p:txBody>
          <a:bodyPr wrap="square" lIns="0" tIns="0" rIns="0" bIns="0" rtlCol="0" anchor="ctr"/>
          <a:lstStyle/>
          <a:p>
            <a:pPr indent="0" marL="0">
              <a:buNone/>
            </a:pPr>
            <a:r>
              <a:rPr lang="en-US" sz="1400" b="1" dirty="0">
                <a:solidFill>
                  <a:srgbClr val="EEF3EE"/>
                </a:solidFill>
                <a:latin typeface="Arial" pitchFamily="34" charset="0"/>
                <a:ea typeface="Arial" pitchFamily="34" charset="-122"/>
                <a:cs typeface="Arial" pitchFamily="34" charset="-120"/>
              </a:rPr>
              <a:t>Phone app</a:t>
            </a:r>
            <a:endParaRPr lang="en-US" sz="1400" dirty="0"/>
          </a:p>
        </p:txBody>
      </p:sp>
      <p:sp>
        <p:nvSpPr>
          <p:cNvPr id="12" name="Text 10"/>
          <p:cNvSpPr/>
          <p:nvPr/>
        </p:nvSpPr>
        <p:spPr>
          <a:xfrm>
            <a:off x="4480560" y="1773936"/>
            <a:ext cx="6949440" cy="640080"/>
          </a:xfrm>
          <a:prstGeom prst="rect">
            <a:avLst/>
          </a:prstGeom>
          <a:noFill/>
          <a:ln/>
        </p:spPr>
        <p:txBody>
          <a:bodyPr wrap="square" lIns="0" tIns="0" rIns="0" bIns="0" rtlCol="0" anchor="ctr"/>
          <a:lstStyle/>
          <a:p>
            <a:pPr indent="0" marL="0">
              <a:buNone/>
            </a:pPr>
            <a:r>
              <a:rPr lang="en-US" sz="1150" dirty="0">
                <a:solidFill>
                  <a:srgbClr val="9DB0A4"/>
                </a:solidFill>
                <a:latin typeface="Calibri" pitchFamily="34" charset="0"/>
                <a:ea typeface="Calibri" pitchFamily="34" charset="-122"/>
                <a:cs typeface="Calibri" pitchFamily="34" charset="-120"/>
              </a:rPr>
              <a:t>A web app, no install, Hindi and English, every screen read aloud. After one visit it works offline on the phone.</a:t>
            </a:r>
            <a:endParaRPr lang="en-US" sz="1150" dirty="0"/>
          </a:p>
        </p:txBody>
      </p:sp>
      <p:sp>
        <p:nvSpPr>
          <p:cNvPr id="13" name="Shape 11"/>
          <p:cNvSpPr/>
          <p:nvPr/>
        </p:nvSpPr>
        <p:spPr>
          <a:xfrm>
            <a:off x="548640" y="2523744"/>
            <a:ext cx="11064240" cy="713232"/>
          </a:xfrm>
          <a:prstGeom prst="roundRect">
            <a:avLst>
              <a:gd name="adj" fmla="val 12821"/>
            </a:avLst>
          </a:prstGeom>
          <a:solidFill>
            <a:srgbClr val="152017"/>
          </a:solidFill>
          <a:ln w="12700">
            <a:solidFill>
              <a:srgbClr val="2C4636"/>
            </a:solidFill>
            <a:prstDash val="solid"/>
          </a:ln>
          <a:effectLst>
            <a:outerShdw sx="100000" sy="100000" kx="0" ky="0" algn="bl" rotWithShape="0" blurRad="127000" dist="38100" dir="5400000">
              <a:srgbClr val="000000">
                <a:alpha val="40000"/>
              </a:srgbClr>
            </a:outerShdw>
          </a:effectLst>
        </p:spPr>
      </p:sp>
      <p:sp>
        <p:nvSpPr>
          <p:cNvPr id="14" name="Shape 12"/>
          <p:cNvSpPr/>
          <p:nvPr/>
        </p:nvSpPr>
        <p:spPr>
          <a:xfrm>
            <a:off x="777240" y="2660904"/>
            <a:ext cx="438912" cy="438912"/>
          </a:xfrm>
          <a:prstGeom prst="roundRect">
            <a:avLst>
              <a:gd name="adj" fmla="val 12500"/>
            </a:avLst>
          </a:prstGeom>
          <a:solidFill>
            <a:srgbClr val="1B2A20"/>
          </a:solidFill>
          <a:ln w="12700">
            <a:solidFill>
              <a:srgbClr val="27C08A"/>
            </a:solidFill>
            <a:prstDash val="solid"/>
          </a:ln>
        </p:spPr>
      </p:sp>
      <p:sp>
        <p:nvSpPr>
          <p:cNvPr id="15" name="Text 13"/>
          <p:cNvSpPr/>
          <p:nvPr/>
        </p:nvSpPr>
        <p:spPr>
          <a:xfrm>
            <a:off x="777240" y="2660904"/>
            <a:ext cx="438912" cy="438912"/>
          </a:xfrm>
          <a:prstGeom prst="rect">
            <a:avLst/>
          </a:prstGeom>
          <a:noFill/>
          <a:ln/>
        </p:spPr>
        <p:txBody>
          <a:bodyPr wrap="square" lIns="0" tIns="0" rIns="0" bIns="0" rtlCol="0" anchor="ctr"/>
          <a:lstStyle/>
          <a:p>
            <a:pPr algn="ctr" indent="0" marL="0">
              <a:buNone/>
            </a:pPr>
            <a:r>
              <a:rPr lang="en-US" sz="1400" b="1" dirty="0">
                <a:solidFill>
                  <a:srgbClr val="27C08A"/>
                </a:solidFill>
                <a:latin typeface="Arial" pitchFamily="34" charset="0"/>
                <a:ea typeface="Arial" pitchFamily="34" charset="-122"/>
                <a:cs typeface="Arial" pitchFamily="34" charset="-120"/>
              </a:rPr>
              <a:t>02</a:t>
            </a:r>
            <a:endParaRPr lang="en-US" sz="1400" dirty="0"/>
          </a:p>
        </p:txBody>
      </p:sp>
      <p:sp>
        <p:nvSpPr>
          <p:cNvPr id="16" name="Text 14"/>
          <p:cNvSpPr/>
          <p:nvPr/>
        </p:nvSpPr>
        <p:spPr>
          <a:xfrm>
            <a:off x="1463040" y="2560320"/>
            <a:ext cx="2926080" cy="640080"/>
          </a:xfrm>
          <a:prstGeom prst="rect">
            <a:avLst/>
          </a:prstGeom>
          <a:noFill/>
          <a:ln/>
        </p:spPr>
        <p:txBody>
          <a:bodyPr wrap="square" lIns="0" tIns="0" rIns="0" bIns="0" rtlCol="0" anchor="ctr"/>
          <a:lstStyle/>
          <a:p>
            <a:pPr indent="0" marL="0">
              <a:buNone/>
            </a:pPr>
            <a:r>
              <a:rPr lang="en-US" sz="1400" b="1" dirty="0">
                <a:solidFill>
                  <a:srgbClr val="EEF3EE"/>
                </a:solidFill>
                <a:latin typeface="Arial" pitchFamily="34" charset="0"/>
                <a:ea typeface="Arial" pitchFamily="34" charset="-122"/>
                <a:cs typeface="Arial" pitchFamily="34" charset="-120"/>
              </a:rPr>
              <a:t>Fraud-Shield</a:t>
            </a:r>
            <a:endParaRPr lang="en-US" sz="1400" dirty="0"/>
          </a:p>
        </p:txBody>
      </p:sp>
      <p:sp>
        <p:nvSpPr>
          <p:cNvPr id="17" name="Text 15"/>
          <p:cNvSpPr/>
          <p:nvPr/>
        </p:nvSpPr>
        <p:spPr>
          <a:xfrm>
            <a:off x="4480560" y="2560320"/>
            <a:ext cx="6949440" cy="640080"/>
          </a:xfrm>
          <a:prstGeom prst="rect">
            <a:avLst/>
          </a:prstGeom>
          <a:noFill/>
          <a:ln/>
        </p:spPr>
        <p:txBody>
          <a:bodyPr wrap="square" lIns="0" tIns="0" rIns="0" bIns="0" rtlCol="0" anchor="ctr"/>
          <a:lstStyle/>
          <a:p>
            <a:pPr indent="0" marL="0">
              <a:buNone/>
            </a:pPr>
            <a:r>
              <a:rPr lang="en-US" sz="1150" dirty="0">
                <a:solidFill>
                  <a:srgbClr val="9DB0A4"/>
                </a:solidFill>
                <a:latin typeface="Calibri" pitchFamily="34" charset="0"/>
                <a:ea typeface="Calibri" pitchFamily="34" charset="-122"/>
                <a:cs typeface="Calibri" pitchFamily="34" charset="-120"/>
              </a:rPr>
              <a:t>59 named signals in a signed content pack, a pattern matcher and a small classifier decide. Vetted templates explain; an optional local model may add a line, only through a safety gate.</a:t>
            </a:r>
            <a:endParaRPr lang="en-US" sz="1150" dirty="0"/>
          </a:p>
        </p:txBody>
      </p:sp>
      <p:sp>
        <p:nvSpPr>
          <p:cNvPr id="18" name="Shape 16"/>
          <p:cNvSpPr/>
          <p:nvPr/>
        </p:nvSpPr>
        <p:spPr>
          <a:xfrm>
            <a:off x="548640" y="3310128"/>
            <a:ext cx="11064240" cy="713232"/>
          </a:xfrm>
          <a:prstGeom prst="roundRect">
            <a:avLst>
              <a:gd name="adj" fmla="val 12821"/>
            </a:avLst>
          </a:prstGeom>
          <a:solidFill>
            <a:srgbClr val="152017"/>
          </a:solidFill>
          <a:ln w="12700">
            <a:solidFill>
              <a:srgbClr val="2C4636"/>
            </a:solidFill>
            <a:prstDash val="solid"/>
          </a:ln>
          <a:effectLst>
            <a:outerShdw sx="100000" sy="100000" kx="0" ky="0" algn="bl" rotWithShape="0" blurRad="127000" dist="38100" dir="5400000">
              <a:srgbClr val="000000">
                <a:alpha val="40000"/>
              </a:srgbClr>
            </a:outerShdw>
          </a:effectLst>
        </p:spPr>
      </p:sp>
      <p:sp>
        <p:nvSpPr>
          <p:cNvPr id="19" name="Shape 17"/>
          <p:cNvSpPr/>
          <p:nvPr/>
        </p:nvSpPr>
        <p:spPr>
          <a:xfrm>
            <a:off x="777240" y="3447288"/>
            <a:ext cx="438912" cy="438912"/>
          </a:xfrm>
          <a:prstGeom prst="roundRect">
            <a:avLst>
              <a:gd name="adj" fmla="val 12500"/>
            </a:avLst>
          </a:prstGeom>
          <a:solidFill>
            <a:srgbClr val="1B2A20"/>
          </a:solidFill>
          <a:ln w="12700">
            <a:solidFill>
              <a:srgbClr val="27C08A"/>
            </a:solidFill>
            <a:prstDash val="solid"/>
          </a:ln>
        </p:spPr>
      </p:sp>
      <p:sp>
        <p:nvSpPr>
          <p:cNvPr id="20" name="Text 18"/>
          <p:cNvSpPr/>
          <p:nvPr/>
        </p:nvSpPr>
        <p:spPr>
          <a:xfrm>
            <a:off x="777240" y="3447288"/>
            <a:ext cx="438912" cy="438912"/>
          </a:xfrm>
          <a:prstGeom prst="rect">
            <a:avLst/>
          </a:prstGeom>
          <a:noFill/>
          <a:ln/>
        </p:spPr>
        <p:txBody>
          <a:bodyPr wrap="square" lIns="0" tIns="0" rIns="0" bIns="0" rtlCol="0" anchor="ctr"/>
          <a:lstStyle/>
          <a:p>
            <a:pPr algn="ctr" indent="0" marL="0">
              <a:buNone/>
            </a:pPr>
            <a:r>
              <a:rPr lang="en-US" sz="1400" b="1" dirty="0">
                <a:solidFill>
                  <a:srgbClr val="27C08A"/>
                </a:solidFill>
                <a:latin typeface="Arial" pitchFamily="34" charset="0"/>
                <a:ea typeface="Arial" pitchFamily="34" charset="-122"/>
                <a:cs typeface="Arial" pitchFamily="34" charset="-120"/>
              </a:rPr>
              <a:t>03</a:t>
            </a:r>
            <a:endParaRPr lang="en-US" sz="1400" dirty="0"/>
          </a:p>
        </p:txBody>
      </p:sp>
      <p:sp>
        <p:nvSpPr>
          <p:cNvPr id="21" name="Text 19"/>
          <p:cNvSpPr/>
          <p:nvPr/>
        </p:nvSpPr>
        <p:spPr>
          <a:xfrm>
            <a:off x="1463040" y="3346704"/>
            <a:ext cx="2926080" cy="640080"/>
          </a:xfrm>
          <a:prstGeom prst="rect">
            <a:avLst/>
          </a:prstGeom>
          <a:noFill/>
          <a:ln/>
        </p:spPr>
        <p:txBody>
          <a:bodyPr wrap="square" lIns="0" tIns="0" rIns="0" bIns="0" rtlCol="0" anchor="ctr"/>
          <a:lstStyle/>
          <a:p>
            <a:pPr indent="0" marL="0">
              <a:buNone/>
            </a:pPr>
            <a:r>
              <a:rPr lang="en-US" sz="1400" b="1" dirty="0">
                <a:solidFill>
                  <a:srgbClr val="EEF3EE"/>
                </a:solidFill>
                <a:latin typeface="Arial" pitchFamily="34" charset="0"/>
                <a:ea typeface="Arial" pitchFamily="34" charset="-122"/>
                <a:cs typeface="Arial" pitchFamily="34" charset="-120"/>
              </a:rPr>
              <a:t>Benefits Navigator</a:t>
            </a:r>
            <a:endParaRPr lang="en-US" sz="1400" dirty="0"/>
          </a:p>
        </p:txBody>
      </p:sp>
      <p:sp>
        <p:nvSpPr>
          <p:cNvPr id="22" name="Text 20"/>
          <p:cNvSpPr/>
          <p:nvPr/>
        </p:nvSpPr>
        <p:spPr>
          <a:xfrm>
            <a:off x="4480560" y="3346704"/>
            <a:ext cx="6949440" cy="640080"/>
          </a:xfrm>
          <a:prstGeom prst="rect">
            <a:avLst/>
          </a:prstGeom>
          <a:noFill/>
          <a:ln/>
        </p:spPr>
        <p:txBody>
          <a:bodyPr wrap="square" lIns="0" tIns="0" rIns="0" bIns="0" rtlCol="0" anchor="ctr"/>
          <a:lstStyle/>
          <a:p>
            <a:pPr indent="0" marL="0">
              <a:buNone/>
            </a:pPr>
            <a:r>
              <a:rPr lang="en-US" sz="1150" dirty="0">
                <a:solidFill>
                  <a:srgbClr val="9DB0A4"/>
                </a:solidFill>
                <a:latin typeface="Calibri" pitchFamily="34" charset="0"/>
                <a:ea typeface="Calibri" pitchFamily="34" charset="-122"/>
                <a:cs typeface="Calibri" pitchFamily="34" charset="-120"/>
              </a:rPr>
              <a:t>Scheme rules as data, each traced to its official page and date; yes / likely / unknown / no logic; asks only what can change the answer.</a:t>
            </a:r>
            <a:endParaRPr lang="en-US" sz="1150" dirty="0"/>
          </a:p>
        </p:txBody>
      </p:sp>
      <p:sp>
        <p:nvSpPr>
          <p:cNvPr id="23" name="Shape 21"/>
          <p:cNvSpPr/>
          <p:nvPr/>
        </p:nvSpPr>
        <p:spPr>
          <a:xfrm>
            <a:off x="548640" y="4096512"/>
            <a:ext cx="11064240" cy="713232"/>
          </a:xfrm>
          <a:prstGeom prst="roundRect">
            <a:avLst>
              <a:gd name="adj" fmla="val 12821"/>
            </a:avLst>
          </a:prstGeom>
          <a:solidFill>
            <a:srgbClr val="152017"/>
          </a:solidFill>
          <a:ln w="12700">
            <a:solidFill>
              <a:srgbClr val="2C4636"/>
            </a:solidFill>
            <a:prstDash val="solid"/>
          </a:ln>
          <a:effectLst>
            <a:outerShdw sx="100000" sy="100000" kx="0" ky="0" algn="bl" rotWithShape="0" blurRad="127000" dist="38100" dir="5400000">
              <a:srgbClr val="000000">
                <a:alpha val="40000"/>
              </a:srgbClr>
            </a:outerShdw>
          </a:effectLst>
        </p:spPr>
      </p:sp>
      <p:sp>
        <p:nvSpPr>
          <p:cNvPr id="24" name="Shape 22"/>
          <p:cNvSpPr/>
          <p:nvPr/>
        </p:nvSpPr>
        <p:spPr>
          <a:xfrm>
            <a:off x="777240" y="4233672"/>
            <a:ext cx="438912" cy="438912"/>
          </a:xfrm>
          <a:prstGeom prst="roundRect">
            <a:avLst>
              <a:gd name="adj" fmla="val 12500"/>
            </a:avLst>
          </a:prstGeom>
          <a:solidFill>
            <a:srgbClr val="1B2A20"/>
          </a:solidFill>
          <a:ln w="12700">
            <a:solidFill>
              <a:srgbClr val="27C08A"/>
            </a:solidFill>
            <a:prstDash val="solid"/>
          </a:ln>
        </p:spPr>
      </p:sp>
      <p:sp>
        <p:nvSpPr>
          <p:cNvPr id="25" name="Text 23"/>
          <p:cNvSpPr/>
          <p:nvPr/>
        </p:nvSpPr>
        <p:spPr>
          <a:xfrm>
            <a:off x="777240" y="4233672"/>
            <a:ext cx="438912" cy="438912"/>
          </a:xfrm>
          <a:prstGeom prst="rect">
            <a:avLst/>
          </a:prstGeom>
          <a:noFill/>
          <a:ln/>
        </p:spPr>
        <p:txBody>
          <a:bodyPr wrap="square" lIns="0" tIns="0" rIns="0" bIns="0" rtlCol="0" anchor="ctr"/>
          <a:lstStyle/>
          <a:p>
            <a:pPr algn="ctr" indent="0" marL="0">
              <a:buNone/>
            </a:pPr>
            <a:r>
              <a:rPr lang="en-US" sz="1400" b="1" dirty="0">
                <a:solidFill>
                  <a:srgbClr val="27C08A"/>
                </a:solidFill>
                <a:latin typeface="Arial" pitchFamily="34" charset="0"/>
                <a:ea typeface="Arial" pitchFamily="34" charset="-122"/>
                <a:cs typeface="Arial" pitchFamily="34" charset="-120"/>
              </a:rPr>
              <a:t>04</a:t>
            </a:r>
            <a:endParaRPr lang="en-US" sz="1400" dirty="0"/>
          </a:p>
        </p:txBody>
      </p:sp>
      <p:sp>
        <p:nvSpPr>
          <p:cNvPr id="26" name="Text 24"/>
          <p:cNvSpPr/>
          <p:nvPr/>
        </p:nvSpPr>
        <p:spPr>
          <a:xfrm>
            <a:off x="1463040" y="4133088"/>
            <a:ext cx="2926080" cy="640080"/>
          </a:xfrm>
          <a:prstGeom prst="rect">
            <a:avLst/>
          </a:prstGeom>
          <a:noFill/>
          <a:ln/>
        </p:spPr>
        <p:txBody>
          <a:bodyPr wrap="square" lIns="0" tIns="0" rIns="0" bIns="0" rtlCol="0" anchor="ctr"/>
          <a:lstStyle/>
          <a:p>
            <a:pPr indent="0" marL="0">
              <a:buNone/>
            </a:pPr>
            <a:r>
              <a:rPr lang="en-US" sz="1400" b="1" dirty="0">
                <a:solidFill>
                  <a:srgbClr val="EEF3EE"/>
                </a:solidFill>
                <a:latin typeface="Arial" pitchFamily="34" charset="0"/>
                <a:ea typeface="Arial" pitchFamily="34" charset="-122"/>
                <a:cs typeface="Arial" pitchFamily="34" charset="-120"/>
              </a:rPr>
              <a:t>Offline voice</a:t>
            </a:r>
            <a:endParaRPr lang="en-US" sz="1400" dirty="0"/>
          </a:p>
        </p:txBody>
      </p:sp>
      <p:sp>
        <p:nvSpPr>
          <p:cNvPr id="27" name="Text 25"/>
          <p:cNvSpPr/>
          <p:nvPr/>
        </p:nvSpPr>
        <p:spPr>
          <a:xfrm>
            <a:off x="4480560" y="4133088"/>
            <a:ext cx="6949440" cy="640080"/>
          </a:xfrm>
          <a:prstGeom prst="rect">
            <a:avLst/>
          </a:prstGeom>
          <a:noFill/>
          <a:ln/>
        </p:spPr>
        <p:txBody>
          <a:bodyPr wrap="square" lIns="0" tIns="0" rIns="0" bIns="0" rtlCol="0" anchor="ctr"/>
          <a:lstStyle/>
          <a:p>
            <a:pPr indent="0" marL="0">
              <a:buNone/>
            </a:pPr>
            <a:r>
              <a:rPr lang="en-US" sz="1150" dirty="0">
                <a:solidFill>
                  <a:srgbClr val="9DB0A4"/>
                </a:solidFill>
                <a:latin typeface="Calibri" pitchFamily="34" charset="0"/>
                <a:ea typeface="Calibri" pitchFamily="34" charset="-122"/>
                <a:cs typeface="Calibri" pitchFamily="34" charset="-120"/>
              </a:rPr>
              <a:t>Speech in and out on the node (Vosk, Piper); amounts spoken as words; "I heard …, is that right?" before any answer is used.</a:t>
            </a:r>
            <a:endParaRPr lang="en-US" sz="1150" dirty="0"/>
          </a:p>
        </p:txBody>
      </p:sp>
      <p:sp>
        <p:nvSpPr>
          <p:cNvPr id="28" name="Shape 26"/>
          <p:cNvSpPr/>
          <p:nvPr/>
        </p:nvSpPr>
        <p:spPr>
          <a:xfrm>
            <a:off x="548640" y="4882896"/>
            <a:ext cx="11064240" cy="713232"/>
          </a:xfrm>
          <a:prstGeom prst="roundRect">
            <a:avLst>
              <a:gd name="adj" fmla="val 12821"/>
            </a:avLst>
          </a:prstGeom>
          <a:solidFill>
            <a:srgbClr val="152017"/>
          </a:solidFill>
          <a:ln w="12700">
            <a:solidFill>
              <a:srgbClr val="2C4636"/>
            </a:solidFill>
            <a:prstDash val="solid"/>
          </a:ln>
          <a:effectLst>
            <a:outerShdw sx="100000" sy="100000" kx="0" ky="0" algn="bl" rotWithShape="0" blurRad="127000" dist="38100" dir="5400000">
              <a:srgbClr val="000000">
                <a:alpha val="40000"/>
              </a:srgbClr>
            </a:outerShdw>
          </a:effectLst>
        </p:spPr>
      </p:sp>
      <p:sp>
        <p:nvSpPr>
          <p:cNvPr id="29" name="Shape 27"/>
          <p:cNvSpPr/>
          <p:nvPr/>
        </p:nvSpPr>
        <p:spPr>
          <a:xfrm>
            <a:off x="777240" y="5020056"/>
            <a:ext cx="438912" cy="438912"/>
          </a:xfrm>
          <a:prstGeom prst="roundRect">
            <a:avLst>
              <a:gd name="adj" fmla="val 12500"/>
            </a:avLst>
          </a:prstGeom>
          <a:solidFill>
            <a:srgbClr val="1B2A20"/>
          </a:solidFill>
          <a:ln w="12700">
            <a:solidFill>
              <a:srgbClr val="27C08A"/>
            </a:solidFill>
            <a:prstDash val="solid"/>
          </a:ln>
        </p:spPr>
      </p:sp>
      <p:sp>
        <p:nvSpPr>
          <p:cNvPr id="30" name="Text 28"/>
          <p:cNvSpPr/>
          <p:nvPr/>
        </p:nvSpPr>
        <p:spPr>
          <a:xfrm>
            <a:off x="777240" y="5020056"/>
            <a:ext cx="438912" cy="438912"/>
          </a:xfrm>
          <a:prstGeom prst="rect">
            <a:avLst/>
          </a:prstGeom>
          <a:noFill/>
          <a:ln/>
        </p:spPr>
        <p:txBody>
          <a:bodyPr wrap="square" lIns="0" tIns="0" rIns="0" bIns="0" rtlCol="0" anchor="ctr"/>
          <a:lstStyle/>
          <a:p>
            <a:pPr algn="ctr" indent="0" marL="0">
              <a:buNone/>
            </a:pPr>
            <a:r>
              <a:rPr lang="en-US" sz="1400" b="1" dirty="0">
                <a:solidFill>
                  <a:srgbClr val="27C08A"/>
                </a:solidFill>
                <a:latin typeface="Arial" pitchFamily="34" charset="0"/>
                <a:ea typeface="Arial" pitchFamily="34" charset="-122"/>
                <a:cs typeface="Arial" pitchFamily="34" charset="-120"/>
              </a:rPr>
              <a:t>05</a:t>
            </a:r>
            <a:endParaRPr lang="en-US" sz="1400" dirty="0"/>
          </a:p>
        </p:txBody>
      </p:sp>
      <p:sp>
        <p:nvSpPr>
          <p:cNvPr id="31" name="Text 29"/>
          <p:cNvSpPr/>
          <p:nvPr/>
        </p:nvSpPr>
        <p:spPr>
          <a:xfrm>
            <a:off x="1463040" y="4919472"/>
            <a:ext cx="2926080" cy="640080"/>
          </a:xfrm>
          <a:prstGeom prst="rect">
            <a:avLst/>
          </a:prstGeom>
          <a:noFill/>
          <a:ln/>
        </p:spPr>
        <p:txBody>
          <a:bodyPr wrap="square" lIns="0" tIns="0" rIns="0" bIns="0" rtlCol="0" anchor="ctr"/>
          <a:lstStyle/>
          <a:p>
            <a:pPr indent="0" marL="0">
              <a:buNone/>
            </a:pPr>
            <a:r>
              <a:rPr lang="en-US" sz="1400" b="1" dirty="0">
                <a:solidFill>
                  <a:srgbClr val="EEF3EE"/>
                </a:solidFill>
                <a:latin typeface="Arial" pitchFamily="34" charset="0"/>
                <a:ea typeface="Arial" pitchFamily="34" charset="-122"/>
                <a:cs typeface="Arial" pitchFamily="34" charset="-120"/>
              </a:rPr>
              <a:t>The node</a:t>
            </a:r>
            <a:endParaRPr lang="en-US" sz="1400" dirty="0"/>
          </a:p>
        </p:txBody>
      </p:sp>
      <p:sp>
        <p:nvSpPr>
          <p:cNvPr id="32" name="Text 30"/>
          <p:cNvSpPr/>
          <p:nvPr/>
        </p:nvSpPr>
        <p:spPr>
          <a:xfrm>
            <a:off x="4480560" y="4919472"/>
            <a:ext cx="6949440" cy="640080"/>
          </a:xfrm>
          <a:prstGeom prst="rect">
            <a:avLst/>
          </a:prstGeom>
          <a:noFill/>
          <a:ln/>
        </p:spPr>
        <p:txBody>
          <a:bodyPr wrap="square" lIns="0" tIns="0" rIns="0" bIns="0" rtlCol="0" anchor="ctr"/>
          <a:lstStyle/>
          <a:p>
            <a:pPr indent="0" marL="0">
              <a:buNone/>
            </a:pPr>
            <a:r>
              <a:rPr lang="en-US" sz="1150" dirty="0">
                <a:solidFill>
                  <a:srgbClr val="9DB0A4"/>
                </a:solidFill>
                <a:latin typeface="Calibri" pitchFamily="34" charset="0"/>
                <a:ea typeface="Calibri" pitchFamily="34" charset="-122"/>
                <a:cs typeface="Calibri" pitchFamily="34" charset="-120"/>
              </a:rPr>
              <a:t>One mini-PC or laptop at a CSC. Zero-egress monitor, Ed25519-signed packs updated by USB, operator console, captive portal.</a:t>
            </a:r>
            <a:endParaRPr lang="en-US" sz="1150" dirty="0"/>
          </a:p>
        </p:txBody>
      </p:sp>
      <p:sp>
        <p:nvSpPr>
          <p:cNvPr id="33" name="Shape 31"/>
          <p:cNvSpPr/>
          <p:nvPr/>
        </p:nvSpPr>
        <p:spPr>
          <a:xfrm>
            <a:off x="548640" y="5669280"/>
            <a:ext cx="11064240" cy="713232"/>
          </a:xfrm>
          <a:prstGeom prst="roundRect">
            <a:avLst>
              <a:gd name="adj" fmla="val 12821"/>
            </a:avLst>
          </a:prstGeom>
          <a:solidFill>
            <a:srgbClr val="152017"/>
          </a:solidFill>
          <a:ln w="12700">
            <a:solidFill>
              <a:srgbClr val="2C4636"/>
            </a:solidFill>
            <a:prstDash val="solid"/>
          </a:ln>
          <a:effectLst>
            <a:outerShdw sx="100000" sy="100000" kx="0" ky="0" algn="bl" rotWithShape="0" blurRad="127000" dist="38100" dir="5400000">
              <a:srgbClr val="000000">
                <a:alpha val="40000"/>
              </a:srgbClr>
            </a:outerShdw>
          </a:effectLst>
        </p:spPr>
      </p:sp>
      <p:sp>
        <p:nvSpPr>
          <p:cNvPr id="34" name="Shape 32"/>
          <p:cNvSpPr/>
          <p:nvPr/>
        </p:nvSpPr>
        <p:spPr>
          <a:xfrm>
            <a:off x="777240" y="5806440"/>
            <a:ext cx="438912" cy="438912"/>
          </a:xfrm>
          <a:prstGeom prst="roundRect">
            <a:avLst>
              <a:gd name="adj" fmla="val 12500"/>
            </a:avLst>
          </a:prstGeom>
          <a:solidFill>
            <a:srgbClr val="1B2A20"/>
          </a:solidFill>
          <a:ln w="12700">
            <a:solidFill>
              <a:srgbClr val="27C08A"/>
            </a:solidFill>
            <a:prstDash val="solid"/>
          </a:ln>
        </p:spPr>
      </p:sp>
      <p:sp>
        <p:nvSpPr>
          <p:cNvPr id="35" name="Text 33"/>
          <p:cNvSpPr/>
          <p:nvPr/>
        </p:nvSpPr>
        <p:spPr>
          <a:xfrm>
            <a:off x="777240" y="5806440"/>
            <a:ext cx="438912" cy="438912"/>
          </a:xfrm>
          <a:prstGeom prst="rect">
            <a:avLst/>
          </a:prstGeom>
          <a:noFill/>
          <a:ln/>
        </p:spPr>
        <p:txBody>
          <a:bodyPr wrap="square" lIns="0" tIns="0" rIns="0" bIns="0" rtlCol="0" anchor="ctr"/>
          <a:lstStyle/>
          <a:p>
            <a:pPr algn="ctr" indent="0" marL="0">
              <a:buNone/>
            </a:pPr>
            <a:r>
              <a:rPr lang="en-US" sz="1400" b="1" dirty="0">
                <a:solidFill>
                  <a:srgbClr val="27C08A"/>
                </a:solidFill>
                <a:latin typeface="Arial" pitchFamily="34" charset="0"/>
                <a:ea typeface="Arial" pitchFamily="34" charset="-122"/>
                <a:cs typeface="Arial" pitchFamily="34" charset="-120"/>
              </a:rPr>
              <a:t>06</a:t>
            </a:r>
            <a:endParaRPr lang="en-US" sz="1400" dirty="0"/>
          </a:p>
        </p:txBody>
      </p:sp>
      <p:sp>
        <p:nvSpPr>
          <p:cNvPr id="36" name="Text 34"/>
          <p:cNvSpPr/>
          <p:nvPr/>
        </p:nvSpPr>
        <p:spPr>
          <a:xfrm>
            <a:off x="1463040" y="5705856"/>
            <a:ext cx="2926080" cy="640080"/>
          </a:xfrm>
          <a:prstGeom prst="rect">
            <a:avLst/>
          </a:prstGeom>
          <a:noFill/>
          <a:ln/>
        </p:spPr>
        <p:txBody>
          <a:bodyPr wrap="square" lIns="0" tIns="0" rIns="0" bIns="0" rtlCol="0" anchor="ctr"/>
          <a:lstStyle/>
          <a:p>
            <a:pPr indent="0" marL="0">
              <a:buNone/>
            </a:pPr>
            <a:r>
              <a:rPr lang="en-US" sz="1400" b="1" dirty="0">
                <a:solidFill>
                  <a:srgbClr val="EEF3EE"/>
                </a:solidFill>
                <a:latin typeface="Arial" pitchFamily="34" charset="0"/>
                <a:ea typeface="Arial" pitchFamily="34" charset="-122"/>
                <a:cs typeface="Arial" pitchFamily="34" charset="-120"/>
              </a:rPr>
              <a:t>Same answer everywhere</a:t>
            </a:r>
            <a:endParaRPr lang="en-US" sz="1400" dirty="0"/>
          </a:p>
        </p:txBody>
      </p:sp>
      <p:sp>
        <p:nvSpPr>
          <p:cNvPr id="37" name="Text 35"/>
          <p:cNvSpPr/>
          <p:nvPr/>
        </p:nvSpPr>
        <p:spPr>
          <a:xfrm>
            <a:off x="4480560" y="5705856"/>
            <a:ext cx="6949440" cy="640080"/>
          </a:xfrm>
          <a:prstGeom prst="rect">
            <a:avLst/>
          </a:prstGeom>
          <a:noFill/>
          <a:ln/>
        </p:spPr>
        <p:txBody>
          <a:bodyPr wrap="square" lIns="0" tIns="0" rIns="0" bIns="0" rtlCol="0" anchor="ctr"/>
          <a:lstStyle/>
          <a:p>
            <a:pPr indent="0" marL="0">
              <a:buNone/>
            </a:pPr>
            <a:r>
              <a:rPr lang="en-US" sz="1150" dirty="0">
                <a:solidFill>
                  <a:srgbClr val="9DB0A4"/>
                </a:solidFill>
                <a:latin typeface="Calibri" pitchFamily="34" charset="0"/>
                <a:ea typeface="Calibri" pitchFamily="34" charset="-122"/>
                <a:cs typeface="Calibri" pitchFamily="34" charset="-120"/>
              </a:rPr>
              <a:t>The phone runs the same rules from the same signed packs: identical results to the node on 1,490 messages and 7,983 interviews.</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F14"/>
        </a:solidFill>
      </p:bgPr>
    </p:bg>
    <p:spTree>
      <p:nvGrpSpPr>
        <p:cNvPr id="1" name=""/>
        <p:cNvGrpSpPr/>
        <p:nvPr/>
      </p:nvGrpSpPr>
      <p:grpSpPr>
        <a:xfrm>
          <a:off x="0" y="0"/>
          <a:ext cx="0" cy="0"/>
          <a:chOff x="0" y="0"/>
          <a:chExt cx="0" cy="0"/>
        </a:xfrm>
      </p:grpSpPr>
      <p:sp>
        <p:nvSpPr>
          <p:cNvPr id="2" name="Shape 0"/>
          <p:cNvSpPr/>
          <p:nvPr/>
        </p:nvSpPr>
        <p:spPr>
          <a:xfrm>
            <a:off x="11475720" y="384048"/>
            <a:ext cx="109728" cy="109728"/>
          </a:xfrm>
          <a:prstGeom prst="ellipse">
            <a:avLst/>
          </a:prstGeom>
          <a:solidFill>
            <a:srgbClr val="FF9E3D"/>
          </a:solidFill>
          <a:ln/>
        </p:spPr>
      </p:sp>
      <p:sp>
        <p:nvSpPr>
          <p:cNvPr id="3" name="Shape 1"/>
          <p:cNvSpPr/>
          <p:nvPr/>
        </p:nvSpPr>
        <p:spPr>
          <a:xfrm>
            <a:off x="11658600" y="384048"/>
            <a:ext cx="109728" cy="109728"/>
          </a:xfrm>
          <a:prstGeom prst="ellipse">
            <a:avLst/>
          </a:prstGeom>
          <a:solidFill>
            <a:srgbClr val="EEF3EE"/>
          </a:solidFill>
          <a:ln/>
        </p:spPr>
      </p:sp>
      <p:sp>
        <p:nvSpPr>
          <p:cNvPr id="4" name="Shape 2"/>
          <p:cNvSpPr/>
          <p:nvPr/>
        </p:nvSpPr>
        <p:spPr>
          <a:xfrm>
            <a:off x="11841480" y="384048"/>
            <a:ext cx="109728" cy="109728"/>
          </a:xfrm>
          <a:prstGeom prst="ellipse">
            <a:avLst/>
          </a:prstGeom>
          <a:solidFill>
            <a:srgbClr val="27C08A"/>
          </a:solidFill>
          <a:ln/>
        </p:spPr>
      </p:sp>
      <p:sp>
        <p:nvSpPr>
          <p:cNvPr id="5" name="Shape 3"/>
          <p:cNvSpPr/>
          <p:nvPr/>
        </p:nvSpPr>
        <p:spPr>
          <a:xfrm>
            <a:off x="566928" y="603504"/>
            <a:ext cx="128016" cy="128016"/>
          </a:xfrm>
          <a:prstGeom prst="ellipse">
            <a:avLst/>
          </a:prstGeom>
          <a:solidFill>
            <a:srgbClr val="27C08A"/>
          </a:solidFill>
          <a:ln/>
        </p:spPr>
      </p:sp>
      <p:sp>
        <p:nvSpPr>
          <p:cNvPr id="6" name="Text 4"/>
          <p:cNvSpPr/>
          <p:nvPr/>
        </p:nvSpPr>
        <p:spPr>
          <a:xfrm>
            <a:off x="777240" y="457200"/>
            <a:ext cx="10058400" cy="411480"/>
          </a:xfrm>
          <a:prstGeom prst="rect">
            <a:avLst/>
          </a:prstGeom>
          <a:noFill/>
          <a:ln/>
        </p:spPr>
        <p:txBody>
          <a:bodyPr wrap="square" lIns="0" tIns="0" rIns="0" bIns="0" rtlCol="0" anchor="ctr"/>
          <a:lstStyle/>
          <a:p>
            <a:pPr indent="0" marL="0">
              <a:buNone/>
            </a:pPr>
            <a:r>
              <a:rPr lang="en-US" sz="1250" b="1" spc="200" kern="0" dirty="0">
                <a:solidFill>
                  <a:srgbClr val="27C08A"/>
                </a:solidFill>
                <a:latin typeface="Arial" pitchFamily="34" charset="0"/>
                <a:ea typeface="Arial" pitchFamily="34" charset="-122"/>
                <a:cs typeface="Arial" pitchFamily="34" charset="-120"/>
              </a:rPr>
              <a:t>WHAT CHANGED SINCE ROUND 1, AND WHY</a:t>
            </a:r>
            <a:endParaRPr lang="en-US" sz="1250" dirty="0"/>
          </a:p>
        </p:txBody>
      </p:sp>
      <p:sp>
        <p:nvSpPr>
          <p:cNvPr id="7" name="Text 5"/>
          <p:cNvSpPr/>
          <p:nvPr/>
        </p:nvSpPr>
        <p:spPr>
          <a:xfrm>
            <a:off x="548640" y="868680"/>
            <a:ext cx="11064240" cy="914400"/>
          </a:xfrm>
          <a:prstGeom prst="rect">
            <a:avLst/>
          </a:prstGeom>
          <a:noFill/>
          <a:ln/>
        </p:spPr>
        <p:txBody>
          <a:bodyPr wrap="square" lIns="0" tIns="0" rIns="0" bIns="0" rtlCol="0" anchor="ctr"/>
          <a:lstStyle/>
          <a:p>
            <a:pPr indent="0" marL="0">
              <a:buNone/>
            </a:pPr>
            <a:r>
              <a:rPr lang="en-US" sz="3000" b="1" dirty="0">
                <a:solidFill>
                  <a:srgbClr val="EEF3EE"/>
                </a:solidFill>
                <a:latin typeface="Arial" pitchFamily="34" charset="0"/>
                <a:ea typeface="Arial" pitchFamily="34" charset="-122"/>
                <a:cs typeface="Arial" pitchFamily="34" charset="-120"/>
              </a:rPr>
              <a:t>We tested the big-model idea, and chose rules</a:t>
            </a:r>
            <a:endParaRPr lang="en-US" sz="3000" dirty="0"/>
          </a:p>
        </p:txBody>
      </p:sp>
      <p:sp>
        <p:nvSpPr>
          <p:cNvPr id="8" name="Shape 6"/>
          <p:cNvSpPr/>
          <p:nvPr/>
        </p:nvSpPr>
        <p:spPr>
          <a:xfrm>
            <a:off x="548640" y="1783080"/>
            <a:ext cx="3520440" cy="3246120"/>
          </a:xfrm>
          <a:prstGeom prst="roundRect">
            <a:avLst>
              <a:gd name="adj" fmla="val 2817"/>
            </a:avLst>
          </a:prstGeom>
          <a:solidFill>
            <a:srgbClr val="152017"/>
          </a:solidFill>
          <a:ln w="12700">
            <a:solidFill>
              <a:srgbClr val="2C4636"/>
            </a:solidFill>
            <a:prstDash val="solid"/>
          </a:ln>
          <a:effectLst>
            <a:outerShdw sx="100000" sy="100000" kx="0" ky="0" algn="bl" rotWithShape="0" blurRad="127000" dist="38100" dir="5400000">
              <a:srgbClr val="000000">
                <a:alpha val="40000"/>
              </a:srgbClr>
            </a:outerShdw>
          </a:effectLst>
        </p:spPr>
      </p:sp>
      <p:sp>
        <p:nvSpPr>
          <p:cNvPr id="9" name="Text 7"/>
          <p:cNvSpPr/>
          <p:nvPr/>
        </p:nvSpPr>
        <p:spPr>
          <a:xfrm>
            <a:off x="850392" y="2039112"/>
            <a:ext cx="2926080" cy="731520"/>
          </a:xfrm>
          <a:prstGeom prst="rect">
            <a:avLst/>
          </a:prstGeom>
          <a:noFill/>
          <a:ln/>
        </p:spPr>
        <p:txBody>
          <a:bodyPr wrap="square" lIns="0" tIns="0" rIns="0" bIns="0" rtlCol="0" anchor="t"/>
          <a:lstStyle/>
          <a:p>
            <a:pPr indent="0" marL="0">
              <a:buNone/>
            </a:pPr>
            <a:r>
              <a:rPr lang="en-US" sz="1600" b="1" dirty="0">
                <a:solidFill>
                  <a:srgbClr val="FF9E3D"/>
                </a:solidFill>
                <a:latin typeface="Arial" pitchFamily="34" charset="0"/>
                <a:ea typeface="Arial" pitchFamily="34" charset="-122"/>
                <a:cs typeface="Arial" pitchFamily="34" charset="-120"/>
              </a:rPr>
              <a:t>Round 1 proposed</a:t>
            </a:r>
            <a:endParaRPr lang="en-US" sz="1600" dirty="0"/>
          </a:p>
        </p:txBody>
      </p:sp>
      <p:sp>
        <p:nvSpPr>
          <p:cNvPr id="10" name="Text 8"/>
          <p:cNvSpPr/>
          <p:nvPr/>
        </p:nvSpPr>
        <p:spPr>
          <a:xfrm>
            <a:off x="850392" y="2807208"/>
            <a:ext cx="2971800" cy="2057400"/>
          </a:xfrm>
          <a:prstGeom prst="rect">
            <a:avLst/>
          </a:prstGeom>
          <a:noFill/>
          <a:ln/>
        </p:spPr>
        <p:txBody>
          <a:bodyPr wrap="square" lIns="0" tIns="0" rIns="0" bIns="0" rtlCol="0" anchor="t"/>
          <a:lstStyle/>
          <a:p>
            <a:pPr indent="0" marL="0">
              <a:buNone/>
            </a:pPr>
            <a:r>
              <a:rPr lang="en-US" sz="1250" dirty="0">
                <a:solidFill>
                  <a:srgbClr val="9DB0A4"/>
                </a:solidFill>
                <a:latin typeface="Calibri" pitchFamily="34" charset="0"/>
                <a:ea typeface="Calibri" pitchFamily="34" charset="-122"/>
                <a:cs typeface="Calibri" pitchFamily="34" charset="-120"/>
              </a:rPr>
              <a:t>A 14-billion-parameter language model, offline on a GPU server, deciding whether a message is a scam, with a fine-tuned finance model behind it.</a:t>
            </a:r>
            <a:endParaRPr lang="en-US" sz="1250" dirty="0"/>
          </a:p>
        </p:txBody>
      </p:sp>
      <p:sp>
        <p:nvSpPr>
          <p:cNvPr id="11" name="Shape 9"/>
          <p:cNvSpPr/>
          <p:nvPr/>
        </p:nvSpPr>
        <p:spPr>
          <a:xfrm>
            <a:off x="4315968" y="1783080"/>
            <a:ext cx="3520440" cy="3246120"/>
          </a:xfrm>
          <a:prstGeom prst="roundRect">
            <a:avLst>
              <a:gd name="adj" fmla="val 2817"/>
            </a:avLst>
          </a:prstGeom>
          <a:solidFill>
            <a:srgbClr val="152017"/>
          </a:solidFill>
          <a:ln w="12700">
            <a:solidFill>
              <a:srgbClr val="2C4636"/>
            </a:solidFill>
            <a:prstDash val="solid"/>
          </a:ln>
          <a:effectLst>
            <a:outerShdw sx="100000" sy="100000" kx="0" ky="0" algn="bl" rotWithShape="0" blurRad="127000" dist="38100" dir="5400000">
              <a:srgbClr val="000000">
                <a:alpha val="40000"/>
              </a:srgbClr>
            </a:outerShdw>
          </a:effectLst>
        </p:spPr>
      </p:sp>
      <p:sp>
        <p:nvSpPr>
          <p:cNvPr id="12" name="Text 10"/>
          <p:cNvSpPr/>
          <p:nvPr/>
        </p:nvSpPr>
        <p:spPr>
          <a:xfrm>
            <a:off x="4617720" y="2039112"/>
            <a:ext cx="2926080" cy="731520"/>
          </a:xfrm>
          <a:prstGeom prst="rect">
            <a:avLst/>
          </a:prstGeom>
          <a:noFill/>
          <a:ln/>
        </p:spPr>
        <p:txBody>
          <a:bodyPr wrap="square" lIns="0" tIns="0" rIns="0" bIns="0" rtlCol="0" anchor="t"/>
          <a:lstStyle/>
          <a:p>
            <a:pPr indent="0" marL="0">
              <a:buNone/>
            </a:pPr>
            <a:r>
              <a:rPr lang="en-US" sz="1600" b="1" dirty="0">
                <a:solidFill>
                  <a:srgbClr val="27C08A"/>
                </a:solidFill>
                <a:latin typeface="Arial" pitchFamily="34" charset="0"/>
                <a:ea typeface="Arial" pitchFamily="34" charset="-122"/>
                <a:cs typeface="Arial" pitchFamily="34" charset="-120"/>
              </a:rPr>
              <a:t>We built</a:t>
            </a:r>
            <a:endParaRPr lang="en-US" sz="1600" dirty="0"/>
          </a:p>
        </p:txBody>
      </p:sp>
      <p:sp>
        <p:nvSpPr>
          <p:cNvPr id="13" name="Text 11"/>
          <p:cNvSpPr/>
          <p:nvPr/>
        </p:nvSpPr>
        <p:spPr>
          <a:xfrm>
            <a:off x="4617720" y="2807208"/>
            <a:ext cx="2971800" cy="2057400"/>
          </a:xfrm>
          <a:prstGeom prst="rect">
            <a:avLst/>
          </a:prstGeom>
          <a:noFill/>
          <a:ln/>
        </p:spPr>
        <p:txBody>
          <a:bodyPr wrap="square" lIns="0" tIns="0" rIns="0" bIns="0" rtlCol="0" anchor="t"/>
          <a:lstStyle/>
          <a:p>
            <a:pPr indent="0" marL="0">
              <a:buNone/>
            </a:pPr>
            <a:r>
              <a:rPr lang="en-US" sz="1250" dirty="0">
                <a:solidFill>
                  <a:srgbClr val="9DB0A4"/>
                </a:solidFill>
                <a:latin typeface="Calibri" pitchFamily="34" charset="0"/>
                <a:ea typeface="Calibri" pitchFamily="34" charset="-122"/>
                <a:cs typeface="Calibri" pitchFamily="34" charset="-120"/>
              </a:rPr>
              <a:t>59 named signals, a pattern matcher and a small classifier decide, in about 2 ms on a laptop CPU, and name their reasons. A language model is optional: it may reword the explanation, through a safety gate, and never decides.</a:t>
            </a:r>
            <a:endParaRPr lang="en-US" sz="1250" dirty="0"/>
          </a:p>
        </p:txBody>
      </p:sp>
      <p:sp>
        <p:nvSpPr>
          <p:cNvPr id="14" name="Shape 12"/>
          <p:cNvSpPr/>
          <p:nvPr/>
        </p:nvSpPr>
        <p:spPr>
          <a:xfrm>
            <a:off x="8083296" y="1783080"/>
            <a:ext cx="3520440" cy="3246120"/>
          </a:xfrm>
          <a:prstGeom prst="roundRect">
            <a:avLst>
              <a:gd name="adj" fmla="val 2817"/>
            </a:avLst>
          </a:prstGeom>
          <a:solidFill>
            <a:srgbClr val="152017"/>
          </a:solidFill>
          <a:ln w="12700">
            <a:solidFill>
              <a:srgbClr val="2C4636"/>
            </a:solidFill>
            <a:prstDash val="solid"/>
          </a:ln>
          <a:effectLst>
            <a:outerShdw sx="100000" sy="100000" kx="0" ky="0" algn="bl" rotWithShape="0" blurRad="127000" dist="38100" dir="5400000">
              <a:srgbClr val="000000">
                <a:alpha val="40000"/>
              </a:srgbClr>
            </a:outerShdw>
          </a:effectLst>
        </p:spPr>
      </p:sp>
      <p:sp>
        <p:nvSpPr>
          <p:cNvPr id="15" name="Text 13"/>
          <p:cNvSpPr/>
          <p:nvPr/>
        </p:nvSpPr>
        <p:spPr>
          <a:xfrm>
            <a:off x="8385048" y="2039112"/>
            <a:ext cx="2926080" cy="731520"/>
          </a:xfrm>
          <a:prstGeom prst="rect">
            <a:avLst/>
          </a:prstGeom>
          <a:noFill/>
          <a:ln/>
        </p:spPr>
        <p:txBody>
          <a:bodyPr wrap="square" lIns="0" tIns="0" rIns="0" bIns="0" rtlCol="0" anchor="t"/>
          <a:lstStyle/>
          <a:p>
            <a:pPr indent="0" marL="0">
              <a:buNone/>
            </a:pPr>
            <a:r>
              <a:rPr lang="en-US" sz="1600" b="1" dirty="0">
                <a:solidFill>
                  <a:srgbClr val="4FE3B0"/>
                </a:solidFill>
                <a:latin typeface="Arial" pitchFamily="34" charset="0"/>
                <a:ea typeface="Arial" pitchFamily="34" charset="-122"/>
                <a:cs typeface="Arial" pitchFamily="34" charset="-120"/>
              </a:rPr>
              <a:t>Because we measured</a:t>
            </a:r>
            <a:endParaRPr lang="en-US" sz="1600" dirty="0"/>
          </a:p>
        </p:txBody>
      </p:sp>
      <p:sp>
        <p:nvSpPr>
          <p:cNvPr id="16" name="Text 14"/>
          <p:cNvSpPr/>
          <p:nvPr/>
        </p:nvSpPr>
        <p:spPr>
          <a:xfrm>
            <a:off x="8385048" y="2807208"/>
            <a:ext cx="2971800" cy="2057400"/>
          </a:xfrm>
          <a:prstGeom prst="rect">
            <a:avLst/>
          </a:prstGeom>
          <a:noFill/>
          <a:ln/>
        </p:spPr>
        <p:txBody>
          <a:bodyPr wrap="square" lIns="0" tIns="0" rIns="0" bIns="0" rtlCol="0" anchor="t"/>
          <a:lstStyle/>
          <a:p>
            <a:pPr indent="0" marL="0">
              <a:buNone/>
            </a:pPr>
            <a:r>
              <a:rPr lang="en-US" sz="1250" dirty="0">
                <a:solidFill>
                  <a:srgbClr val="9DB0A4"/>
                </a:solidFill>
                <a:latin typeface="Calibri" pitchFamily="34" charset="0"/>
                <a:ea typeface="Calibri" pitchFamily="34" charset="-122"/>
                <a:cs typeface="Calibri" pitchFamily="34" charset="-120"/>
              </a:rPr>
              <a:t>A qwen2.5 3b model, asked zero-shot on 137 real published messages, caught 99 of 103 scams (Sahayak 67) but flagged 21 of 34 genuine ones (Sahayak 11), at 2.13 s a message on a GPU. Blind set: 24 of 64 genuine flagged (Sahayak 15).</a:t>
            </a:r>
            <a:endParaRPr lang="en-US" sz="1250" dirty="0"/>
          </a:p>
        </p:txBody>
      </p:sp>
      <p:sp>
        <p:nvSpPr>
          <p:cNvPr id="17" name="Shape 15"/>
          <p:cNvSpPr/>
          <p:nvPr/>
        </p:nvSpPr>
        <p:spPr>
          <a:xfrm>
            <a:off x="548640" y="5257800"/>
            <a:ext cx="11064240" cy="960120"/>
          </a:xfrm>
          <a:prstGeom prst="roundRect">
            <a:avLst>
              <a:gd name="adj" fmla="val 9524"/>
            </a:avLst>
          </a:prstGeom>
          <a:solidFill>
            <a:srgbClr val="1B2A20"/>
          </a:solidFill>
          <a:ln w="12700">
            <a:solidFill>
              <a:srgbClr val="2C4636"/>
            </a:solidFill>
            <a:prstDash val="solid"/>
          </a:ln>
          <a:effectLst>
            <a:outerShdw sx="100000" sy="100000" kx="0" ky="0" algn="bl" rotWithShape="0" blurRad="127000" dist="38100" dir="5400000">
              <a:srgbClr val="000000">
                <a:alpha val="40000"/>
              </a:srgbClr>
            </a:outerShdw>
          </a:effectLst>
        </p:spPr>
      </p:sp>
      <p:sp>
        <p:nvSpPr>
          <p:cNvPr id="18" name="Text 16"/>
          <p:cNvSpPr/>
          <p:nvPr/>
        </p:nvSpPr>
        <p:spPr>
          <a:xfrm>
            <a:off x="822960" y="5330952"/>
            <a:ext cx="10515600" cy="822960"/>
          </a:xfrm>
          <a:prstGeom prst="rect">
            <a:avLst/>
          </a:prstGeom>
          <a:noFill/>
          <a:ln/>
        </p:spPr>
        <p:txBody>
          <a:bodyPr wrap="square" lIns="0" tIns="0" rIns="0" bIns="0" rtlCol="0" anchor="ctr">
            <a:normAutofit/>
          </a:bodyPr>
          <a:lstStyle/>
          <a:p>
            <a:pPr indent="0" marL="0">
              <a:buNone/>
            </a:pPr>
            <a:r>
              <a:rPr lang="en-US" sz="1300" dirty="0">
                <a:solidFill>
                  <a:srgbClr val="EEF3EE"/>
                </a:solidFill>
                <a:latin typeface="Calibri" pitchFamily="34" charset="0"/>
                <a:ea typeface="Calibri" pitchFamily="34" charset="-122"/>
                <a:cs typeface="Calibri" pitchFamily="34" charset="-120"/>
              </a:rPr>
              <a:t>A warning that fires on 6 in 10 real genuine messages teaches people to ignore warnings, and the model cannot say what made it decide. Where a model earns its place: it caught 14 of 15 blind-test scams in languages Sahayak cannot read yet, so next it becomes a raise-only second opinion there.</a:t>
            </a:r>
            <a:endParaRPr lang="en-US" sz="1300" dirty="0"/>
          </a:p>
        </p:txBody>
      </p:sp>
      <p:sp>
        <p:nvSpPr>
          <p:cNvPr id="19" name="Text 17"/>
          <p:cNvSpPr/>
          <p:nvPr/>
        </p:nvSpPr>
        <p:spPr>
          <a:xfrm>
            <a:off x="548640" y="6355080"/>
            <a:ext cx="11064240" cy="320040"/>
          </a:xfrm>
          <a:prstGeom prst="rect">
            <a:avLst/>
          </a:prstGeom>
          <a:noFill/>
          <a:ln/>
        </p:spPr>
        <p:txBody>
          <a:bodyPr wrap="square" lIns="0" tIns="0" rIns="0" bIns="0" rtlCol="0" anchor="t"/>
          <a:lstStyle/>
          <a:p>
            <a:pPr indent="0" marL="0">
              <a:buNone/>
            </a:pPr>
            <a:r>
              <a:rPr lang="en-US" sz="950" dirty="0">
                <a:solidFill>
                  <a:srgbClr val="6E8579"/>
                </a:solidFill>
                <a:latin typeface="Calibri" pitchFamily="34" charset="0"/>
                <a:ea typeface="Calibri" pitchFamily="34" charset="-122"/>
                <a:cs typeface="Calibri" pitchFamily="34" charset="-120"/>
              </a:rPr>
              <a:t>Sources: bench/results/llm_baseline.md, redteam_v1_blind.md (first runs, 7 Oct 2026); docs/APPLICATION_TO_PROTOTYPE.md</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F14"/>
        </a:solidFill>
      </p:bgPr>
    </p:bg>
    <p:spTree>
      <p:nvGrpSpPr>
        <p:cNvPr id="1" name=""/>
        <p:cNvGrpSpPr/>
        <p:nvPr/>
      </p:nvGrpSpPr>
      <p:grpSpPr>
        <a:xfrm>
          <a:off x="0" y="0"/>
          <a:ext cx="0" cy="0"/>
          <a:chOff x="0" y="0"/>
          <a:chExt cx="0" cy="0"/>
        </a:xfrm>
      </p:grpSpPr>
      <p:sp>
        <p:nvSpPr>
          <p:cNvPr id="2" name="Shape 0"/>
          <p:cNvSpPr/>
          <p:nvPr/>
        </p:nvSpPr>
        <p:spPr>
          <a:xfrm>
            <a:off x="11475720" y="384048"/>
            <a:ext cx="109728" cy="109728"/>
          </a:xfrm>
          <a:prstGeom prst="ellipse">
            <a:avLst/>
          </a:prstGeom>
          <a:solidFill>
            <a:srgbClr val="FF9E3D"/>
          </a:solidFill>
          <a:ln/>
        </p:spPr>
      </p:sp>
      <p:sp>
        <p:nvSpPr>
          <p:cNvPr id="3" name="Shape 1"/>
          <p:cNvSpPr/>
          <p:nvPr/>
        </p:nvSpPr>
        <p:spPr>
          <a:xfrm>
            <a:off x="11658600" y="384048"/>
            <a:ext cx="109728" cy="109728"/>
          </a:xfrm>
          <a:prstGeom prst="ellipse">
            <a:avLst/>
          </a:prstGeom>
          <a:solidFill>
            <a:srgbClr val="EEF3EE"/>
          </a:solidFill>
          <a:ln/>
        </p:spPr>
      </p:sp>
      <p:sp>
        <p:nvSpPr>
          <p:cNvPr id="4" name="Shape 2"/>
          <p:cNvSpPr/>
          <p:nvPr/>
        </p:nvSpPr>
        <p:spPr>
          <a:xfrm>
            <a:off x="11841480" y="384048"/>
            <a:ext cx="109728" cy="109728"/>
          </a:xfrm>
          <a:prstGeom prst="ellipse">
            <a:avLst/>
          </a:prstGeom>
          <a:solidFill>
            <a:srgbClr val="27C08A"/>
          </a:solidFill>
          <a:ln/>
        </p:spPr>
      </p:sp>
      <p:sp>
        <p:nvSpPr>
          <p:cNvPr id="5" name="Shape 3"/>
          <p:cNvSpPr/>
          <p:nvPr/>
        </p:nvSpPr>
        <p:spPr>
          <a:xfrm>
            <a:off x="566928" y="603504"/>
            <a:ext cx="128016" cy="128016"/>
          </a:xfrm>
          <a:prstGeom prst="ellipse">
            <a:avLst/>
          </a:prstGeom>
          <a:solidFill>
            <a:srgbClr val="27C08A"/>
          </a:solidFill>
          <a:ln/>
        </p:spPr>
      </p:sp>
      <p:sp>
        <p:nvSpPr>
          <p:cNvPr id="6" name="Text 4"/>
          <p:cNvSpPr/>
          <p:nvPr/>
        </p:nvSpPr>
        <p:spPr>
          <a:xfrm>
            <a:off x="777240" y="457200"/>
            <a:ext cx="10058400" cy="411480"/>
          </a:xfrm>
          <a:prstGeom prst="rect">
            <a:avLst/>
          </a:prstGeom>
          <a:noFill/>
          <a:ln/>
        </p:spPr>
        <p:txBody>
          <a:bodyPr wrap="square" lIns="0" tIns="0" rIns="0" bIns="0" rtlCol="0" anchor="ctr"/>
          <a:lstStyle/>
          <a:p>
            <a:pPr indent="0" marL="0">
              <a:buNone/>
            </a:pPr>
            <a:r>
              <a:rPr lang="en-US" sz="1250" b="1" spc="200" kern="0" dirty="0">
                <a:solidFill>
                  <a:srgbClr val="27C08A"/>
                </a:solidFill>
                <a:latin typeface="Arial" pitchFamily="34" charset="0"/>
                <a:ea typeface="Arial" pitchFamily="34" charset="-122"/>
                <a:cs typeface="Arial" pitchFamily="34" charset="-120"/>
              </a:rPr>
              <a:t>TECHNOLOGY DIFFERENTIATION</a:t>
            </a:r>
            <a:endParaRPr lang="en-US" sz="1250" dirty="0"/>
          </a:p>
        </p:txBody>
      </p:sp>
      <p:sp>
        <p:nvSpPr>
          <p:cNvPr id="7" name="Text 5"/>
          <p:cNvSpPr/>
          <p:nvPr/>
        </p:nvSpPr>
        <p:spPr>
          <a:xfrm>
            <a:off x="548640" y="868680"/>
            <a:ext cx="11064240" cy="914400"/>
          </a:xfrm>
          <a:prstGeom prst="rect">
            <a:avLst/>
          </a:prstGeom>
          <a:noFill/>
          <a:ln/>
        </p:spPr>
        <p:txBody>
          <a:bodyPr wrap="square" lIns="0" tIns="0" rIns="0" bIns="0" rtlCol="0" anchor="ctr"/>
          <a:lstStyle/>
          <a:p>
            <a:pPr indent="0" marL="0">
              <a:buNone/>
            </a:pPr>
            <a:r>
              <a:rPr lang="en-US" sz="3000" b="1" dirty="0">
                <a:solidFill>
                  <a:srgbClr val="EEF3EE"/>
                </a:solidFill>
                <a:latin typeface="Arial" pitchFamily="34" charset="0"/>
                <a:ea typeface="Arial" pitchFamily="34" charset="-122"/>
                <a:cs typeface="Arial" pitchFamily="34" charset="-120"/>
              </a:rPr>
              <a:t>What already exists, and what Sahayak adds</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2743200"/>
                <a:gridCol w="3840480"/>
                <a:gridCol w="4480560"/>
              </a:tblGrid>
              <a:tr h="566928">
                <a:tc>
                  <a:txBody>
                    <a:bodyPr/>
                    <a:lstStyle/>
                    <a:p>
                      <a:pPr indent="0" marL="0">
                        <a:buNone/>
                      </a:pPr>
                      <a:r>
                        <a:rPr lang="en-US" sz="1200" b="1" dirty="0">
                          <a:solidFill>
                            <a:srgbClr val="EEF3EE"/>
                          </a:solidFill>
                          <a:latin typeface="Arial" pitchFamily="34" charset="0"/>
                          <a:ea typeface="Arial" pitchFamily="34" charset="-122"/>
                          <a:cs typeface="Arial" pitchFamily="34" charset="-120"/>
                        </a:rPr>
                        <a:t>Already out there</a:t>
                      </a:r>
                      <a:endParaRPr lang="en-US" sz="1200" dirty="0">
                        <a:latin typeface="Arial" charset="0"/>
                        <a:ea typeface="Arial" charset="0"/>
                        <a:cs typeface="Arial" charset="0"/>
                      </a:endParaRPr>
                    </a:p>
                  </a:txBody>
                  <a:tcPr marL="73152" marR="73152" marT="73152" marB="73152" anchor="ctr">
                    <a:lnL w="12700" cap="flat" cmpd="sng" algn="ctr">
                      <a:solidFill>
                        <a:srgbClr val="2C4636"/>
                      </a:solidFill>
                      <a:prstDash val="solid"/>
                      <a:round/>
                      <a:headEnd type="none" w="med" len="med"/>
                      <a:tailEnd type="none" w="med" len="med"/>
                    </a:lnL>
                    <a:lnR w="12700" cap="flat" cmpd="sng" algn="ctr">
                      <a:solidFill>
                        <a:srgbClr val="2C4636"/>
                      </a:solidFill>
                      <a:prstDash val="solid"/>
                      <a:round/>
                      <a:headEnd type="none" w="med" len="med"/>
                      <a:tailEnd type="none" w="med" len="med"/>
                    </a:lnR>
                    <a:lnT w="12700" cap="flat" cmpd="sng" algn="ctr">
                      <a:solidFill>
                        <a:srgbClr val="2C4636"/>
                      </a:solidFill>
                      <a:prstDash val="solid"/>
                      <a:round/>
                      <a:headEnd type="none" w="med" len="med"/>
                      <a:tailEnd type="none" w="med" len="med"/>
                    </a:lnT>
                    <a:lnB w="12700" cap="flat" cmpd="sng" algn="ctr">
                      <a:solidFill>
                        <a:srgbClr val="2C4636"/>
                      </a:solidFill>
                      <a:prstDash val="solid"/>
                      <a:round/>
                      <a:headEnd type="none" w="med" len="med"/>
                      <a:tailEnd type="none" w="med" len="med"/>
                    </a:lnB>
                    <a:solidFill>
                      <a:srgbClr val="1B2A20"/>
                    </a:solidFill>
                  </a:tcPr>
                </a:tc>
                <a:tc>
                  <a:txBody>
                    <a:bodyPr/>
                    <a:lstStyle/>
                    <a:p>
                      <a:pPr indent="0" marL="0">
                        <a:buNone/>
                      </a:pPr>
                      <a:r>
                        <a:rPr lang="en-US" sz="1200" b="1" dirty="0">
                          <a:solidFill>
                            <a:srgbClr val="EEF3EE"/>
                          </a:solidFill>
                          <a:latin typeface="Arial" pitchFamily="34" charset="0"/>
                          <a:ea typeface="Arial" pitchFamily="34" charset="-122"/>
                          <a:cs typeface="Arial" pitchFamily="34" charset="-120"/>
                        </a:rPr>
                        <a:t>What it does well</a:t>
                      </a:r>
                      <a:endParaRPr lang="en-US" sz="1200" dirty="0">
                        <a:latin typeface="Arial" charset="0"/>
                        <a:ea typeface="Arial" charset="0"/>
                        <a:cs typeface="Arial" charset="0"/>
                      </a:endParaRPr>
                    </a:p>
                  </a:txBody>
                  <a:tcPr marL="73152" marR="73152" marT="73152" marB="73152" anchor="ctr">
                    <a:lnL w="12700" cap="flat" cmpd="sng" algn="ctr">
                      <a:solidFill>
                        <a:srgbClr val="2C4636"/>
                      </a:solidFill>
                      <a:prstDash val="solid"/>
                      <a:round/>
                      <a:headEnd type="none" w="med" len="med"/>
                      <a:tailEnd type="none" w="med" len="med"/>
                    </a:lnL>
                    <a:lnR w="12700" cap="flat" cmpd="sng" algn="ctr">
                      <a:solidFill>
                        <a:srgbClr val="2C4636"/>
                      </a:solidFill>
                      <a:prstDash val="solid"/>
                      <a:round/>
                      <a:headEnd type="none" w="med" len="med"/>
                      <a:tailEnd type="none" w="med" len="med"/>
                    </a:lnR>
                    <a:lnT w="12700" cap="flat" cmpd="sng" algn="ctr">
                      <a:solidFill>
                        <a:srgbClr val="2C4636"/>
                      </a:solidFill>
                      <a:prstDash val="solid"/>
                      <a:round/>
                      <a:headEnd type="none" w="med" len="med"/>
                      <a:tailEnd type="none" w="med" len="med"/>
                    </a:lnT>
                    <a:lnB w="12700" cap="flat" cmpd="sng" algn="ctr">
                      <a:solidFill>
                        <a:srgbClr val="2C4636"/>
                      </a:solidFill>
                      <a:prstDash val="solid"/>
                      <a:round/>
                      <a:headEnd type="none" w="med" len="med"/>
                      <a:tailEnd type="none" w="med" len="med"/>
                    </a:lnB>
                    <a:solidFill>
                      <a:srgbClr val="1B2A20"/>
                    </a:solidFill>
                  </a:tcPr>
                </a:tc>
                <a:tc>
                  <a:txBody>
                    <a:bodyPr/>
                    <a:lstStyle/>
                    <a:p>
                      <a:pPr indent="0" marL="0">
                        <a:buNone/>
                      </a:pPr>
                      <a:r>
                        <a:rPr lang="en-US" sz="1200" b="1" dirty="0">
                          <a:solidFill>
                            <a:srgbClr val="EEF3EE"/>
                          </a:solidFill>
                          <a:latin typeface="Arial" pitchFamily="34" charset="0"/>
                          <a:ea typeface="Arial" pitchFamily="34" charset="-122"/>
                          <a:cs typeface="Arial" pitchFamily="34" charset="-120"/>
                        </a:rPr>
                        <a:t>What Sahayak adds</a:t>
                      </a:r>
                      <a:endParaRPr lang="en-US" sz="1200" dirty="0">
                        <a:latin typeface="Arial" charset="0"/>
                        <a:ea typeface="Arial" charset="0"/>
                        <a:cs typeface="Arial" charset="0"/>
                      </a:endParaRPr>
                    </a:p>
                  </a:txBody>
                  <a:tcPr marL="73152" marR="73152" marT="73152" marB="73152" anchor="ctr">
                    <a:lnL w="12700" cap="flat" cmpd="sng" algn="ctr">
                      <a:solidFill>
                        <a:srgbClr val="2C4636"/>
                      </a:solidFill>
                      <a:prstDash val="solid"/>
                      <a:round/>
                      <a:headEnd type="none" w="med" len="med"/>
                      <a:tailEnd type="none" w="med" len="med"/>
                    </a:lnL>
                    <a:lnR w="12700" cap="flat" cmpd="sng" algn="ctr">
                      <a:solidFill>
                        <a:srgbClr val="2C4636"/>
                      </a:solidFill>
                      <a:prstDash val="solid"/>
                      <a:round/>
                      <a:headEnd type="none" w="med" len="med"/>
                      <a:tailEnd type="none" w="med" len="med"/>
                    </a:lnR>
                    <a:lnT w="12700" cap="flat" cmpd="sng" algn="ctr">
                      <a:solidFill>
                        <a:srgbClr val="2C4636"/>
                      </a:solidFill>
                      <a:prstDash val="solid"/>
                      <a:round/>
                      <a:headEnd type="none" w="med" len="med"/>
                      <a:tailEnd type="none" w="med" len="med"/>
                    </a:lnT>
                    <a:lnB w="12700" cap="flat" cmpd="sng" algn="ctr">
                      <a:solidFill>
                        <a:srgbClr val="2C4636"/>
                      </a:solidFill>
                      <a:prstDash val="solid"/>
                      <a:round/>
                      <a:headEnd type="none" w="med" len="med"/>
                      <a:tailEnd type="none" w="med" len="med"/>
                    </a:lnB>
                    <a:solidFill>
                      <a:srgbClr val="1B2A20"/>
                    </a:solidFill>
                  </a:tcPr>
                </a:tc>
              </a:tr>
              <a:tr h="566928">
                <a:tc>
                  <a:txBody>
                    <a:bodyPr/>
                    <a:lstStyle/>
                    <a:p>
                      <a:pPr indent="0" marL="0">
                        <a:buNone/>
                      </a:pPr>
                      <a:r>
                        <a:rPr lang="en-US" sz="1150" dirty="0">
                          <a:solidFill>
                            <a:srgbClr val="EEF3EE"/>
                          </a:solidFill>
                          <a:latin typeface="Calibri" pitchFamily="34" charset="0"/>
                          <a:ea typeface="Calibri" pitchFamily="34" charset="-122"/>
                          <a:cs typeface="Calibri" pitchFamily="34" charset="-120"/>
                        </a:rPr>
                        <a:t>Airtel and Jio network filters</a:t>
                      </a:r>
                      <a:endParaRPr lang="en-US" sz="1150" dirty="0">
                        <a:latin typeface="Calibri" charset="0"/>
                        <a:ea typeface="Calibri" charset="0"/>
                        <a:cs typeface="Calibri" charset="0"/>
                      </a:endParaRPr>
                    </a:p>
                  </a:txBody>
                  <a:tcPr marL="73152" marR="73152" marT="73152" marB="73152" anchor="ctr">
                    <a:lnL w="12700" cap="flat" cmpd="sng" algn="ctr">
                      <a:solidFill>
                        <a:srgbClr val="2C4636"/>
                      </a:solidFill>
                      <a:prstDash val="solid"/>
                      <a:round/>
                      <a:headEnd type="none" w="med" len="med"/>
                      <a:tailEnd type="none" w="med" len="med"/>
                    </a:lnL>
                    <a:lnR w="12700" cap="flat" cmpd="sng" algn="ctr">
                      <a:solidFill>
                        <a:srgbClr val="2C4636"/>
                      </a:solidFill>
                      <a:prstDash val="solid"/>
                      <a:round/>
                      <a:headEnd type="none" w="med" len="med"/>
                      <a:tailEnd type="none" w="med" len="med"/>
                    </a:lnR>
                    <a:lnT w="12700" cap="flat" cmpd="sng" algn="ctr">
                      <a:solidFill>
                        <a:srgbClr val="2C4636"/>
                      </a:solidFill>
                      <a:prstDash val="solid"/>
                      <a:round/>
                      <a:headEnd type="none" w="med" len="med"/>
                      <a:tailEnd type="none" w="med" len="med"/>
                    </a:lnT>
                    <a:lnB w="12700" cap="flat" cmpd="sng" algn="ctr">
                      <a:solidFill>
                        <a:srgbClr val="2C4636"/>
                      </a:solidFill>
                      <a:prstDash val="solid"/>
                      <a:round/>
                      <a:headEnd type="none" w="med" len="med"/>
                      <a:tailEnd type="none" w="med" len="med"/>
                    </a:lnB>
                    <a:solidFill>
                      <a:srgbClr val="152017"/>
                    </a:solidFill>
                  </a:tcPr>
                </a:tc>
                <a:tc>
                  <a:txBody>
                    <a:bodyPr/>
                    <a:lstStyle/>
                    <a:p>
                      <a:pPr indent="0" marL="0">
                        <a:buNone/>
                      </a:pPr>
                      <a:r>
                        <a:rPr lang="en-US" sz="1150" dirty="0">
                          <a:solidFill>
                            <a:srgbClr val="9DB0A4"/>
                          </a:solidFill>
                          <a:latin typeface="Calibri" pitchFamily="34" charset="0"/>
                          <a:ea typeface="Calibri" pitchFamily="34" charset="-122"/>
                          <a:cs typeface="Calibri" pitchFamily="34" charset="-120"/>
                        </a:rPr>
                        <a:t>Block spam calls and links at network scale; Airtel reports 68.7% lower fraud losses</a:t>
                      </a:r>
                      <a:endParaRPr lang="en-US" sz="1150" dirty="0">
                        <a:latin typeface="Calibri" charset="0"/>
                        <a:ea typeface="Calibri" charset="0"/>
                        <a:cs typeface="Calibri" charset="0"/>
                      </a:endParaRPr>
                    </a:p>
                  </a:txBody>
                  <a:tcPr marL="73152" marR="73152" marT="73152" marB="73152" anchor="ctr">
                    <a:lnL w="12700" cap="flat" cmpd="sng" algn="ctr">
                      <a:solidFill>
                        <a:srgbClr val="2C4636"/>
                      </a:solidFill>
                      <a:prstDash val="solid"/>
                      <a:round/>
                      <a:headEnd type="none" w="med" len="med"/>
                      <a:tailEnd type="none" w="med" len="med"/>
                    </a:lnL>
                    <a:lnR w="12700" cap="flat" cmpd="sng" algn="ctr">
                      <a:solidFill>
                        <a:srgbClr val="2C4636"/>
                      </a:solidFill>
                      <a:prstDash val="solid"/>
                      <a:round/>
                      <a:headEnd type="none" w="med" len="med"/>
                      <a:tailEnd type="none" w="med" len="med"/>
                    </a:lnR>
                    <a:lnT w="12700" cap="flat" cmpd="sng" algn="ctr">
                      <a:solidFill>
                        <a:srgbClr val="2C4636"/>
                      </a:solidFill>
                      <a:prstDash val="solid"/>
                      <a:round/>
                      <a:headEnd type="none" w="med" len="med"/>
                      <a:tailEnd type="none" w="med" len="med"/>
                    </a:lnT>
                    <a:lnB w="12700" cap="flat" cmpd="sng" algn="ctr">
                      <a:solidFill>
                        <a:srgbClr val="2C4636"/>
                      </a:solidFill>
                      <a:prstDash val="solid"/>
                      <a:round/>
                      <a:headEnd type="none" w="med" len="med"/>
                      <a:tailEnd type="none" w="med" len="med"/>
                    </a:lnB>
                    <a:solidFill>
                      <a:srgbClr val="152017"/>
                    </a:solidFill>
                  </a:tcPr>
                </a:tc>
                <a:tc>
                  <a:txBody>
                    <a:bodyPr/>
                    <a:lstStyle/>
                    <a:p>
                      <a:pPr indent="0" marL="0">
                        <a:buNone/>
                      </a:pPr>
                      <a:r>
                        <a:rPr lang="en-US" sz="1150" dirty="0">
                          <a:solidFill>
                            <a:srgbClr val="9DB0A4"/>
                          </a:solidFill>
                          <a:latin typeface="Calibri" pitchFamily="34" charset="0"/>
                          <a:ea typeface="Calibri" pitchFamily="34" charset="-122"/>
                          <a:cs typeface="Calibri" pitchFamily="34" charset="-120"/>
                        </a:rPr>
                        <a:t>Checks the message, QR code or call story in front of the person and says why, in Hindi, offline</a:t>
                      </a:r>
                      <a:endParaRPr lang="en-US" sz="1150" dirty="0">
                        <a:latin typeface="Calibri" charset="0"/>
                        <a:ea typeface="Calibri" charset="0"/>
                        <a:cs typeface="Calibri" charset="0"/>
                      </a:endParaRPr>
                    </a:p>
                  </a:txBody>
                  <a:tcPr marL="73152" marR="73152" marT="73152" marB="73152" anchor="ctr">
                    <a:lnL w="12700" cap="flat" cmpd="sng" algn="ctr">
                      <a:solidFill>
                        <a:srgbClr val="2C4636"/>
                      </a:solidFill>
                      <a:prstDash val="solid"/>
                      <a:round/>
                      <a:headEnd type="none" w="med" len="med"/>
                      <a:tailEnd type="none" w="med" len="med"/>
                    </a:lnL>
                    <a:lnR w="12700" cap="flat" cmpd="sng" algn="ctr">
                      <a:solidFill>
                        <a:srgbClr val="2C4636"/>
                      </a:solidFill>
                      <a:prstDash val="solid"/>
                      <a:round/>
                      <a:headEnd type="none" w="med" len="med"/>
                      <a:tailEnd type="none" w="med" len="med"/>
                    </a:lnR>
                    <a:lnT w="12700" cap="flat" cmpd="sng" algn="ctr">
                      <a:solidFill>
                        <a:srgbClr val="2C4636"/>
                      </a:solidFill>
                      <a:prstDash val="solid"/>
                      <a:round/>
                      <a:headEnd type="none" w="med" len="med"/>
                      <a:tailEnd type="none" w="med" len="med"/>
                    </a:lnT>
                    <a:lnB w="12700" cap="flat" cmpd="sng" algn="ctr">
                      <a:solidFill>
                        <a:srgbClr val="2C4636"/>
                      </a:solidFill>
                      <a:prstDash val="solid"/>
                      <a:round/>
                      <a:headEnd type="none" w="med" len="med"/>
                      <a:tailEnd type="none" w="med" len="med"/>
                    </a:lnB>
                    <a:solidFill>
                      <a:srgbClr val="152017"/>
                    </a:solidFill>
                  </a:tcPr>
                </a:tc>
              </a:tr>
              <a:tr h="566928">
                <a:tc>
                  <a:txBody>
                    <a:bodyPr/>
                    <a:lstStyle/>
                    <a:p>
                      <a:pPr indent="0" marL="0">
                        <a:buNone/>
                      </a:pPr>
                      <a:r>
                        <a:rPr lang="en-US" sz="1150" dirty="0">
                          <a:solidFill>
                            <a:srgbClr val="EEF3EE"/>
                          </a:solidFill>
                          <a:latin typeface="Calibri" pitchFamily="34" charset="0"/>
                          <a:ea typeface="Calibri" pitchFamily="34" charset="-122"/>
                          <a:cs typeface="Calibri" pitchFamily="34" charset="-120"/>
                        </a:rPr>
                        <a:t>Truecaller</a:t>
                      </a:r>
                      <a:endParaRPr lang="en-US" sz="1150" dirty="0">
                        <a:latin typeface="Calibri" charset="0"/>
                        <a:ea typeface="Calibri" charset="0"/>
                        <a:cs typeface="Calibri" charset="0"/>
                      </a:endParaRPr>
                    </a:p>
                  </a:txBody>
                  <a:tcPr marL="73152" marR="73152" marT="73152" marB="73152" anchor="ctr">
                    <a:lnL w="12700" cap="flat" cmpd="sng" algn="ctr">
                      <a:solidFill>
                        <a:srgbClr val="2C4636"/>
                      </a:solidFill>
                      <a:prstDash val="solid"/>
                      <a:round/>
                      <a:headEnd type="none" w="med" len="med"/>
                      <a:tailEnd type="none" w="med" len="med"/>
                    </a:lnL>
                    <a:lnR w="12700" cap="flat" cmpd="sng" algn="ctr">
                      <a:solidFill>
                        <a:srgbClr val="2C4636"/>
                      </a:solidFill>
                      <a:prstDash val="solid"/>
                      <a:round/>
                      <a:headEnd type="none" w="med" len="med"/>
                      <a:tailEnd type="none" w="med" len="med"/>
                    </a:lnR>
                    <a:lnT w="12700" cap="flat" cmpd="sng" algn="ctr">
                      <a:solidFill>
                        <a:srgbClr val="2C4636"/>
                      </a:solidFill>
                      <a:prstDash val="solid"/>
                      <a:round/>
                      <a:headEnd type="none" w="med" len="med"/>
                      <a:tailEnd type="none" w="med" len="med"/>
                    </a:lnT>
                    <a:lnB w="12700" cap="flat" cmpd="sng" algn="ctr">
                      <a:solidFill>
                        <a:srgbClr val="2C4636"/>
                      </a:solidFill>
                      <a:prstDash val="solid"/>
                      <a:round/>
                      <a:headEnd type="none" w="med" len="med"/>
                      <a:tailEnd type="none" w="med" len="med"/>
                    </a:lnB>
                    <a:solidFill>
                      <a:srgbClr val="152017"/>
                    </a:solidFill>
                  </a:tcPr>
                </a:tc>
                <a:tc>
                  <a:txBody>
                    <a:bodyPr/>
                    <a:lstStyle/>
                    <a:p>
                      <a:pPr indent="0" marL="0">
                        <a:buNone/>
                      </a:pPr>
                      <a:r>
                        <a:rPr lang="en-US" sz="1150" dirty="0">
                          <a:solidFill>
                            <a:srgbClr val="9DB0A4"/>
                          </a:solidFill>
                          <a:latin typeface="Calibri" pitchFamily="34" charset="0"/>
                          <a:ea typeface="Calibri" pitchFamily="34" charset="-122"/>
                          <a:cs typeface="Calibri" pitchFamily="34" charset="-120"/>
                        </a:rPr>
                        <a:t>Caller ID and spam lists for 339 million users</a:t>
                      </a:r>
                      <a:endParaRPr lang="en-US" sz="1150" dirty="0">
                        <a:latin typeface="Calibri" charset="0"/>
                        <a:ea typeface="Calibri" charset="0"/>
                        <a:cs typeface="Calibri" charset="0"/>
                      </a:endParaRPr>
                    </a:p>
                  </a:txBody>
                  <a:tcPr marL="73152" marR="73152" marT="73152" marB="73152" anchor="ctr">
                    <a:lnL w="12700" cap="flat" cmpd="sng" algn="ctr">
                      <a:solidFill>
                        <a:srgbClr val="2C4636"/>
                      </a:solidFill>
                      <a:prstDash val="solid"/>
                      <a:round/>
                      <a:headEnd type="none" w="med" len="med"/>
                      <a:tailEnd type="none" w="med" len="med"/>
                    </a:lnL>
                    <a:lnR w="12700" cap="flat" cmpd="sng" algn="ctr">
                      <a:solidFill>
                        <a:srgbClr val="2C4636"/>
                      </a:solidFill>
                      <a:prstDash val="solid"/>
                      <a:round/>
                      <a:headEnd type="none" w="med" len="med"/>
                      <a:tailEnd type="none" w="med" len="med"/>
                    </a:lnR>
                    <a:lnT w="12700" cap="flat" cmpd="sng" algn="ctr">
                      <a:solidFill>
                        <a:srgbClr val="2C4636"/>
                      </a:solidFill>
                      <a:prstDash val="solid"/>
                      <a:round/>
                      <a:headEnd type="none" w="med" len="med"/>
                      <a:tailEnd type="none" w="med" len="med"/>
                    </a:lnT>
                    <a:lnB w="12700" cap="flat" cmpd="sng" algn="ctr">
                      <a:solidFill>
                        <a:srgbClr val="2C4636"/>
                      </a:solidFill>
                      <a:prstDash val="solid"/>
                      <a:round/>
                      <a:headEnd type="none" w="med" len="med"/>
                      <a:tailEnd type="none" w="med" len="med"/>
                    </a:lnB>
                    <a:solidFill>
                      <a:srgbClr val="152017"/>
                    </a:solidFill>
                  </a:tcPr>
                </a:tc>
                <a:tc>
                  <a:txBody>
                    <a:bodyPr/>
                    <a:lstStyle/>
                    <a:p>
                      <a:pPr indent="0" marL="0">
                        <a:buNone/>
                      </a:pPr>
                      <a:r>
                        <a:rPr lang="en-US" sz="1150" dirty="0">
                          <a:solidFill>
                            <a:srgbClr val="9DB0A4"/>
                          </a:solidFill>
                          <a:latin typeface="Calibri" pitchFamily="34" charset="0"/>
                          <a:ea typeface="Calibri" pitchFamily="34" charset="-122"/>
                          <a:cs typeface="Calibri" pitchFamily="34" charset="-120"/>
                        </a:rPr>
                        <a:t>No account and no upload: nothing leaves the phone; covers UPI QR codes and screenshots</a:t>
                      </a:r>
                      <a:endParaRPr lang="en-US" sz="1150" dirty="0">
                        <a:latin typeface="Calibri" charset="0"/>
                        <a:ea typeface="Calibri" charset="0"/>
                        <a:cs typeface="Calibri" charset="0"/>
                      </a:endParaRPr>
                    </a:p>
                  </a:txBody>
                  <a:tcPr marL="73152" marR="73152" marT="73152" marB="73152" anchor="ctr">
                    <a:lnL w="12700" cap="flat" cmpd="sng" algn="ctr">
                      <a:solidFill>
                        <a:srgbClr val="2C4636"/>
                      </a:solidFill>
                      <a:prstDash val="solid"/>
                      <a:round/>
                      <a:headEnd type="none" w="med" len="med"/>
                      <a:tailEnd type="none" w="med" len="med"/>
                    </a:lnL>
                    <a:lnR w="12700" cap="flat" cmpd="sng" algn="ctr">
                      <a:solidFill>
                        <a:srgbClr val="2C4636"/>
                      </a:solidFill>
                      <a:prstDash val="solid"/>
                      <a:round/>
                      <a:headEnd type="none" w="med" len="med"/>
                      <a:tailEnd type="none" w="med" len="med"/>
                    </a:lnR>
                    <a:lnT w="12700" cap="flat" cmpd="sng" algn="ctr">
                      <a:solidFill>
                        <a:srgbClr val="2C4636"/>
                      </a:solidFill>
                      <a:prstDash val="solid"/>
                      <a:round/>
                      <a:headEnd type="none" w="med" len="med"/>
                      <a:tailEnd type="none" w="med" len="med"/>
                    </a:lnT>
                    <a:lnB w="12700" cap="flat" cmpd="sng" algn="ctr">
                      <a:solidFill>
                        <a:srgbClr val="2C4636"/>
                      </a:solidFill>
                      <a:prstDash val="solid"/>
                      <a:round/>
                      <a:headEnd type="none" w="med" len="med"/>
                      <a:tailEnd type="none" w="med" len="med"/>
                    </a:lnB>
                    <a:solidFill>
                      <a:srgbClr val="152017"/>
                    </a:solidFill>
                  </a:tcPr>
                </a:tc>
              </a:tr>
              <a:tr h="566928">
                <a:tc>
                  <a:txBody>
                    <a:bodyPr/>
                    <a:lstStyle/>
                    <a:p>
                      <a:pPr indent="0" marL="0">
                        <a:buNone/>
                      </a:pPr>
                      <a:r>
                        <a:rPr lang="en-US" sz="1150" dirty="0">
                          <a:solidFill>
                            <a:srgbClr val="EEF3EE"/>
                          </a:solidFill>
                          <a:latin typeface="Calibri" pitchFamily="34" charset="0"/>
                          <a:ea typeface="Calibri" pitchFamily="34" charset="-122"/>
                          <a:cs typeface="Calibri" pitchFamily="34" charset="-120"/>
                        </a:rPr>
                        <a:t>Google on-device scam alerts</a:t>
                      </a:r>
                      <a:endParaRPr lang="en-US" sz="1150" dirty="0">
                        <a:latin typeface="Calibri" charset="0"/>
                        <a:ea typeface="Calibri" charset="0"/>
                        <a:cs typeface="Calibri" charset="0"/>
                      </a:endParaRPr>
                    </a:p>
                  </a:txBody>
                  <a:tcPr marL="73152" marR="73152" marT="73152" marB="73152" anchor="ctr">
                    <a:lnL w="12700" cap="flat" cmpd="sng" algn="ctr">
                      <a:solidFill>
                        <a:srgbClr val="2C4636"/>
                      </a:solidFill>
                      <a:prstDash val="solid"/>
                      <a:round/>
                      <a:headEnd type="none" w="med" len="med"/>
                      <a:tailEnd type="none" w="med" len="med"/>
                    </a:lnL>
                    <a:lnR w="12700" cap="flat" cmpd="sng" algn="ctr">
                      <a:solidFill>
                        <a:srgbClr val="2C4636"/>
                      </a:solidFill>
                      <a:prstDash val="solid"/>
                      <a:round/>
                      <a:headEnd type="none" w="med" len="med"/>
                      <a:tailEnd type="none" w="med" len="med"/>
                    </a:lnR>
                    <a:lnT w="12700" cap="flat" cmpd="sng" algn="ctr">
                      <a:solidFill>
                        <a:srgbClr val="2C4636"/>
                      </a:solidFill>
                      <a:prstDash val="solid"/>
                      <a:round/>
                      <a:headEnd type="none" w="med" len="med"/>
                      <a:tailEnd type="none" w="med" len="med"/>
                    </a:lnT>
                    <a:lnB w="12700" cap="flat" cmpd="sng" algn="ctr">
                      <a:solidFill>
                        <a:srgbClr val="2C4636"/>
                      </a:solidFill>
                      <a:prstDash val="solid"/>
                      <a:round/>
                      <a:headEnd type="none" w="med" len="med"/>
                      <a:tailEnd type="none" w="med" len="med"/>
                    </a:lnB>
                    <a:solidFill>
                      <a:srgbClr val="152017"/>
                    </a:solidFill>
                  </a:tcPr>
                </a:tc>
                <a:tc>
                  <a:txBody>
                    <a:bodyPr/>
                    <a:lstStyle/>
                    <a:p>
                      <a:pPr indent="0" marL="0">
                        <a:buNone/>
                      </a:pPr>
                      <a:r>
                        <a:rPr lang="en-US" sz="1150" dirty="0">
                          <a:solidFill>
                            <a:srgbClr val="9DB0A4"/>
                          </a:solidFill>
                          <a:latin typeface="Calibri" pitchFamily="34" charset="0"/>
                          <a:ea typeface="Calibri" pitchFamily="34" charset="-122"/>
                          <a:cs typeface="Calibri" pitchFamily="34" charset="-120"/>
                        </a:rPr>
                        <a:t>On-device call analysis</a:t>
                      </a:r>
                      <a:endParaRPr lang="en-US" sz="1150" dirty="0">
                        <a:latin typeface="Calibri" charset="0"/>
                        <a:ea typeface="Calibri" charset="0"/>
                        <a:cs typeface="Calibri" charset="0"/>
                      </a:endParaRPr>
                    </a:p>
                  </a:txBody>
                  <a:tcPr marL="73152" marR="73152" marT="73152" marB="73152" anchor="ctr">
                    <a:lnL w="12700" cap="flat" cmpd="sng" algn="ctr">
                      <a:solidFill>
                        <a:srgbClr val="2C4636"/>
                      </a:solidFill>
                      <a:prstDash val="solid"/>
                      <a:round/>
                      <a:headEnd type="none" w="med" len="med"/>
                      <a:tailEnd type="none" w="med" len="med"/>
                    </a:lnL>
                    <a:lnR w="12700" cap="flat" cmpd="sng" algn="ctr">
                      <a:solidFill>
                        <a:srgbClr val="2C4636"/>
                      </a:solidFill>
                      <a:prstDash val="solid"/>
                      <a:round/>
                      <a:headEnd type="none" w="med" len="med"/>
                      <a:tailEnd type="none" w="med" len="med"/>
                    </a:lnR>
                    <a:lnT w="12700" cap="flat" cmpd="sng" algn="ctr">
                      <a:solidFill>
                        <a:srgbClr val="2C4636"/>
                      </a:solidFill>
                      <a:prstDash val="solid"/>
                      <a:round/>
                      <a:headEnd type="none" w="med" len="med"/>
                      <a:tailEnd type="none" w="med" len="med"/>
                    </a:lnT>
                    <a:lnB w="12700" cap="flat" cmpd="sng" algn="ctr">
                      <a:solidFill>
                        <a:srgbClr val="2C4636"/>
                      </a:solidFill>
                      <a:prstDash val="solid"/>
                      <a:round/>
                      <a:headEnd type="none" w="med" len="med"/>
                      <a:tailEnd type="none" w="med" len="med"/>
                    </a:lnB>
                    <a:solidFill>
                      <a:srgbClr val="152017"/>
                    </a:solidFill>
                  </a:tcPr>
                </a:tc>
                <a:tc>
                  <a:txBody>
                    <a:bodyPr/>
                    <a:lstStyle/>
                    <a:p>
                      <a:pPr indent="0" marL="0">
                        <a:buNone/>
                      </a:pPr>
                      <a:r>
                        <a:rPr lang="en-US" sz="1150" dirty="0">
                          <a:solidFill>
                            <a:srgbClr val="9DB0A4"/>
                          </a:solidFill>
                          <a:latin typeface="Calibri" pitchFamily="34" charset="0"/>
                          <a:ea typeface="Calibri" pitchFamily="34" charset="-122"/>
                          <a:cs typeface="Calibri" pitchFamily="34" charset="-120"/>
                        </a:rPr>
                        <a:t>Runs in any phone's browser; Google's works on Pixel 9+ only (under 1% of phones)</a:t>
                      </a:r>
                      <a:endParaRPr lang="en-US" sz="1150" dirty="0">
                        <a:latin typeface="Calibri" charset="0"/>
                        <a:ea typeface="Calibri" charset="0"/>
                        <a:cs typeface="Calibri" charset="0"/>
                      </a:endParaRPr>
                    </a:p>
                  </a:txBody>
                  <a:tcPr marL="73152" marR="73152" marT="73152" marB="73152" anchor="ctr">
                    <a:lnL w="12700" cap="flat" cmpd="sng" algn="ctr">
                      <a:solidFill>
                        <a:srgbClr val="2C4636"/>
                      </a:solidFill>
                      <a:prstDash val="solid"/>
                      <a:round/>
                      <a:headEnd type="none" w="med" len="med"/>
                      <a:tailEnd type="none" w="med" len="med"/>
                    </a:lnL>
                    <a:lnR w="12700" cap="flat" cmpd="sng" algn="ctr">
                      <a:solidFill>
                        <a:srgbClr val="2C4636"/>
                      </a:solidFill>
                      <a:prstDash val="solid"/>
                      <a:round/>
                      <a:headEnd type="none" w="med" len="med"/>
                      <a:tailEnd type="none" w="med" len="med"/>
                    </a:lnR>
                    <a:lnT w="12700" cap="flat" cmpd="sng" algn="ctr">
                      <a:solidFill>
                        <a:srgbClr val="2C4636"/>
                      </a:solidFill>
                      <a:prstDash val="solid"/>
                      <a:round/>
                      <a:headEnd type="none" w="med" len="med"/>
                      <a:tailEnd type="none" w="med" len="med"/>
                    </a:lnT>
                    <a:lnB w="12700" cap="flat" cmpd="sng" algn="ctr">
                      <a:solidFill>
                        <a:srgbClr val="2C4636"/>
                      </a:solidFill>
                      <a:prstDash val="solid"/>
                      <a:round/>
                      <a:headEnd type="none" w="med" len="med"/>
                      <a:tailEnd type="none" w="med" len="med"/>
                    </a:lnB>
                    <a:solidFill>
                      <a:srgbClr val="152017"/>
                    </a:solidFill>
                  </a:tcPr>
                </a:tc>
              </a:tr>
              <a:tr h="566928">
                <a:tc>
                  <a:txBody>
                    <a:bodyPr/>
                    <a:lstStyle/>
                    <a:p>
                      <a:pPr indent="0" marL="0">
                        <a:buNone/>
                      </a:pPr>
                      <a:r>
                        <a:rPr lang="en-US" sz="1150" dirty="0">
                          <a:solidFill>
                            <a:srgbClr val="EEF3EE"/>
                          </a:solidFill>
                          <a:latin typeface="Calibri" pitchFamily="34" charset="0"/>
                          <a:ea typeface="Calibri" pitchFamily="34" charset="-122"/>
                          <a:cs typeface="Calibri" pitchFamily="34" charset="-120"/>
                        </a:rPr>
                        <a:t>1930, cybercrime.gov.in, Sanchar Saathi</a:t>
                      </a:r>
                      <a:endParaRPr lang="en-US" sz="1150" dirty="0">
                        <a:latin typeface="Calibri" charset="0"/>
                        <a:ea typeface="Calibri" charset="0"/>
                        <a:cs typeface="Calibri" charset="0"/>
                      </a:endParaRPr>
                    </a:p>
                  </a:txBody>
                  <a:tcPr marL="73152" marR="73152" marT="73152" marB="73152" anchor="ctr">
                    <a:lnL w="12700" cap="flat" cmpd="sng" algn="ctr">
                      <a:solidFill>
                        <a:srgbClr val="2C4636"/>
                      </a:solidFill>
                      <a:prstDash val="solid"/>
                      <a:round/>
                      <a:headEnd type="none" w="med" len="med"/>
                      <a:tailEnd type="none" w="med" len="med"/>
                    </a:lnL>
                    <a:lnR w="12700" cap="flat" cmpd="sng" algn="ctr">
                      <a:solidFill>
                        <a:srgbClr val="2C4636"/>
                      </a:solidFill>
                      <a:prstDash val="solid"/>
                      <a:round/>
                      <a:headEnd type="none" w="med" len="med"/>
                      <a:tailEnd type="none" w="med" len="med"/>
                    </a:lnR>
                    <a:lnT w="12700" cap="flat" cmpd="sng" algn="ctr">
                      <a:solidFill>
                        <a:srgbClr val="2C4636"/>
                      </a:solidFill>
                      <a:prstDash val="solid"/>
                      <a:round/>
                      <a:headEnd type="none" w="med" len="med"/>
                      <a:tailEnd type="none" w="med" len="med"/>
                    </a:lnT>
                    <a:lnB w="12700" cap="flat" cmpd="sng" algn="ctr">
                      <a:solidFill>
                        <a:srgbClr val="2C4636"/>
                      </a:solidFill>
                      <a:prstDash val="solid"/>
                      <a:round/>
                      <a:headEnd type="none" w="med" len="med"/>
                      <a:tailEnd type="none" w="med" len="med"/>
                    </a:lnB>
                    <a:solidFill>
                      <a:srgbClr val="152017"/>
                    </a:solidFill>
                  </a:tcPr>
                </a:tc>
                <a:tc>
                  <a:txBody>
                    <a:bodyPr/>
                    <a:lstStyle/>
                    <a:p>
                      <a:pPr indent="0" marL="0">
                        <a:buNone/>
                      </a:pPr>
                      <a:r>
                        <a:rPr lang="en-US" sz="1150" dirty="0">
                          <a:solidFill>
                            <a:srgbClr val="9DB0A4"/>
                          </a:solidFill>
                          <a:latin typeface="Calibri" pitchFamily="34" charset="0"/>
                          <a:ea typeface="Calibri" pitchFamily="34" charset="-122"/>
                          <a:cs typeface="Calibri" pitchFamily="34" charset="-120"/>
                        </a:rPr>
                        <a:t>Reporting and blocking after the fraud</a:t>
                      </a:r>
                      <a:endParaRPr lang="en-US" sz="1150" dirty="0">
                        <a:latin typeface="Calibri" charset="0"/>
                        <a:ea typeface="Calibri" charset="0"/>
                        <a:cs typeface="Calibri" charset="0"/>
                      </a:endParaRPr>
                    </a:p>
                  </a:txBody>
                  <a:tcPr marL="73152" marR="73152" marT="73152" marB="73152" anchor="ctr">
                    <a:lnL w="12700" cap="flat" cmpd="sng" algn="ctr">
                      <a:solidFill>
                        <a:srgbClr val="2C4636"/>
                      </a:solidFill>
                      <a:prstDash val="solid"/>
                      <a:round/>
                      <a:headEnd type="none" w="med" len="med"/>
                      <a:tailEnd type="none" w="med" len="med"/>
                    </a:lnL>
                    <a:lnR w="12700" cap="flat" cmpd="sng" algn="ctr">
                      <a:solidFill>
                        <a:srgbClr val="2C4636"/>
                      </a:solidFill>
                      <a:prstDash val="solid"/>
                      <a:round/>
                      <a:headEnd type="none" w="med" len="med"/>
                      <a:tailEnd type="none" w="med" len="med"/>
                    </a:lnR>
                    <a:lnT w="12700" cap="flat" cmpd="sng" algn="ctr">
                      <a:solidFill>
                        <a:srgbClr val="2C4636"/>
                      </a:solidFill>
                      <a:prstDash val="solid"/>
                      <a:round/>
                      <a:headEnd type="none" w="med" len="med"/>
                      <a:tailEnd type="none" w="med" len="med"/>
                    </a:lnT>
                    <a:lnB w="12700" cap="flat" cmpd="sng" algn="ctr">
                      <a:solidFill>
                        <a:srgbClr val="2C4636"/>
                      </a:solidFill>
                      <a:prstDash val="solid"/>
                      <a:round/>
                      <a:headEnd type="none" w="med" len="med"/>
                      <a:tailEnd type="none" w="med" len="med"/>
                    </a:lnB>
                    <a:solidFill>
                      <a:srgbClr val="152017"/>
                    </a:solidFill>
                  </a:tcPr>
                </a:tc>
                <a:tc>
                  <a:txBody>
                    <a:bodyPr/>
                    <a:lstStyle/>
                    <a:p>
                      <a:pPr indent="0" marL="0">
                        <a:buNone/>
                      </a:pPr>
                      <a:r>
                        <a:rPr lang="en-US" sz="1150" dirty="0">
                          <a:solidFill>
                            <a:srgbClr val="9DB0A4"/>
                          </a:solidFill>
                          <a:latin typeface="Calibri" pitchFamily="34" charset="0"/>
                          <a:ea typeface="Calibri" pitchFamily="34" charset="-122"/>
                          <a:cs typeface="Calibri" pitchFamily="34" charset="-120"/>
                        </a:rPr>
                        <a:t>Catches it before the payment, and ends every scam verdict in a ready 1930 complaint</a:t>
                      </a:r>
                      <a:endParaRPr lang="en-US" sz="1150" dirty="0">
                        <a:latin typeface="Calibri" charset="0"/>
                        <a:ea typeface="Calibri" charset="0"/>
                        <a:cs typeface="Calibri" charset="0"/>
                      </a:endParaRPr>
                    </a:p>
                  </a:txBody>
                  <a:tcPr marL="73152" marR="73152" marT="73152" marB="73152" anchor="ctr">
                    <a:lnL w="12700" cap="flat" cmpd="sng" algn="ctr">
                      <a:solidFill>
                        <a:srgbClr val="2C4636"/>
                      </a:solidFill>
                      <a:prstDash val="solid"/>
                      <a:round/>
                      <a:headEnd type="none" w="med" len="med"/>
                      <a:tailEnd type="none" w="med" len="med"/>
                    </a:lnL>
                    <a:lnR w="12700" cap="flat" cmpd="sng" algn="ctr">
                      <a:solidFill>
                        <a:srgbClr val="2C4636"/>
                      </a:solidFill>
                      <a:prstDash val="solid"/>
                      <a:round/>
                      <a:headEnd type="none" w="med" len="med"/>
                      <a:tailEnd type="none" w="med" len="med"/>
                    </a:lnR>
                    <a:lnT w="12700" cap="flat" cmpd="sng" algn="ctr">
                      <a:solidFill>
                        <a:srgbClr val="2C4636"/>
                      </a:solidFill>
                      <a:prstDash val="solid"/>
                      <a:round/>
                      <a:headEnd type="none" w="med" len="med"/>
                      <a:tailEnd type="none" w="med" len="med"/>
                    </a:lnT>
                    <a:lnB w="12700" cap="flat" cmpd="sng" algn="ctr">
                      <a:solidFill>
                        <a:srgbClr val="2C4636"/>
                      </a:solidFill>
                      <a:prstDash val="solid"/>
                      <a:round/>
                      <a:headEnd type="none" w="med" len="med"/>
                      <a:tailEnd type="none" w="med" len="med"/>
                    </a:lnB>
                    <a:solidFill>
                      <a:srgbClr val="152017"/>
                    </a:solidFill>
                  </a:tcPr>
                </a:tc>
              </a:tr>
              <a:tr h="566928">
                <a:tc>
                  <a:txBody>
                    <a:bodyPr/>
                    <a:lstStyle/>
                    <a:p>
                      <a:pPr indent="0" marL="0">
                        <a:buNone/>
                      </a:pPr>
                      <a:r>
                        <a:rPr lang="en-US" sz="1150" dirty="0">
                          <a:solidFill>
                            <a:srgbClr val="EEF3EE"/>
                          </a:solidFill>
                          <a:latin typeface="Calibri" pitchFamily="34" charset="0"/>
                          <a:ea typeface="Calibri" pitchFamily="34" charset="-122"/>
                          <a:cs typeface="Calibri" pitchFamily="34" charset="-120"/>
                        </a:rPr>
                        <a:t>myScheme</a:t>
                      </a:r>
                      <a:endParaRPr lang="en-US" sz="1150" dirty="0">
                        <a:latin typeface="Calibri" charset="0"/>
                        <a:ea typeface="Calibri" charset="0"/>
                        <a:cs typeface="Calibri" charset="0"/>
                      </a:endParaRPr>
                    </a:p>
                  </a:txBody>
                  <a:tcPr marL="73152" marR="73152" marT="73152" marB="73152" anchor="ctr">
                    <a:lnL w="12700" cap="flat" cmpd="sng" algn="ctr">
                      <a:solidFill>
                        <a:srgbClr val="2C4636"/>
                      </a:solidFill>
                      <a:prstDash val="solid"/>
                      <a:round/>
                      <a:headEnd type="none" w="med" len="med"/>
                      <a:tailEnd type="none" w="med" len="med"/>
                    </a:lnL>
                    <a:lnR w="12700" cap="flat" cmpd="sng" algn="ctr">
                      <a:solidFill>
                        <a:srgbClr val="2C4636"/>
                      </a:solidFill>
                      <a:prstDash val="solid"/>
                      <a:round/>
                      <a:headEnd type="none" w="med" len="med"/>
                      <a:tailEnd type="none" w="med" len="med"/>
                    </a:lnR>
                    <a:lnT w="12700" cap="flat" cmpd="sng" algn="ctr">
                      <a:solidFill>
                        <a:srgbClr val="2C4636"/>
                      </a:solidFill>
                      <a:prstDash val="solid"/>
                      <a:round/>
                      <a:headEnd type="none" w="med" len="med"/>
                      <a:tailEnd type="none" w="med" len="med"/>
                    </a:lnT>
                    <a:lnB w="12700" cap="flat" cmpd="sng" algn="ctr">
                      <a:solidFill>
                        <a:srgbClr val="2C4636"/>
                      </a:solidFill>
                      <a:prstDash val="solid"/>
                      <a:round/>
                      <a:headEnd type="none" w="med" len="med"/>
                      <a:tailEnd type="none" w="med" len="med"/>
                    </a:lnB>
                    <a:solidFill>
                      <a:srgbClr val="152017"/>
                    </a:solidFill>
                  </a:tcPr>
                </a:tc>
                <a:tc>
                  <a:txBody>
                    <a:bodyPr/>
                    <a:lstStyle/>
                    <a:p>
                      <a:pPr indent="0" marL="0">
                        <a:buNone/>
                      </a:pPr>
                      <a:r>
                        <a:rPr lang="en-US" sz="1150" dirty="0">
                          <a:solidFill>
                            <a:srgbClr val="9DB0A4"/>
                          </a:solidFill>
                          <a:latin typeface="Calibri" pitchFamily="34" charset="0"/>
                          <a:ea typeface="Calibri" pitchFamily="34" charset="-122"/>
                          <a:cs typeface="Calibri" pitchFamily="34" charset="-120"/>
                        </a:rPr>
                        <a:t>4,700+ schemes in 15 languages, online, self-serve</a:t>
                      </a:r>
                      <a:endParaRPr lang="en-US" sz="1150" dirty="0">
                        <a:latin typeface="Calibri" charset="0"/>
                        <a:ea typeface="Calibri" charset="0"/>
                        <a:cs typeface="Calibri" charset="0"/>
                      </a:endParaRPr>
                    </a:p>
                  </a:txBody>
                  <a:tcPr marL="73152" marR="73152" marT="73152" marB="73152" anchor="ctr">
                    <a:lnL w="12700" cap="flat" cmpd="sng" algn="ctr">
                      <a:solidFill>
                        <a:srgbClr val="2C4636"/>
                      </a:solidFill>
                      <a:prstDash val="solid"/>
                      <a:round/>
                      <a:headEnd type="none" w="med" len="med"/>
                      <a:tailEnd type="none" w="med" len="med"/>
                    </a:lnL>
                    <a:lnR w="12700" cap="flat" cmpd="sng" algn="ctr">
                      <a:solidFill>
                        <a:srgbClr val="2C4636"/>
                      </a:solidFill>
                      <a:prstDash val="solid"/>
                      <a:round/>
                      <a:headEnd type="none" w="med" len="med"/>
                      <a:tailEnd type="none" w="med" len="med"/>
                    </a:lnR>
                    <a:lnT w="12700" cap="flat" cmpd="sng" algn="ctr">
                      <a:solidFill>
                        <a:srgbClr val="2C4636"/>
                      </a:solidFill>
                      <a:prstDash val="solid"/>
                      <a:round/>
                      <a:headEnd type="none" w="med" len="med"/>
                      <a:tailEnd type="none" w="med" len="med"/>
                    </a:lnT>
                    <a:lnB w="12700" cap="flat" cmpd="sng" algn="ctr">
                      <a:solidFill>
                        <a:srgbClr val="2C4636"/>
                      </a:solidFill>
                      <a:prstDash val="solid"/>
                      <a:round/>
                      <a:headEnd type="none" w="med" len="med"/>
                      <a:tailEnd type="none" w="med" len="med"/>
                    </a:lnB>
                    <a:solidFill>
                      <a:srgbClr val="152017"/>
                    </a:solidFill>
                  </a:tcPr>
                </a:tc>
                <a:tc>
                  <a:txBody>
                    <a:bodyPr/>
                    <a:lstStyle/>
                    <a:p>
                      <a:pPr indent="0" marL="0">
                        <a:buNone/>
                      </a:pPr>
                      <a:r>
                        <a:rPr lang="en-US" sz="1150" dirty="0">
                          <a:solidFill>
                            <a:srgbClr val="9DB0A4"/>
                          </a:solidFill>
                          <a:latin typeface="Calibri" pitchFamily="34" charset="0"/>
                          <a:ea typeface="Calibri" pitchFamily="34" charset="-122"/>
                          <a:cs typeface="Calibri" pitchFamily="34" charset="-120"/>
                        </a:rPr>
                        <a:t>Offline, spoken interview with a slip for the CSC; every rule and amount proven against official pages</a:t>
                      </a:r>
                      <a:endParaRPr lang="en-US" sz="1150" dirty="0">
                        <a:latin typeface="Calibri" charset="0"/>
                        <a:ea typeface="Calibri" charset="0"/>
                        <a:cs typeface="Calibri" charset="0"/>
                      </a:endParaRPr>
                    </a:p>
                  </a:txBody>
                  <a:tcPr marL="73152" marR="73152" marT="73152" marB="73152" anchor="ctr">
                    <a:lnL w="12700" cap="flat" cmpd="sng" algn="ctr">
                      <a:solidFill>
                        <a:srgbClr val="2C4636"/>
                      </a:solidFill>
                      <a:prstDash val="solid"/>
                      <a:round/>
                      <a:headEnd type="none" w="med" len="med"/>
                      <a:tailEnd type="none" w="med" len="med"/>
                    </a:lnL>
                    <a:lnR w="12700" cap="flat" cmpd="sng" algn="ctr">
                      <a:solidFill>
                        <a:srgbClr val="2C4636"/>
                      </a:solidFill>
                      <a:prstDash val="solid"/>
                      <a:round/>
                      <a:headEnd type="none" w="med" len="med"/>
                      <a:tailEnd type="none" w="med" len="med"/>
                    </a:lnR>
                    <a:lnT w="12700" cap="flat" cmpd="sng" algn="ctr">
                      <a:solidFill>
                        <a:srgbClr val="2C4636"/>
                      </a:solidFill>
                      <a:prstDash val="solid"/>
                      <a:round/>
                      <a:headEnd type="none" w="med" len="med"/>
                      <a:tailEnd type="none" w="med" len="med"/>
                    </a:lnT>
                    <a:lnB w="12700" cap="flat" cmpd="sng" algn="ctr">
                      <a:solidFill>
                        <a:srgbClr val="2C4636"/>
                      </a:solidFill>
                      <a:prstDash val="solid"/>
                      <a:round/>
                      <a:headEnd type="none" w="med" len="med"/>
                      <a:tailEnd type="none" w="med" len="med"/>
                    </a:lnB>
                    <a:solidFill>
                      <a:srgbClr val="152017"/>
                    </a:solidFill>
                  </a:tcPr>
                </a:tc>
              </a:tr>
              <a:tr h="566928">
                <a:tc>
                  <a:txBody>
                    <a:bodyPr/>
                    <a:lstStyle/>
                    <a:p>
                      <a:pPr indent="0" marL="0">
                        <a:buNone/>
                      </a:pPr>
                      <a:r>
                        <a:rPr lang="en-US" sz="1150" dirty="0">
                          <a:solidFill>
                            <a:srgbClr val="EEF3EE"/>
                          </a:solidFill>
                          <a:latin typeface="Calibri" pitchFamily="34" charset="0"/>
                          <a:ea typeface="Calibri" pitchFamily="34" charset="-122"/>
                          <a:cs typeface="Calibri" pitchFamily="34" charset="-120"/>
                        </a:rPr>
                        <a:t>Haqdarshak</a:t>
                      </a:r>
                      <a:endParaRPr lang="en-US" sz="1150" dirty="0">
                        <a:latin typeface="Calibri" charset="0"/>
                        <a:ea typeface="Calibri" charset="0"/>
                        <a:cs typeface="Calibri" charset="0"/>
                      </a:endParaRPr>
                    </a:p>
                  </a:txBody>
                  <a:tcPr marL="73152" marR="73152" marT="73152" marB="73152" anchor="ctr">
                    <a:lnL w="12700" cap="flat" cmpd="sng" algn="ctr">
                      <a:solidFill>
                        <a:srgbClr val="2C4636"/>
                      </a:solidFill>
                      <a:prstDash val="solid"/>
                      <a:round/>
                      <a:headEnd type="none" w="med" len="med"/>
                      <a:tailEnd type="none" w="med" len="med"/>
                    </a:lnL>
                    <a:lnR w="12700" cap="flat" cmpd="sng" algn="ctr">
                      <a:solidFill>
                        <a:srgbClr val="2C4636"/>
                      </a:solidFill>
                      <a:prstDash val="solid"/>
                      <a:round/>
                      <a:headEnd type="none" w="med" len="med"/>
                      <a:tailEnd type="none" w="med" len="med"/>
                    </a:lnR>
                    <a:lnT w="12700" cap="flat" cmpd="sng" algn="ctr">
                      <a:solidFill>
                        <a:srgbClr val="2C4636"/>
                      </a:solidFill>
                      <a:prstDash val="solid"/>
                      <a:round/>
                      <a:headEnd type="none" w="med" len="med"/>
                      <a:tailEnd type="none" w="med" len="med"/>
                    </a:lnT>
                    <a:lnB w="12700" cap="flat" cmpd="sng" algn="ctr">
                      <a:solidFill>
                        <a:srgbClr val="2C4636"/>
                      </a:solidFill>
                      <a:prstDash val="solid"/>
                      <a:round/>
                      <a:headEnd type="none" w="med" len="med"/>
                      <a:tailEnd type="none" w="med" len="med"/>
                    </a:lnB>
                    <a:solidFill>
                      <a:srgbClr val="152017"/>
                    </a:solidFill>
                  </a:tcPr>
                </a:tc>
                <a:tc>
                  <a:txBody>
                    <a:bodyPr/>
                    <a:lstStyle/>
                    <a:p>
                      <a:pPr indent="0" marL="0">
                        <a:buNone/>
                      </a:pPr>
                      <a:r>
                        <a:rPr lang="en-US" sz="1150" dirty="0">
                          <a:solidFill>
                            <a:srgbClr val="9DB0A4"/>
                          </a:solidFill>
                          <a:latin typeface="Calibri" pitchFamily="34" charset="0"/>
                          <a:ea typeface="Calibri" pitchFamily="34" charset="-122"/>
                          <a:cs typeface="Calibri" pitchFamily="34" charset="-120"/>
                        </a:rPr>
                        <a:t>₹19,233 crore in benefits through trained agents</a:t>
                      </a:r>
                      <a:endParaRPr lang="en-US" sz="1150" dirty="0">
                        <a:latin typeface="Calibri" charset="0"/>
                        <a:ea typeface="Calibri" charset="0"/>
                        <a:cs typeface="Calibri" charset="0"/>
                      </a:endParaRPr>
                    </a:p>
                  </a:txBody>
                  <a:tcPr marL="73152" marR="73152" marT="73152" marB="73152" anchor="ctr">
                    <a:lnL w="12700" cap="flat" cmpd="sng" algn="ctr">
                      <a:solidFill>
                        <a:srgbClr val="2C4636"/>
                      </a:solidFill>
                      <a:prstDash val="solid"/>
                      <a:round/>
                      <a:headEnd type="none" w="med" len="med"/>
                      <a:tailEnd type="none" w="med" len="med"/>
                    </a:lnL>
                    <a:lnR w="12700" cap="flat" cmpd="sng" algn="ctr">
                      <a:solidFill>
                        <a:srgbClr val="2C4636"/>
                      </a:solidFill>
                      <a:prstDash val="solid"/>
                      <a:round/>
                      <a:headEnd type="none" w="med" len="med"/>
                      <a:tailEnd type="none" w="med" len="med"/>
                    </a:lnR>
                    <a:lnT w="12700" cap="flat" cmpd="sng" algn="ctr">
                      <a:solidFill>
                        <a:srgbClr val="2C4636"/>
                      </a:solidFill>
                      <a:prstDash val="solid"/>
                      <a:round/>
                      <a:headEnd type="none" w="med" len="med"/>
                      <a:tailEnd type="none" w="med" len="med"/>
                    </a:lnT>
                    <a:lnB w="12700" cap="flat" cmpd="sng" algn="ctr">
                      <a:solidFill>
                        <a:srgbClr val="2C4636"/>
                      </a:solidFill>
                      <a:prstDash val="solid"/>
                      <a:round/>
                      <a:headEnd type="none" w="med" len="med"/>
                      <a:tailEnd type="none" w="med" len="med"/>
                    </a:lnB>
                    <a:solidFill>
                      <a:srgbClr val="152017"/>
                    </a:solidFill>
                  </a:tcPr>
                </a:tc>
                <a:tc>
                  <a:txBody>
                    <a:bodyPr/>
                    <a:lstStyle/>
                    <a:p>
                      <a:pPr indent="0" marL="0">
                        <a:buNone/>
                      </a:pPr>
                      <a:r>
                        <a:rPr lang="en-US" sz="1150" dirty="0">
                          <a:solidFill>
                            <a:srgbClr val="9DB0A4"/>
                          </a:solidFill>
                          <a:latin typeface="Calibri" pitchFamily="34" charset="0"/>
                          <a:ea typeface="Calibri" pitchFamily="34" charset="-122"/>
                          <a:cs typeface="Calibri" pitchFamily="34" charset="-120"/>
                        </a:rPr>
                        <a:t>The offline front door and the scam shield; a content partner, not a rival</a:t>
                      </a:r>
                      <a:endParaRPr lang="en-US" sz="1150" dirty="0">
                        <a:latin typeface="Calibri" charset="0"/>
                        <a:ea typeface="Calibri" charset="0"/>
                        <a:cs typeface="Calibri" charset="0"/>
                      </a:endParaRPr>
                    </a:p>
                  </a:txBody>
                  <a:tcPr marL="73152" marR="73152" marT="73152" marB="73152" anchor="ctr">
                    <a:lnL w="12700" cap="flat" cmpd="sng" algn="ctr">
                      <a:solidFill>
                        <a:srgbClr val="2C4636"/>
                      </a:solidFill>
                      <a:prstDash val="solid"/>
                      <a:round/>
                      <a:headEnd type="none" w="med" len="med"/>
                      <a:tailEnd type="none" w="med" len="med"/>
                    </a:lnL>
                    <a:lnR w="12700" cap="flat" cmpd="sng" algn="ctr">
                      <a:solidFill>
                        <a:srgbClr val="2C4636"/>
                      </a:solidFill>
                      <a:prstDash val="solid"/>
                      <a:round/>
                      <a:headEnd type="none" w="med" len="med"/>
                      <a:tailEnd type="none" w="med" len="med"/>
                    </a:lnR>
                    <a:lnT w="12700" cap="flat" cmpd="sng" algn="ctr">
                      <a:solidFill>
                        <a:srgbClr val="2C4636"/>
                      </a:solidFill>
                      <a:prstDash val="solid"/>
                      <a:round/>
                      <a:headEnd type="none" w="med" len="med"/>
                      <a:tailEnd type="none" w="med" len="med"/>
                    </a:lnT>
                    <a:lnB w="12700" cap="flat" cmpd="sng" algn="ctr">
                      <a:solidFill>
                        <a:srgbClr val="2C4636"/>
                      </a:solidFill>
                      <a:prstDash val="solid"/>
                      <a:round/>
                      <a:headEnd type="none" w="med" len="med"/>
                      <a:tailEnd type="none" w="med" len="med"/>
                    </a:lnB>
                    <a:solidFill>
                      <a:srgbClr val="152017"/>
                    </a:solidFill>
                  </a:tcPr>
                </a:tc>
              </a:tr>
            </a:tbl>
          </a:graphicData>
        </a:graphic>
      </p:graphicFrame>
      <p:sp>
        <p:nvSpPr>
          <p:cNvPr id="9" name="Text 6"/>
          <p:cNvSpPr/>
          <p:nvPr/>
        </p:nvSpPr>
        <p:spPr>
          <a:xfrm>
            <a:off x="548640" y="6355080"/>
            <a:ext cx="11064240" cy="320040"/>
          </a:xfrm>
          <a:prstGeom prst="rect">
            <a:avLst/>
          </a:prstGeom>
          <a:noFill/>
          <a:ln/>
        </p:spPr>
        <p:txBody>
          <a:bodyPr wrap="square" lIns="0" tIns="0" rIns="0" bIns="0" rtlCol="0" anchor="t"/>
          <a:lstStyle/>
          <a:p>
            <a:pPr indent="0" marL="0">
              <a:buNone/>
            </a:pPr>
            <a:r>
              <a:rPr lang="en-US" sz="950" dirty="0">
                <a:solidFill>
                  <a:srgbClr val="6E8579"/>
                </a:solidFill>
                <a:latin typeface="Calibri" pitchFamily="34" charset="0"/>
                <a:ea typeface="Calibri" pitchFamily="34" charset="-122"/>
                <a:cs typeface="Calibri" pitchFamily="34" charset="-120"/>
              </a:rPr>
              <a:t>Sources: Airtel, citing I4C data, Sep 2025; Truecaller, Q2 2026; TechCrunch, Nov 2025; myScheme.gov.in, Oct 2026; Haqdarshak impact analysis, 2025</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F14"/>
        </a:solidFill>
      </p:bgPr>
    </p:bg>
    <p:spTree>
      <p:nvGrpSpPr>
        <p:cNvPr id="1" name=""/>
        <p:cNvGrpSpPr/>
        <p:nvPr/>
      </p:nvGrpSpPr>
      <p:grpSpPr>
        <a:xfrm>
          <a:off x="0" y="0"/>
          <a:ext cx="0" cy="0"/>
          <a:chOff x="0" y="0"/>
          <a:chExt cx="0" cy="0"/>
        </a:xfrm>
      </p:grpSpPr>
      <p:sp>
        <p:nvSpPr>
          <p:cNvPr id="2" name="Shape 0"/>
          <p:cNvSpPr/>
          <p:nvPr/>
        </p:nvSpPr>
        <p:spPr>
          <a:xfrm>
            <a:off x="11475720" y="384048"/>
            <a:ext cx="109728" cy="109728"/>
          </a:xfrm>
          <a:prstGeom prst="ellipse">
            <a:avLst/>
          </a:prstGeom>
          <a:solidFill>
            <a:srgbClr val="FF9E3D"/>
          </a:solidFill>
          <a:ln/>
        </p:spPr>
      </p:sp>
      <p:sp>
        <p:nvSpPr>
          <p:cNvPr id="3" name="Shape 1"/>
          <p:cNvSpPr/>
          <p:nvPr/>
        </p:nvSpPr>
        <p:spPr>
          <a:xfrm>
            <a:off x="11658600" y="384048"/>
            <a:ext cx="109728" cy="109728"/>
          </a:xfrm>
          <a:prstGeom prst="ellipse">
            <a:avLst/>
          </a:prstGeom>
          <a:solidFill>
            <a:srgbClr val="EEF3EE"/>
          </a:solidFill>
          <a:ln/>
        </p:spPr>
      </p:sp>
      <p:sp>
        <p:nvSpPr>
          <p:cNvPr id="4" name="Shape 2"/>
          <p:cNvSpPr/>
          <p:nvPr/>
        </p:nvSpPr>
        <p:spPr>
          <a:xfrm>
            <a:off x="11841480" y="384048"/>
            <a:ext cx="109728" cy="109728"/>
          </a:xfrm>
          <a:prstGeom prst="ellipse">
            <a:avLst/>
          </a:prstGeom>
          <a:solidFill>
            <a:srgbClr val="27C08A"/>
          </a:solidFill>
          <a:ln/>
        </p:spPr>
      </p:sp>
      <p:sp>
        <p:nvSpPr>
          <p:cNvPr id="5" name="Shape 3"/>
          <p:cNvSpPr/>
          <p:nvPr/>
        </p:nvSpPr>
        <p:spPr>
          <a:xfrm>
            <a:off x="566928" y="603504"/>
            <a:ext cx="128016" cy="128016"/>
          </a:xfrm>
          <a:prstGeom prst="ellipse">
            <a:avLst/>
          </a:prstGeom>
          <a:solidFill>
            <a:srgbClr val="27C08A"/>
          </a:solidFill>
          <a:ln/>
        </p:spPr>
      </p:sp>
      <p:sp>
        <p:nvSpPr>
          <p:cNvPr id="6" name="Text 4"/>
          <p:cNvSpPr/>
          <p:nvPr/>
        </p:nvSpPr>
        <p:spPr>
          <a:xfrm>
            <a:off x="777240" y="457200"/>
            <a:ext cx="10058400" cy="411480"/>
          </a:xfrm>
          <a:prstGeom prst="rect">
            <a:avLst/>
          </a:prstGeom>
          <a:noFill/>
          <a:ln/>
        </p:spPr>
        <p:txBody>
          <a:bodyPr wrap="square" lIns="0" tIns="0" rIns="0" bIns="0" rtlCol="0" anchor="ctr"/>
          <a:lstStyle/>
          <a:p>
            <a:pPr indent="0" marL="0">
              <a:buNone/>
            </a:pPr>
            <a:r>
              <a:rPr lang="en-US" sz="1250" b="1" spc="200" kern="0" dirty="0">
                <a:solidFill>
                  <a:srgbClr val="27C08A"/>
                </a:solidFill>
                <a:latin typeface="Arial" pitchFamily="34" charset="0"/>
                <a:ea typeface="Arial" pitchFamily="34" charset="-122"/>
                <a:cs typeface="Arial" pitchFamily="34" charset="-120"/>
              </a:rPr>
              <a:t>TESTING AND VALIDATION</a:t>
            </a:r>
            <a:endParaRPr lang="en-US" sz="1250" dirty="0"/>
          </a:p>
        </p:txBody>
      </p:sp>
      <p:sp>
        <p:nvSpPr>
          <p:cNvPr id="7" name="Text 5"/>
          <p:cNvSpPr/>
          <p:nvPr/>
        </p:nvSpPr>
        <p:spPr>
          <a:xfrm>
            <a:off x="548640" y="868680"/>
            <a:ext cx="11064240" cy="914400"/>
          </a:xfrm>
          <a:prstGeom prst="rect">
            <a:avLst/>
          </a:prstGeom>
          <a:noFill/>
          <a:ln/>
        </p:spPr>
        <p:txBody>
          <a:bodyPr wrap="square" lIns="0" tIns="0" rIns="0" bIns="0" rtlCol="0" anchor="ctr"/>
          <a:lstStyle/>
          <a:p>
            <a:pPr indent="0" marL="0">
              <a:buNone/>
            </a:pPr>
            <a:r>
              <a:rPr lang="en-US" sz="3000" b="1" dirty="0">
                <a:solidFill>
                  <a:srgbClr val="EEF3EE"/>
                </a:solidFill>
                <a:latin typeface="Arial" pitchFamily="34" charset="0"/>
                <a:ea typeface="Arial" pitchFamily="34" charset="-122"/>
                <a:cs typeface="Arial" pitchFamily="34" charset="-120"/>
              </a:rPr>
              <a:t>Measured on real messages, not just our own</a:t>
            </a:r>
            <a:endParaRPr lang="en-US" sz="3000" dirty="0"/>
          </a:p>
        </p:txBody>
      </p:sp>
      <p:sp>
        <p:nvSpPr>
          <p:cNvPr id="8" name="Shape 6"/>
          <p:cNvSpPr/>
          <p:nvPr/>
        </p:nvSpPr>
        <p:spPr>
          <a:xfrm>
            <a:off x="548640" y="1783080"/>
            <a:ext cx="11064240" cy="1828800"/>
          </a:xfrm>
          <a:prstGeom prst="roundRect">
            <a:avLst>
              <a:gd name="adj" fmla="val 5000"/>
            </a:avLst>
          </a:prstGeom>
          <a:solidFill>
            <a:srgbClr val="152017"/>
          </a:solidFill>
          <a:ln w="12700">
            <a:solidFill>
              <a:srgbClr val="2C4636"/>
            </a:solidFill>
            <a:prstDash val="solid"/>
          </a:ln>
          <a:effectLst>
            <a:outerShdw sx="100000" sy="100000" kx="0" ky="0" algn="bl" rotWithShape="0" blurRad="127000" dist="38100" dir="5400000">
              <a:srgbClr val="000000">
                <a:alpha val="40000"/>
              </a:srgbClr>
            </a:outerShdw>
          </a:effectLst>
        </p:spPr>
      </p:sp>
      <p:sp>
        <p:nvSpPr>
          <p:cNvPr id="9" name="Text 7"/>
          <p:cNvSpPr/>
          <p:nvPr/>
        </p:nvSpPr>
        <p:spPr>
          <a:xfrm>
            <a:off x="868680" y="2057400"/>
            <a:ext cx="2103120" cy="731520"/>
          </a:xfrm>
          <a:prstGeom prst="rect">
            <a:avLst/>
          </a:prstGeom>
          <a:noFill/>
          <a:ln/>
        </p:spPr>
        <p:txBody>
          <a:bodyPr wrap="square" lIns="0" tIns="0" rIns="0" bIns="0" rtlCol="0" anchor="b">
            <a:normAutofit/>
          </a:bodyPr>
          <a:lstStyle/>
          <a:p>
            <a:pPr indent="0" marL="0">
              <a:buNone/>
            </a:pPr>
            <a:r>
              <a:rPr lang="en-US" sz="2800" b="1" dirty="0">
                <a:solidFill>
                  <a:srgbClr val="FF9E3D"/>
                </a:solidFill>
                <a:latin typeface="Arial" pitchFamily="34" charset="0"/>
                <a:ea typeface="Arial" pitchFamily="34" charset="-122"/>
                <a:cs typeface="Arial" pitchFamily="34" charset="-120"/>
              </a:rPr>
              <a:t>69%</a:t>
            </a:r>
            <a:endParaRPr lang="en-US" sz="2800" dirty="0"/>
          </a:p>
        </p:txBody>
      </p:sp>
      <p:sp>
        <p:nvSpPr>
          <p:cNvPr id="10" name="Text 8"/>
          <p:cNvSpPr/>
          <p:nvPr/>
        </p:nvSpPr>
        <p:spPr>
          <a:xfrm>
            <a:off x="868680" y="2834640"/>
            <a:ext cx="2057400" cy="685800"/>
          </a:xfrm>
          <a:prstGeom prst="rect">
            <a:avLst/>
          </a:prstGeom>
          <a:noFill/>
          <a:ln/>
        </p:spPr>
        <p:txBody>
          <a:bodyPr wrap="square" lIns="0" tIns="0" rIns="0" bIns="0" rtlCol="0" anchor="t"/>
          <a:lstStyle/>
          <a:p>
            <a:pPr indent="0" marL="0">
              <a:buNone/>
            </a:pPr>
            <a:r>
              <a:rPr lang="en-US" sz="1150" dirty="0">
                <a:solidFill>
                  <a:srgbClr val="9DB0A4"/>
                </a:solidFill>
                <a:latin typeface="Calibri" pitchFamily="34" charset="0"/>
                <a:ea typeface="Calibri" pitchFamily="34" charset="-122"/>
                <a:cs typeface="Calibri" pitchFamily="34" charset="-120"/>
              </a:rPr>
              <a:t>of 97 real published scams caught, first run (keyword blocklist 64%)</a:t>
            </a:r>
            <a:endParaRPr lang="en-US" sz="1150" dirty="0"/>
          </a:p>
        </p:txBody>
      </p:sp>
      <p:sp>
        <p:nvSpPr>
          <p:cNvPr id="11" name="Text 9"/>
          <p:cNvSpPr/>
          <p:nvPr/>
        </p:nvSpPr>
        <p:spPr>
          <a:xfrm>
            <a:off x="3044952" y="2057400"/>
            <a:ext cx="2103120" cy="731520"/>
          </a:xfrm>
          <a:prstGeom prst="rect">
            <a:avLst/>
          </a:prstGeom>
          <a:noFill/>
          <a:ln/>
        </p:spPr>
        <p:txBody>
          <a:bodyPr wrap="square" lIns="0" tIns="0" rIns="0" bIns="0" rtlCol="0" anchor="b">
            <a:normAutofit/>
          </a:bodyPr>
          <a:lstStyle/>
          <a:p>
            <a:pPr indent="0" marL="0">
              <a:buNone/>
            </a:pPr>
            <a:r>
              <a:rPr lang="en-US" sz="2800" b="1" dirty="0">
                <a:solidFill>
                  <a:srgbClr val="4FE3B0"/>
                </a:solidFill>
                <a:latin typeface="Arial" pitchFamily="34" charset="0"/>
                <a:ea typeface="Arial" pitchFamily="34" charset="-122"/>
                <a:cs typeface="Arial" pitchFamily="34" charset="-120"/>
              </a:rPr>
              <a:t>89%</a:t>
            </a:r>
            <a:endParaRPr lang="en-US" sz="2800" dirty="0"/>
          </a:p>
        </p:txBody>
      </p:sp>
      <p:sp>
        <p:nvSpPr>
          <p:cNvPr id="12" name="Text 10"/>
          <p:cNvSpPr/>
          <p:nvPr/>
        </p:nvSpPr>
        <p:spPr>
          <a:xfrm>
            <a:off x="3044952" y="2834640"/>
            <a:ext cx="2057400" cy="685800"/>
          </a:xfrm>
          <a:prstGeom prst="rect">
            <a:avLst/>
          </a:prstGeom>
          <a:noFill/>
          <a:ln/>
        </p:spPr>
        <p:txBody>
          <a:bodyPr wrap="square" lIns="0" tIns="0" rIns="0" bIns="0" rtlCol="0" anchor="t"/>
          <a:lstStyle/>
          <a:p>
            <a:pPr indent="0" marL="0">
              <a:buNone/>
            </a:pPr>
            <a:r>
              <a:rPr lang="en-US" sz="1150" dirty="0">
                <a:solidFill>
                  <a:srgbClr val="9DB0A4"/>
                </a:solidFill>
                <a:latin typeface="Calibri" pitchFamily="34" charset="0"/>
                <a:ea typeface="Calibri" pitchFamily="34" charset="-122"/>
                <a:cs typeface="Calibri" pitchFamily="34" charset="-120"/>
              </a:rPr>
              <a:t>of scams caught in a blind test written by a separate AI model (blocklist 50%)</a:t>
            </a:r>
            <a:endParaRPr lang="en-US" sz="1150" dirty="0"/>
          </a:p>
        </p:txBody>
      </p:sp>
      <p:sp>
        <p:nvSpPr>
          <p:cNvPr id="13" name="Text 11"/>
          <p:cNvSpPr/>
          <p:nvPr/>
        </p:nvSpPr>
        <p:spPr>
          <a:xfrm>
            <a:off x="5221224" y="2057400"/>
            <a:ext cx="2103120" cy="731520"/>
          </a:xfrm>
          <a:prstGeom prst="rect">
            <a:avLst/>
          </a:prstGeom>
          <a:noFill/>
          <a:ln/>
        </p:spPr>
        <p:txBody>
          <a:bodyPr wrap="square" lIns="0" tIns="0" rIns="0" bIns="0" rtlCol="0" anchor="b">
            <a:normAutofit/>
          </a:bodyPr>
          <a:lstStyle/>
          <a:p>
            <a:pPr indent="0" marL="0">
              <a:buNone/>
            </a:pPr>
            <a:r>
              <a:rPr lang="en-US" sz="2800" b="1" dirty="0">
                <a:solidFill>
                  <a:srgbClr val="27C08A"/>
                </a:solidFill>
                <a:latin typeface="Arial" pitchFamily="34" charset="0"/>
                <a:ea typeface="Arial" pitchFamily="34" charset="-122"/>
                <a:cs typeface="Arial" pitchFamily="34" charset="-120"/>
              </a:rPr>
              <a:t>92%</a:t>
            </a:r>
            <a:endParaRPr lang="en-US" sz="2800" dirty="0"/>
          </a:p>
        </p:txBody>
      </p:sp>
      <p:sp>
        <p:nvSpPr>
          <p:cNvPr id="14" name="Text 12"/>
          <p:cNvSpPr/>
          <p:nvPr/>
        </p:nvSpPr>
        <p:spPr>
          <a:xfrm>
            <a:off x="5221224" y="2834640"/>
            <a:ext cx="2057400" cy="685800"/>
          </a:xfrm>
          <a:prstGeom prst="rect">
            <a:avLst/>
          </a:prstGeom>
          <a:noFill/>
          <a:ln/>
        </p:spPr>
        <p:txBody>
          <a:bodyPr wrap="square" lIns="0" tIns="0" rIns="0" bIns="0" rtlCol="0" anchor="t"/>
          <a:lstStyle/>
          <a:p>
            <a:pPr indent="0" marL="0">
              <a:buNone/>
            </a:pPr>
            <a:r>
              <a:rPr lang="en-US" sz="1150" dirty="0">
                <a:solidFill>
                  <a:srgbClr val="9DB0A4"/>
                </a:solidFill>
                <a:latin typeface="Calibri" pitchFamily="34" charset="0"/>
                <a:ea typeface="Calibri" pitchFamily="34" charset="-122"/>
                <a:cs typeface="Calibri" pitchFamily="34" charset="-120"/>
              </a:rPr>
              <a:t>of our own test scams caught (blocklist 51%)</a:t>
            </a:r>
            <a:endParaRPr lang="en-US" sz="1150" dirty="0"/>
          </a:p>
        </p:txBody>
      </p:sp>
      <p:sp>
        <p:nvSpPr>
          <p:cNvPr id="15" name="Text 13"/>
          <p:cNvSpPr/>
          <p:nvPr/>
        </p:nvSpPr>
        <p:spPr>
          <a:xfrm>
            <a:off x="7397496" y="2057400"/>
            <a:ext cx="2103120" cy="731520"/>
          </a:xfrm>
          <a:prstGeom prst="rect">
            <a:avLst/>
          </a:prstGeom>
          <a:noFill/>
          <a:ln/>
        </p:spPr>
        <p:txBody>
          <a:bodyPr wrap="square" lIns="0" tIns="0" rIns="0" bIns="0" rtlCol="0" anchor="b">
            <a:normAutofit/>
          </a:bodyPr>
          <a:lstStyle/>
          <a:p>
            <a:pPr indent="0" marL="0">
              <a:buNone/>
            </a:pPr>
            <a:r>
              <a:rPr lang="en-US" sz="2800" b="1" dirty="0">
                <a:solidFill>
                  <a:srgbClr val="FF9E3D"/>
                </a:solidFill>
                <a:latin typeface="Arial" pitchFamily="34" charset="0"/>
                <a:ea typeface="Arial" pitchFamily="34" charset="-122"/>
                <a:cs typeface="Arial" pitchFamily="34" charset="-120"/>
              </a:rPr>
              <a:t>2 ms</a:t>
            </a:r>
            <a:endParaRPr lang="en-US" sz="2800" dirty="0"/>
          </a:p>
        </p:txBody>
      </p:sp>
      <p:sp>
        <p:nvSpPr>
          <p:cNvPr id="16" name="Text 14"/>
          <p:cNvSpPr/>
          <p:nvPr/>
        </p:nvSpPr>
        <p:spPr>
          <a:xfrm>
            <a:off x="7397496" y="2834640"/>
            <a:ext cx="2057400" cy="685800"/>
          </a:xfrm>
          <a:prstGeom prst="rect">
            <a:avLst/>
          </a:prstGeom>
          <a:noFill/>
          <a:ln/>
        </p:spPr>
        <p:txBody>
          <a:bodyPr wrap="square" lIns="0" tIns="0" rIns="0" bIns="0" rtlCol="0" anchor="t"/>
          <a:lstStyle/>
          <a:p>
            <a:pPr indent="0" marL="0">
              <a:buNone/>
            </a:pPr>
            <a:r>
              <a:rPr lang="en-US" sz="1150" dirty="0">
                <a:solidFill>
                  <a:srgbClr val="9DB0A4"/>
                </a:solidFill>
                <a:latin typeface="Calibri" pitchFamily="34" charset="0"/>
                <a:ea typeface="Calibri" pitchFamily="34" charset="-122"/>
                <a:cs typeface="Calibri" pitchFamily="34" charset="-120"/>
              </a:rPr>
              <a:t>per verdict on a laptop CPU</a:t>
            </a:r>
            <a:endParaRPr lang="en-US" sz="1150" dirty="0"/>
          </a:p>
        </p:txBody>
      </p:sp>
      <p:sp>
        <p:nvSpPr>
          <p:cNvPr id="17" name="Text 15"/>
          <p:cNvSpPr/>
          <p:nvPr/>
        </p:nvSpPr>
        <p:spPr>
          <a:xfrm>
            <a:off x="9573768" y="2057400"/>
            <a:ext cx="2103120" cy="731520"/>
          </a:xfrm>
          <a:prstGeom prst="rect">
            <a:avLst/>
          </a:prstGeom>
          <a:noFill/>
          <a:ln/>
        </p:spPr>
        <p:txBody>
          <a:bodyPr wrap="square" lIns="0" tIns="0" rIns="0" bIns="0" rtlCol="0" anchor="b">
            <a:normAutofit/>
          </a:bodyPr>
          <a:lstStyle/>
          <a:p>
            <a:pPr indent="0" marL="0">
              <a:buNone/>
            </a:pPr>
            <a:r>
              <a:rPr lang="en-US" sz="2800" b="1" dirty="0">
                <a:solidFill>
                  <a:srgbClr val="4FE3B0"/>
                </a:solidFill>
                <a:latin typeface="Arial" pitchFamily="34" charset="0"/>
                <a:ea typeface="Arial" pitchFamily="34" charset="-122"/>
                <a:cs typeface="Arial" pitchFamily="34" charset="-120"/>
              </a:rPr>
              <a:t>15.4%</a:t>
            </a:r>
            <a:endParaRPr lang="en-US" sz="2800" dirty="0"/>
          </a:p>
        </p:txBody>
      </p:sp>
      <p:sp>
        <p:nvSpPr>
          <p:cNvPr id="18" name="Text 16"/>
          <p:cNvSpPr/>
          <p:nvPr/>
        </p:nvSpPr>
        <p:spPr>
          <a:xfrm>
            <a:off x="9573768" y="2834640"/>
            <a:ext cx="2057400" cy="685800"/>
          </a:xfrm>
          <a:prstGeom prst="rect">
            <a:avLst/>
          </a:prstGeom>
          <a:noFill/>
          <a:ln/>
        </p:spPr>
        <p:txBody>
          <a:bodyPr wrap="square" lIns="0" tIns="0" rIns="0" bIns="0" rtlCol="0" anchor="t"/>
          <a:lstStyle/>
          <a:p>
            <a:pPr indent="0" marL="0">
              <a:buNone/>
            </a:pPr>
            <a:r>
              <a:rPr lang="en-US" sz="1150" dirty="0">
                <a:solidFill>
                  <a:srgbClr val="9DB0A4"/>
                </a:solidFill>
                <a:latin typeface="Calibri" pitchFamily="34" charset="0"/>
                <a:ea typeface="Calibri" pitchFamily="34" charset="-122"/>
                <a:cs typeface="Calibri" pitchFamily="34" charset="-120"/>
              </a:rPr>
              <a:t>Hindi word error, adults reading aloud</a:t>
            </a:r>
            <a:endParaRPr lang="en-US" sz="1150" dirty="0"/>
          </a:p>
        </p:txBody>
      </p:sp>
      <p:sp>
        <p:nvSpPr>
          <p:cNvPr id="19" name="Shape 17"/>
          <p:cNvSpPr/>
          <p:nvPr/>
        </p:nvSpPr>
        <p:spPr>
          <a:xfrm>
            <a:off x="548640" y="3840480"/>
            <a:ext cx="11064240" cy="2286000"/>
          </a:xfrm>
          <a:prstGeom prst="roundRect">
            <a:avLst>
              <a:gd name="adj" fmla="val 4000"/>
            </a:avLst>
          </a:prstGeom>
          <a:solidFill>
            <a:srgbClr val="1B2A20"/>
          </a:solidFill>
          <a:ln w="12700">
            <a:solidFill>
              <a:srgbClr val="2C4636"/>
            </a:solidFill>
            <a:prstDash val="solid"/>
          </a:ln>
          <a:effectLst>
            <a:outerShdw sx="100000" sy="100000" kx="0" ky="0" algn="bl" rotWithShape="0" blurRad="127000" dist="38100" dir="5400000">
              <a:srgbClr val="000000">
                <a:alpha val="40000"/>
              </a:srgbClr>
            </a:outerShdw>
          </a:effectLst>
        </p:spPr>
      </p:sp>
      <p:sp>
        <p:nvSpPr>
          <p:cNvPr id="20" name="Text 18"/>
          <p:cNvSpPr/>
          <p:nvPr/>
        </p:nvSpPr>
        <p:spPr>
          <a:xfrm>
            <a:off x="822960" y="3950208"/>
            <a:ext cx="10515600" cy="365760"/>
          </a:xfrm>
          <a:prstGeom prst="rect">
            <a:avLst/>
          </a:prstGeom>
          <a:noFill/>
          <a:ln/>
        </p:spPr>
        <p:txBody>
          <a:bodyPr wrap="square" lIns="0" tIns="0" rIns="0" bIns="0" rtlCol="0" anchor="ctr"/>
          <a:lstStyle/>
          <a:p>
            <a:pPr indent="0" marL="0">
              <a:buNone/>
            </a:pPr>
            <a:r>
              <a:rPr lang="en-US" sz="1450" b="1" dirty="0">
                <a:solidFill>
                  <a:srgbClr val="EEF3EE"/>
                </a:solidFill>
                <a:latin typeface="Arial" pitchFamily="34" charset="0"/>
                <a:ea typeface="Arial" pitchFamily="34" charset="-122"/>
                <a:cs typeface="Arial" pitchFamily="34" charset="-120"/>
              </a:rPr>
              <a:t>How we know, and what it does not show</a:t>
            </a:r>
            <a:endParaRPr lang="en-US" sz="1450" dirty="0"/>
          </a:p>
        </p:txBody>
      </p:sp>
      <p:sp>
        <p:nvSpPr>
          <p:cNvPr id="21" name="Text 19"/>
          <p:cNvSpPr/>
          <p:nvPr/>
        </p:nvSpPr>
        <p:spPr>
          <a:xfrm>
            <a:off x="822960" y="4343400"/>
            <a:ext cx="10515600" cy="1691640"/>
          </a:xfrm>
          <a:prstGeom prst="rect">
            <a:avLst/>
          </a:prstGeom>
          <a:noFill/>
          <a:ln/>
        </p:spPr>
        <p:txBody>
          <a:bodyPr wrap="square" lIns="0" tIns="0" rIns="0" bIns="0" rtlCol="0" anchor="t">
            <a:normAutofit/>
          </a:bodyPr>
          <a:lstStyle/>
          <a:p>
            <a:pPr indent="0" marL="0">
              <a:buNone/>
            </a:pPr>
            <a:r>
              <a:rPr lang="en-US" sz="1300" dirty="0">
                <a:solidFill>
                  <a:srgbClr val="9DB0A4"/>
                </a:solidFill>
                <a:latin typeface="Calibri" pitchFamily="34" charset="0"/>
                <a:ea typeface="Calibri" pitchFamily="34" charset="-122"/>
                <a:cs typeface="Calibri" pitchFamily="34" charset="-120"/>
              </a:rPr>
              <a:t>Real messages: 137 that people received, published by the Income Tax portal, PIB Fact Check, courts and fact-checkers, scored once: 67 of 97 scams caught, 11 of 34 genuine flagged (blocklist 17). Fixes then learned from half of them; on the other half, never read, scams caught went from 28 to 30 of 44 and genuine flagged from 6 to 6 of 20. Blind red team, 182 messages: 92 of 103 caught, 14 of 59 hard genuine flagged; other languages get "could not check", never a false green. Our own test split: 34 of 37 (95% Wilson CI 79%–97%). Not yet: messages from people's own phones, and real users.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F14"/>
        </a:solidFill>
      </p:bgPr>
    </p:bg>
    <p:spTree>
      <p:nvGrpSpPr>
        <p:cNvPr id="1" name=""/>
        <p:cNvGrpSpPr/>
        <p:nvPr/>
      </p:nvGrpSpPr>
      <p:grpSpPr>
        <a:xfrm>
          <a:off x="0" y="0"/>
          <a:ext cx="0" cy="0"/>
          <a:chOff x="0" y="0"/>
          <a:chExt cx="0" cy="0"/>
        </a:xfrm>
      </p:grpSpPr>
      <p:sp>
        <p:nvSpPr>
          <p:cNvPr id="2" name="Shape 0"/>
          <p:cNvSpPr/>
          <p:nvPr/>
        </p:nvSpPr>
        <p:spPr>
          <a:xfrm>
            <a:off x="11475720" y="384048"/>
            <a:ext cx="109728" cy="109728"/>
          </a:xfrm>
          <a:prstGeom prst="ellipse">
            <a:avLst/>
          </a:prstGeom>
          <a:solidFill>
            <a:srgbClr val="FF9E3D"/>
          </a:solidFill>
          <a:ln/>
        </p:spPr>
      </p:sp>
      <p:sp>
        <p:nvSpPr>
          <p:cNvPr id="3" name="Shape 1"/>
          <p:cNvSpPr/>
          <p:nvPr/>
        </p:nvSpPr>
        <p:spPr>
          <a:xfrm>
            <a:off x="11658600" y="384048"/>
            <a:ext cx="109728" cy="109728"/>
          </a:xfrm>
          <a:prstGeom prst="ellipse">
            <a:avLst/>
          </a:prstGeom>
          <a:solidFill>
            <a:srgbClr val="EEF3EE"/>
          </a:solidFill>
          <a:ln/>
        </p:spPr>
      </p:sp>
      <p:sp>
        <p:nvSpPr>
          <p:cNvPr id="4" name="Shape 2"/>
          <p:cNvSpPr/>
          <p:nvPr/>
        </p:nvSpPr>
        <p:spPr>
          <a:xfrm>
            <a:off x="11841480" y="384048"/>
            <a:ext cx="109728" cy="109728"/>
          </a:xfrm>
          <a:prstGeom prst="ellipse">
            <a:avLst/>
          </a:prstGeom>
          <a:solidFill>
            <a:srgbClr val="27C08A"/>
          </a:solidFill>
          <a:ln/>
        </p:spPr>
      </p:sp>
      <p:sp>
        <p:nvSpPr>
          <p:cNvPr id="5" name="Shape 3"/>
          <p:cNvSpPr/>
          <p:nvPr/>
        </p:nvSpPr>
        <p:spPr>
          <a:xfrm>
            <a:off x="566928" y="603504"/>
            <a:ext cx="128016" cy="128016"/>
          </a:xfrm>
          <a:prstGeom prst="ellipse">
            <a:avLst/>
          </a:prstGeom>
          <a:solidFill>
            <a:srgbClr val="27C08A"/>
          </a:solidFill>
          <a:ln/>
        </p:spPr>
      </p:sp>
      <p:sp>
        <p:nvSpPr>
          <p:cNvPr id="6" name="Text 4"/>
          <p:cNvSpPr/>
          <p:nvPr/>
        </p:nvSpPr>
        <p:spPr>
          <a:xfrm>
            <a:off x="777240" y="457200"/>
            <a:ext cx="10058400" cy="411480"/>
          </a:xfrm>
          <a:prstGeom prst="rect">
            <a:avLst/>
          </a:prstGeom>
          <a:noFill/>
          <a:ln/>
        </p:spPr>
        <p:txBody>
          <a:bodyPr wrap="square" lIns="0" tIns="0" rIns="0" bIns="0" rtlCol="0" anchor="ctr"/>
          <a:lstStyle/>
          <a:p>
            <a:pPr indent="0" marL="0">
              <a:buNone/>
            </a:pPr>
            <a:r>
              <a:rPr lang="en-US" sz="1250" b="1" spc="200" kern="0" dirty="0">
                <a:solidFill>
                  <a:srgbClr val="27C08A"/>
                </a:solidFill>
                <a:latin typeface="Arial" pitchFamily="34" charset="0"/>
                <a:ea typeface="Arial" pitchFamily="34" charset="-122"/>
                <a:cs typeface="Arial" pitchFamily="34" charset="-120"/>
              </a:rPr>
              <a:t>HEALTH FIRST</a:t>
            </a:r>
            <a:endParaRPr lang="en-US" sz="1250" dirty="0"/>
          </a:p>
        </p:txBody>
      </p:sp>
      <p:sp>
        <p:nvSpPr>
          <p:cNvPr id="7" name="Text 5"/>
          <p:cNvSpPr/>
          <p:nvPr/>
        </p:nvSpPr>
        <p:spPr>
          <a:xfrm>
            <a:off x="548640" y="868680"/>
            <a:ext cx="11064240" cy="914400"/>
          </a:xfrm>
          <a:prstGeom prst="rect">
            <a:avLst/>
          </a:prstGeom>
          <a:noFill/>
          <a:ln/>
        </p:spPr>
        <p:txBody>
          <a:bodyPr wrap="square" lIns="0" tIns="0" rIns="0" bIns="0" rtlCol="0" anchor="ctr"/>
          <a:lstStyle/>
          <a:p>
            <a:pPr indent="0" marL="0">
              <a:buNone/>
            </a:pPr>
            <a:r>
              <a:rPr lang="en-US" sz="3000" b="1" dirty="0">
                <a:solidFill>
                  <a:srgbClr val="EEF3EE"/>
                </a:solidFill>
                <a:latin typeface="Arial" pitchFamily="34" charset="0"/>
                <a:ea typeface="Arial" pitchFamily="34" charset="-122"/>
                <a:cs typeface="Arial" pitchFamily="34" charset="-120"/>
              </a:rPr>
              <a:t>₹5 lakh of health cover most seniors have not claimed</a:t>
            </a:r>
            <a:endParaRPr lang="en-US" sz="3000" dirty="0"/>
          </a:p>
        </p:txBody>
      </p:sp>
      <p:sp>
        <p:nvSpPr>
          <p:cNvPr id="8" name="Shape 6"/>
          <p:cNvSpPr/>
          <p:nvPr/>
        </p:nvSpPr>
        <p:spPr>
          <a:xfrm>
            <a:off x="548640" y="1783080"/>
            <a:ext cx="6949440" cy="1463040"/>
          </a:xfrm>
          <a:prstGeom prst="roundRect">
            <a:avLst>
              <a:gd name="adj" fmla="val 6250"/>
            </a:avLst>
          </a:prstGeom>
          <a:solidFill>
            <a:srgbClr val="1B2A20"/>
          </a:solidFill>
          <a:ln w="12700">
            <a:solidFill>
              <a:srgbClr val="2C4636"/>
            </a:solidFill>
            <a:prstDash val="solid"/>
          </a:ln>
          <a:effectLst>
            <a:outerShdw sx="100000" sy="100000" kx="0" ky="0" algn="bl" rotWithShape="0" blurRad="127000" dist="38100" dir="5400000">
              <a:srgbClr val="000000">
                <a:alpha val="40000"/>
              </a:srgbClr>
            </a:outerShdw>
          </a:effectLst>
        </p:spPr>
      </p:sp>
      <p:sp>
        <p:nvSpPr>
          <p:cNvPr id="9" name="Text 7"/>
          <p:cNvSpPr/>
          <p:nvPr/>
        </p:nvSpPr>
        <p:spPr>
          <a:xfrm>
            <a:off x="822960" y="1874520"/>
            <a:ext cx="6492240" cy="685800"/>
          </a:xfrm>
          <a:prstGeom prst="rect">
            <a:avLst/>
          </a:prstGeom>
          <a:noFill/>
          <a:ln/>
        </p:spPr>
        <p:txBody>
          <a:bodyPr wrap="square" lIns="0" tIns="0" rIns="0" bIns="0" rtlCol="0" anchor="ctr">
            <a:normAutofit/>
          </a:bodyPr>
          <a:lstStyle/>
          <a:p>
            <a:pPr indent="0" marL="0">
              <a:buNone/>
            </a:pPr>
            <a:r>
              <a:rPr lang="en-US" sz="3000" b="1" dirty="0">
                <a:solidFill>
                  <a:srgbClr val="FF9E3D"/>
                </a:solidFill>
                <a:latin typeface="Arial" pitchFamily="34" charset="0"/>
                <a:ea typeface="Arial" pitchFamily="34" charset="-122"/>
                <a:cs typeface="Arial" pitchFamily="34" charset="-120"/>
              </a:rPr>
              <a:t>1.1 crore of ~6 crore</a:t>
            </a:r>
            <a:endParaRPr lang="en-US" sz="3000" dirty="0"/>
          </a:p>
        </p:txBody>
      </p:sp>
      <p:sp>
        <p:nvSpPr>
          <p:cNvPr id="10" name="Text 8"/>
          <p:cNvSpPr/>
          <p:nvPr/>
        </p:nvSpPr>
        <p:spPr>
          <a:xfrm>
            <a:off x="822960" y="2560320"/>
            <a:ext cx="6492240" cy="548640"/>
          </a:xfrm>
          <a:prstGeom prst="rect">
            <a:avLst/>
          </a:prstGeom>
          <a:noFill/>
          <a:ln/>
        </p:spPr>
        <p:txBody>
          <a:bodyPr wrap="square" lIns="0" tIns="0" rIns="0" bIns="0" rtlCol="0" anchor="ctr"/>
          <a:lstStyle/>
          <a:p>
            <a:pPr indent="0" marL="0">
              <a:buNone/>
            </a:pPr>
            <a:r>
              <a:rPr lang="en-US" sz="1350" dirty="0">
                <a:solidFill>
                  <a:srgbClr val="EEF3EE"/>
                </a:solidFill>
                <a:latin typeface="Calibri" pitchFamily="34" charset="0"/>
                <a:ea typeface="Calibri" pitchFamily="34" charset="-122"/>
                <a:cs typeface="Calibri" pitchFamily="34" charset="-120"/>
              </a:rPr>
              <a:t>seniors aged 70+ had their Ayushman Vay Vandana card by Feb 2026</a:t>
            </a:r>
            <a:endParaRPr lang="en-US" sz="1350" dirty="0"/>
          </a:p>
        </p:txBody>
      </p:sp>
      <p:sp>
        <p:nvSpPr>
          <p:cNvPr id="11" name="Text 9"/>
          <p:cNvSpPr/>
          <p:nvPr/>
        </p:nvSpPr>
        <p:spPr>
          <a:xfrm>
            <a:off x="640080" y="3474720"/>
            <a:ext cx="6766560" cy="265176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9DB0A4"/>
                </a:solidFill>
                <a:latin typeface="Calibri" pitchFamily="34" charset="0"/>
                <a:ea typeface="Calibri" pitchFamily="34" charset="-122"/>
                <a:cs typeface="Calibri" pitchFamily="34" charset="-120"/>
              </a:rPr>
              <a:t>Every benefits result leads with Ayushman Bharat; for anyone 70 or older it is the Vay Vandana card: up to ₹5 lakh a year of hospital care whatever their income (shared with a spouse who is also 70 or more; not for outpatient visits).</a:t>
            </a:r>
            <a:endParaRPr lang="en-US" sz="1250" dirty="0"/>
          </a:p>
          <a:p>
            <a:pPr marL="342900" indent="-342900">
              <a:spcAft>
                <a:spcPts val="600"/>
              </a:spcAft>
              <a:buSzPct val="100000"/>
              <a:buChar char="•"/>
            </a:pPr>
            <a:r>
              <a:rPr lang="en-US" sz="1250" dirty="0">
                <a:solidFill>
                  <a:srgbClr val="9DB0A4"/>
                </a:solidFill>
                <a:latin typeface="Calibri" pitchFamily="34" charset="0"/>
                <a:ea typeface="Calibri" pitchFamily="34" charset="-122"/>
                <a:cs typeface="Calibri" pitchFamily="34" charset="-120"/>
              </a:rPr>
              <a:t>One question, their age, finds them; the slip tells the operator what to make.</a:t>
            </a:r>
            <a:endParaRPr lang="en-US" sz="1250" dirty="0"/>
          </a:p>
          <a:p>
            <a:pPr marL="342900" indent="-342900">
              <a:spcAft>
                <a:spcPts val="600"/>
              </a:spcAft>
              <a:buSzPct val="100000"/>
              <a:buChar char="•"/>
            </a:pPr>
            <a:r>
              <a:rPr lang="en-US" sz="1250" dirty="0">
                <a:solidFill>
                  <a:srgbClr val="9DB0A4"/>
                </a:solidFill>
                <a:latin typeface="Calibri" pitchFamily="34" charset="0"/>
                <a:ea typeface="Calibri" pitchFamily="34" charset="-122"/>
                <a:cs typeface="Calibri" pitchFamily="34" charset="-120"/>
              </a:rPr>
              <a:t>The CSC makes the card at the counter, and is paid ₹20 per first-time card; the citizen pays nothing.</a:t>
            </a:r>
            <a:endParaRPr lang="en-US" sz="1250" dirty="0"/>
          </a:p>
          <a:p>
            <a:pPr marL="342900" indent="-342900">
              <a:spcAft>
                <a:spcPts val="600"/>
              </a:spcAft>
              <a:buSzPct val="100000"/>
              <a:buChar char="•"/>
            </a:pPr>
            <a:r>
              <a:rPr lang="en-US" sz="1250" dirty="0">
                <a:solidFill>
                  <a:srgbClr val="9DB0A4"/>
                </a:solidFill>
                <a:latin typeface="Calibri" pitchFamily="34" charset="0"/>
                <a:ea typeface="Calibri" pitchFamily="34" charset="-122"/>
                <a:cs typeface="Calibri" pitchFamily="34" charset="-120"/>
              </a:rPr>
              <a:t>The scam check flags "pay to get your Ayushman card" messages; the node counts seniors found, every month, with no personal data.</a:t>
            </a:r>
            <a:endParaRPr lang="en-US" sz="1250" dirty="0"/>
          </a:p>
        </p:txBody>
      </p:sp>
      <p:pic>
        <p:nvPicPr>
          <p:cNvPr id="12" name="Image 0" descr="/Users/rosh/Personal/Hackathons/Optum - Inclusive Innovation for Bharat Hackathon/Project/Sahayak/docs/deck/img/21_health_first_senior_hi.png">    </p:cNvPr>
          <p:cNvPicPr>
            <a:picLocks noChangeAspect="1"/>
          </p:cNvPicPr>
          <p:nvPr/>
        </p:nvPicPr>
        <p:blipFill>
          <a:blip r:embed="rId1"/>
          <a:stretch>
            <a:fillRect/>
          </a:stretch>
        </p:blipFill>
        <p:spPr>
          <a:xfrm>
            <a:off x="8366760" y="1783080"/>
            <a:ext cx="2514600" cy="4443984"/>
          </a:xfrm>
          <a:prstGeom prst="rect">
            <a:avLst/>
          </a:prstGeom>
        </p:spPr>
      </p:pic>
      <p:sp>
        <p:nvSpPr>
          <p:cNvPr id="13" name="Text 10"/>
          <p:cNvSpPr/>
          <p:nvPr/>
        </p:nvSpPr>
        <p:spPr>
          <a:xfrm>
            <a:off x="548640" y="6355080"/>
            <a:ext cx="11064240" cy="320040"/>
          </a:xfrm>
          <a:prstGeom prst="rect">
            <a:avLst/>
          </a:prstGeom>
          <a:noFill/>
          <a:ln/>
        </p:spPr>
        <p:txBody>
          <a:bodyPr wrap="square" lIns="0" tIns="0" rIns="0" bIns="0" rtlCol="0" anchor="t"/>
          <a:lstStyle/>
          <a:p>
            <a:pPr indent="0" marL="0">
              <a:buNone/>
            </a:pPr>
            <a:r>
              <a:rPr lang="en-US" sz="950" dirty="0">
                <a:solidFill>
                  <a:srgbClr val="6E8579"/>
                </a:solidFill>
                <a:latin typeface="Calibri" pitchFamily="34" charset="0"/>
                <a:ea typeface="Calibri" pitchFamily="34" charset="-122"/>
                <a:cs typeface="Calibri" pitchFamily="34" charset="-120"/>
              </a:rPr>
              <a:t>Sources: MoHFW, Feb 2026; Cabinet, Sep 2024; NHA–CSC MoU, 2021; Ministry of Labour</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F14"/>
        </a:solidFill>
      </p:bgPr>
    </p:bg>
    <p:spTree>
      <p:nvGrpSpPr>
        <p:cNvPr id="1" name=""/>
        <p:cNvGrpSpPr/>
        <p:nvPr/>
      </p:nvGrpSpPr>
      <p:grpSpPr>
        <a:xfrm>
          <a:off x="0" y="0"/>
          <a:ext cx="0" cy="0"/>
          <a:chOff x="0" y="0"/>
          <a:chExt cx="0" cy="0"/>
        </a:xfrm>
      </p:grpSpPr>
      <p:sp>
        <p:nvSpPr>
          <p:cNvPr id="2" name="Shape 0"/>
          <p:cNvSpPr/>
          <p:nvPr/>
        </p:nvSpPr>
        <p:spPr>
          <a:xfrm>
            <a:off x="11475720" y="384048"/>
            <a:ext cx="109728" cy="109728"/>
          </a:xfrm>
          <a:prstGeom prst="ellipse">
            <a:avLst/>
          </a:prstGeom>
          <a:solidFill>
            <a:srgbClr val="FF9E3D"/>
          </a:solidFill>
          <a:ln/>
        </p:spPr>
      </p:sp>
      <p:sp>
        <p:nvSpPr>
          <p:cNvPr id="3" name="Shape 1"/>
          <p:cNvSpPr/>
          <p:nvPr/>
        </p:nvSpPr>
        <p:spPr>
          <a:xfrm>
            <a:off x="11658600" y="384048"/>
            <a:ext cx="109728" cy="109728"/>
          </a:xfrm>
          <a:prstGeom prst="ellipse">
            <a:avLst/>
          </a:prstGeom>
          <a:solidFill>
            <a:srgbClr val="EEF3EE"/>
          </a:solidFill>
          <a:ln/>
        </p:spPr>
      </p:sp>
      <p:sp>
        <p:nvSpPr>
          <p:cNvPr id="4" name="Shape 2"/>
          <p:cNvSpPr/>
          <p:nvPr/>
        </p:nvSpPr>
        <p:spPr>
          <a:xfrm>
            <a:off x="11841480" y="384048"/>
            <a:ext cx="109728" cy="109728"/>
          </a:xfrm>
          <a:prstGeom prst="ellipse">
            <a:avLst/>
          </a:prstGeom>
          <a:solidFill>
            <a:srgbClr val="27C08A"/>
          </a:solidFill>
          <a:ln/>
        </p:spPr>
      </p:sp>
      <p:sp>
        <p:nvSpPr>
          <p:cNvPr id="5" name="Shape 3"/>
          <p:cNvSpPr/>
          <p:nvPr/>
        </p:nvSpPr>
        <p:spPr>
          <a:xfrm>
            <a:off x="566928" y="603504"/>
            <a:ext cx="128016" cy="128016"/>
          </a:xfrm>
          <a:prstGeom prst="ellipse">
            <a:avLst/>
          </a:prstGeom>
          <a:solidFill>
            <a:srgbClr val="27C08A"/>
          </a:solidFill>
          <a:ln/>
        </p:spPr>
      </p:sp>
      <p:sp>
        <p:nvSpPr>
          <p:cNvPr id="6" name="Text 4"/>
          <p:cNvSpPr/>
          <p:nvPr/>
        </p:nvSpPr>
        <p:spPr>
          <a:xfrm>
            <a:off x="777240" y="457200"/>
            <a:ext cx="10058400" cy="411480"/>
          </a:xfrm>
          <a:prstGeom prst="rect">
            <a:avLst/>
          </a:prstGeom>
          <a:noFill/>
          <a:ln/>
        </p:spPr>
        <p:txBody>
          <a:bodyPr wrap="square" lIns="0" tIns="0" rIns="0" bIns="0" rtlCol="0" anchor="ctr"/>
          <a:lstStyle/>
          <a:p>
            <a:pPr indent="0" marL="0">
              <a:buNone/>
            </a:pPr>
            <a:r>
              <a:rPr lang="en-US" sz="1250" b="1" spc="200" kern="0" dirty="0">
                <a:solidFill>
                  <a:srgbClr val="27C08A"/>
                </a:solidFill>
                <a:latin typeface="Arial" pitchFamily="34" charset="0"/>
                <a:ea typeface="Arial" pitchFamily="34" charset="-122"/>
                <a:cs typeface="Arial" pitchFamily="34" charset="-120"/>
              </a:rPr>
              <a:t>IMPACT METRICS</a:t>
            </a:r>
            <a:endParaRPr lang="en-US" sz="1250" dirty="0"/>
          </a:p>
        </p:txBody>
      </p:sp>
      <p:sp>
        <p:nvSpPr>
          <p:cNvPr id="7" name="Text 5"/>
          <p:cNvSpPr/>
          <p:nvPr/>
        </p:nvSpPr>
        <p:spPr>
          <a:xfrm>
            <a:off x="548640" y="868680"/>
            <a:ext cx="11064240" cy="914400"/>
          </a:xfrm>
          <a:prstGeom prst="rect">
            <a:avLst/>
          </a:prstGeom>
          <a:noFill/>
          <a:ln/>
        </p:spPr>
        <p:txBody>
          <a:bodyPr wrap="square" lIns="0" tIns="0" rIns="0" bIns="0" rtlCol="0" anchor="ctr"/>
          <a:lstStyle/>
          <a:p>
            <a:pPr indent="0" marL="0">
              <a:buNone/>
            </a:pPr>
            <a:r>
              <a:rPr lang="en-US" sz="3000" b="1" dirty="0">
                <a:solidFill>
                  <a:srgbClr val="EEF3EE"/>
                </a:solidFill>
                <a:latin typeface="Arial" pitchFamily="34" charset="0"/>
                <a:ea typeface="Arial" pitchFamily="34" charset="-122"/>
                <a:cs typeface="Arial" pitchFamily="34" charset="-120"/>
              </a:rPr>
              <a:t>From "account opened" to "citizen safe"</a:t>
            </a:r>
            <a:endParaRPr lang="en-US" sz="3000" dirty="0"/>
          </a:p>
        </p:txBody>
      </p:sp>
      <p:sp>
        <p:nvSpPr>
          <p:cNvPr id="8" name="Shape 6"/>
          <p:cNvSpPr/>
          <p:nvPr/>
        </p:nvSpPr>
        <p:spPr>
          <a:xfrm>
            <a:off x="548640" y="1828800"/>
            <a:ext cx="3520440" cy="2514600"/>
          </a:xfrm>
          <a:prstGeom prst="roundRect">
            <a:avLst>
              <a:gd name="adj" fmla="val 3636"/>
            </a:avLst>
          </a:prstGeom>
          <a:solidFill>
            <a:srgbClr val="152017"/>
          </a:solidFill>
          <a:ln w="12700">
            <a:solidFill>
              <a:srgbClr val="2C4636"/>
            </a:solidFill>
            <a:prstDash val="solid"/>
          </a:ln>
          <a:effectLst>
            <a:outerShdw sx="100000" sy="100000" kx="0" ky="0" algn="bl" rotWithShape="0" blurRad="127000" dist="38100" dir="5400000">
              <a:srgbClr val="000000">
                <a:alpha val="40000"/>
              </a:srgbClr>
            </a:outerShdw>
          </a:effectLst>
        </p:spPr>
      </p:sp>
      <p:sp>
        <p:nvSpPr>
          <p:cNvPr id="9" name="Text 7"/>
          <p:cNvSpPr/>
          <p:nvPr/>
        </p:nvSpPr>
        <p:spPr>
          <a:xfrm>
            <a:off x="850392" y="2084832"/>
            <a:ext cx="2926080" cy="731520"/>
          </a:xfrm>
          <a:prstGeom prst="rect">
            <a:avLst/>
          </a:prstGeom>
          <a:noFill/>
          <a:ln/>
        </p:spPr>
        <p:txBody>
          <a:bodyPr wrap="square" lIns="0" tIns="0" rIns="0" bIns="0" rtlCol="0" anchor="t"/>
          <a:lstStyle/>
          <a:p>
            <a:pPr indent="0" marL="0">
              <a:buNone/>
            </a:pPr>
            <a:r>
              <a:rPr lang="en-US" sz="1700" b="1" dirty="0">
                <a:solidFill>
                  <a:srgbClr val="FF9E3D"/>
                </a:solidFill>
                <a:latin typeface="Arial" pitchFamily="34" charset="0"/>
                <a:ea typeface="Arial" pitchFamily="34" charset="-122"/>
                <a:cs typeface="Arial" pitchFamily="34" charset="-120"/>
              </a:rPr>
              <a:t>Rupees at risk</a:t>
            </a:r>
            <a:endParaRPr lang="en-US" sz="1700" dirty="0"/>
          </a:p>
        </p:txBody>
      </p:sp>
      <p:sp>
        <p:nvSpPr>
          <p:cNvPr id="10" name="Text 8"/>
          <p:cNvSpPr/>
          <p:nvPr/>
        </p:nvSpPr>
        <p:spPr>
          <a:xfrm>
            <a:off x="850392" y="2852928"/>
            <a:ext cx="2971800" cy="1325880"/>
          </a:xfrm>
          <a:prstGeom prst="rect">
            <a:avLst/>
          </a:prstGeom>
          <a:noFill/>
          <a:ln/>
        </p:spPr>
        <p:txBody>
          <a:bodyPr wrap="square" lIns="0" tIns="0" rIns="0" bIns="0" rtlCol="0" anchor="t"/>
          <a:lstStyle/>
          <a:p>
            <a:pPr indent="0" marL="0">
              <a:buNone/>
            </a:pPr>
            <a:r>
              <a:rPr lang="en-US" sz="1250" dirty="0">
                <a:solidFill>
                  <a:srgbClr val="9DB0A4"/>
                </a:solidFill>
                <a:latin typeface="Calibri" pitchFamily="34" charset="0"/>
                <a:ea typeface="Calibri" pitchFamily="34" charset="-122"/>
                <a:cs typeface="Calibri" pitchFamily="34" charset="-120"/>
              </a:rPr>
              <a:t>The node adds up the money asked for in messages it flags, every month: never called "saved", always shown to the district without personal data.</a:t>
            </a:r>
            <a:endParaRPr lang="en-US" sz="1250" dirty="0"/>
          </a:p>
        </p:txBody>
      </p:sp>
      <p:sp>
        <p:nvSpPr>
          <p:cNvPr id="11" name="Shape 9"/>
          <p:cNvSpPr/>
          <p:nvPr/>
        </p:nvSpPr>
        <p:spPr>
          <a:xfrm>
            <a:off x="4315968" y="1828800"/>
            <a:ext cx="3520440" cy="2514600"/>
          </a:xfrm>
          <a:prstGeom prst="roundRect">
            <a:avLst>
              <a:gd name="adj" fmla="val 3636"/>
            </a:avLst>
          </a:prstGeom>
          <a:solidFill>
            <a:srgbClr val="152017"/>
          </a:solidFill>
          <a:ln w="12700">
            <a:solidFill>
              <a:srgbClr val="2C4636"/>
            </a:solidFill>
            <a:prstDash val="solid"/>
          </a:ln>
          <a:effectLst>
            <a:outerShdw sx="100000" sy="100000" kx="0" ky="0" algn="bl" rotWithShape="0" blurRad="127000" dist="38100" dir="5400000">
              <a:srgbClr val="000000">
                <a:alpha val="40000"/>
              </a:srgbClr>
            </a:outerShdw>
          </a:effectLst>
        </p:spPr>
      </p:sp>
      <p:sp>
        <p:nvSpPr>
          <p:cNvPr id="12" name="Text 10"/>
          <p:cNvSpPr/>
          <p:nvPr/>
        </p:nvSpPr>
        <p:spPr>
          <a:xfrm>
            <a:off x="4617720" y="2084832"/>
            <a:ext cx="2926080" cy="731520"/>
          </a:xfrm>
          <a:prstGeom prst="rect">
            <a:avLst/>
          </a:prstGeom>
          <a:noFill/>
          <a:ln/>
        </p:spPr>
        <p:txBody>
          <a:bodyPr wrap="square" lIns="0" tIns="0" rIns="0" bIns="0" rtlCol="0" anchor="t"/>
          <a:lstStyle/>
          <a:p>
            <a:pPr indent="0" marL="0">
              <a:buNone/>
            </a:pPr>
            <a:r>
              <a:rPr lang="en-US" sz="1700" b="1" dirty="0">
                <a:solidFill>
                  <a:srgbClr val="27C08A"/>
                </a:solidFill>
                <a:latin typeface="Arial" pitchFamily="34" charset="0"/>
                <a:ea typeface="Arial" pitchFamily="34" charset="-122"/>
                <a:cs typeface="Arial" pitchFamily="34" charset="-120"/>
              </a:rPr>
              <a:t>People found, health first</a:t>
            </a:r>
            <a:endParaRPr lang="en-US" sz="1700" dirty="0"/>
          </a:p>
        </p:txBody>
      </p:sp>
      <p:sp>
        <p:nvSpPr>
          <p:cNvPr id="13" name="Text 11"/>
          <p:cNvSpPr/>
          <p:nvPr/>
        </p:nvSpPr>
        <p:spPr>
          <a:xfrm>
            <a:off x="4617720" y="2852928"/>
            <a:ext cx="2971800" cy="1325880"/>
          </a:xfrm>
          <a:prstGeom prst="rect">
            <a:avLst/>
          </a:prstGeom>
          <a:noFill/>
          <a:ln/>
        </p:spPr>
        <p:txBody>
          <a:bodyPr wrap="square" lIns="0" tIns="0" rIns="0" bIns="0" rtlCol="0" anchor="t"/>
          <a:lstStyle/>
          <a:p>
            <a:pPr indent="0" marL="0">
              <a:buNone/>
            </a:pPr>
            <a:r>
              <a:rPr lang="en-US" sz="1250" dirty="0">
                <a:solidFill>
                  <a:srgbClr val="9DB0A4"/>
                </a:solidFill>
                <a:latin typeface="Calibri" pitchFamily="34" charset="0"/>
                <a:ea typeface="Calibri" pitchFamily="34" charset="-122"/>
                <a:cs typeface="Calibri" pitchFamily="34" charset="-120"/>
              </a:rPr>
              <a:t>People found eligible, by scheme, with seniors found for Ayushman Vay Vandana counted on their own; each slip lets the operator finish the form.</a:t>
            </a:r>
            <a:endParaRPr lang="en-US" sz="1250" dirty="0"/>
          </a:p>
        </p:txBody>
      </p:sp>
      <p:sp>
        <p:nvSpPr>
          <p:cNvPr id="14" name="Shape 12"/>
          <p:cNvSpPr/>
          <p:nvPr/>
        </p:nvSpPr>
        <p:spPr>
          <a:xfrm>
            <a:off x="8083296" y="1828800"/>
            <a:ext cx="3520440" cy="2514600"/>
          </a:xfrm>
          <a:prstGeom prst="roundRect">
            <a:avLst>
              <a:gd name="adj" fmla="val 3636"/>
            </a:avLst>
          </a:prstGeom>
          <a:solidFill>
            <a:srgbClr val="152017"/>
          </a:solidFill>
          <a:ln w="12700">
            <a:solidFill>
              <a:srgbClr val="2C4636"/>
            </a:solidFill>
            <a:prstDash val="solid"/>
          </a:ln>
          <a:effectLst>
            <a:outerShdw sx="100000" sy="100000" kx="0" ky="0" algn="bl" rotWithShape="0" blurRad="127000" dist="38100" dir="5400000">
              <a:srgbClr val="000000">
                <a:alpha val="40000"/>
              </a:srgbClr>
            </a:outerShdw>
          </a:effectLst>
        </p:spPr>
      </p:sp>
      <p:sp>
        <p:nvSpPr>
          <p:cNvPr id="15" name="Text 13"/>
          <p:cNvSpPr/>
          <p:nvPr/>
        </p:nvSpPr>
        <p:spPr>
          <a:xfrm>
            <a:off x="8385048" y="2084832"/>
            <a:ext cx="2926080" cy="731520"/>
          </a:xfrm>
          <a:prstGeom prst="rect">
            <a:avLst/>
          </a:prstGeom>
          <a:noFill/>
          <a:ln/>
        </p:spPr>
        <p:txBody>
          <a:bodyPr wrap="square" lIns="0" tIns="0" rIns="0" bIns="0" rtlCol="0" anchor="t"/>
          <a:lstStyle/>
          <a:p>
            <a:pPr indent="0" marL="0">
              <a:buNone/>
            </a:pPr>
            <a:r>
              <a:rPr lang="en-US" sz="1700" b="1" dirty="0">
                <a:solidFill>
                  <a:srgbClr val="4FE3B0"/>
                </a:solidFill>
                <a:latin typeface="Arial" pitchFamily="34" charset="0"/>
                <a:ea typeface="Arial" pitchFamily="34" charset="-122"/>
                <a:cs typeface="Arial" pitchFamily="34" charset="-120"/>
              </a:rPr>
              <a:t>Reported in time</a:t>
            </a:r>
            <a:endParaRPr lang="en-US" sz="1700" dirty="0"/>
          </a:p>
        </p:txBody>
      </p:sp>
      <p:sp>
        <p:nvSpPr>
          <p:cNvPr id="16" name="Text 14"/>
          <p:cNvSpPr/>
          <p:nvPr/>
        </p:nvSpPr>
        <p:spPr>
          <a:xfrm>
            <a:off x="8385048" y="2852928"/>
            <a:ext cx="2971800" cy="1325880"/>
          </a:xfrm>
          <a:prstGeom prst="rect">
            <a:avLst/>
          </a:prstGeom>
          <a:noFill/>
          <a:ln/>
        </p:spPr>
        <p:txBody>
          <a:bodyPr wrap="square" lIns="0" tIns="0" rIns="0" bIns="0" rtlCol="0" anchor="t"/>
          <a:lstStyle/>
          <a:p>
            <a:pPr indent="0" marL="0">
              <a:buNone/>
            </a:pPr>
            <a:r>
              <a:rPr lang="en-US" sz="1250" dirty="0">
                <a:solidFill>
                  <a:srgbClr val="9DB0A4"/>
                </a:solidFill>
                <a:latin typeface="Calibri" pitchFamily="34" charset="0"/>
                <a:ea typeface="Calibri" pitchFamily="34" charset="-122"/>
                <a:cs typeface="Calibri" pitchFamily="34" charset="-120"/>
              </a:rPr>
              <a:t>From 1 Jan 2027, RBI compensates small losses from stolen OTPs and PINs if reported within 5 days; Sahayak drafts the complaint on the spot. Money sent willingly is not compensated: there, stopping the payment is the only protection.</a:t>
            </a:r>
            <a:endParaRPr lang="en-US" sz="1250" dirty="0"/>
          </a:p>
        </p:txBody>
      </p:sp>
      <p:sp>
        <p:nvSpPr>
          <p:cNvPr id="17" name="Shape 15"/>
          <p:cNvSpPr/>
          <p:nvPr/>
        </p:nvSpPr>
        <p:spPr>
          <a:xfrm>
            <a:off x="548640" y="4572000"/>
            <a:ext cx="11064240" cy="1600200"/>
          </a:xfrm>
          <a:prstGeom prst="roundRect">
            <a:avLst>
              <a:gd name="adj" fmla="val 5714"/>
            </a:avLst>
          </a:prstGeom>
          <a:solidFill>
            <a:srgbClr val="1B2A20"/>
          </a:solidFill>
          <a:ln w="12700">
            <a:solidFill>
              <a:srgbClr val="2C4636"/>
            </a:solidFill>
            <a:prstDash val="solid"/>
          </a:ln>
          <a:effectLst>
            <a:outerShdw sx="100000" sy="100000" kx="0" ky="0" algn="bl" rotWithShape="0" blurRad="127000" dist="38100" dir="5400000">
              <a:srgbClr val="000000">
                <a:alpha val="40000"/>
              </a:srgbClr>
            </a:outerShdw>
          </a:effectLst>
        </p:spPr>
      </p:sp>
      <p:sp>
        <p:nvSpPr>
          <p:cNvPr id="18" name="Text 16"/>
          <p:cNvSpPr/>
          <p:nvPr/>
        </p:nvSpPr>
        <p:spPr>
          <a:xfrm>
            <a:off x="822960" y="4681728"/>
            <a:ext cx="10515600" cy="365760"/>
          </a:xfrm>
          <a:prstGeom prst="rect">
            <a:avLst/>
          </a:prstGeom>
          <a:noFill/>
          <a:ln/>
        </p:spPr>
        <p:txBody>
          <a:bodyPr wrap="square" lIns="0" tIns="0" rIns="0" bIns="0" rtlCol="0" anchor="ctr"/>
          <a:lstStyle/>
          <a:p>
            <a:pPr indent="0" marL="0">
              <a:buNone/>
            </a:pPr>
            <a:r>
              <a:rPr lang="en-US" sz="1450" b="1" dirty="0">
                <a:solidFill>
                  <a:srgbClr val="EEF3EE"/>
                </a:solidFill>
                <a:latin typeface="Arial" pitchFamily="34" charset="0"/>
                <a:ea typeface="Arial" pitchFamily="34" charset="-122"/>
                <a:cs typeface="Arial" pitchFamily="34" charset="-120"/>
              </a:rPr>
              <a:t>Pilot target, not a result</a:t>
            </a:r>
            <a:endParaRPr lang="en-US" sz="1450" dirty="0"/>
          </a:p>
        </p:txBody>
      </p:sp>
      <p:sp>
        <p:nvSpPr>
          <p:cNvPr id="19" name="Text 17"/>
          <p:cNvSpPr/>
          <p:nvPr/>
        </p:nvSpPr>
        <p:spPr>
          <a:xfrm>
            <a:off x="822960" y="5074920"/>
            <a:ext cx="10515600" cy="1005840"/>
          </a:xfrm>
          <a:prstGeom prst="rect">
            <a:avLst/>
          </a:prstGeom>
          <a:noFill/>
          <a:ln/>
        </p:spPr>
        <p:txBody>
          <a:bodyPr wrap="square" lIns="0" tIns="0" rIns="0" bIns="0" rtlCol="0" anchor="t"/>
          <a:lstStyle/>
          <a:p>
            <a:pPr indent="0" marL="0">
              <a:buNone/>
            </a:pPr>
            <a:r>
              <a:rPr lang="en-US" sz="1250" dirty="0">
                <a:solidFill>
                  <a:srgbClr val="9DB0A4"/>
                </a:solidFill>
                <a:latin typeface="Calibri" pitchFamily="34" charset="0"/>
                <a:ea typeface="Calibri" pitchFamily="34" charset="-122"/>
                <a:cs typeface="Calibri" pitchFamily="34" charset="-120"/>
              </a:rPr>
              <a:t>One district: about 20 villages and 50 counters (nodes at 20 CSCs, the phone app at 30 bank-agent points), six months, ₹39.2 lakh line by line. Scams flagged, people found eligible and cards made (the operator ticks each), all from the node's counters. A one-morning field test at a CSC (protocol and consent ready) comes first.</a:t>
            </a:r>
            <a:endParaRPr lang="en-US" sz="1250" dirty="0"/>
          </a:p>
        </p:txBody>
      </p:sp>
      <p:sp>
        <p:nvSpPr>
          <p:cNvPr id="20" name="Text 18"/>
          <p:cNvSpPr/>
          <p:nvPr/>
        </p:nvSpPr>
        <p:spPr>
          <a:xfrm>
            <a:off x="548640" y="6355080"/>
            <a:ext cx="11064240" cy="320040"/>
          </a:xfrm>
          <a:prstGeom prst="rect">
            <a:avLst/>
          </a:prstGeom>
          <a:noFill/>
          <a:ln/>
        </p:spPr>
        <p:txBody>
          <a:bodyPr wrap="square" lIns="0" tIns="0" rIns="0" bIns="0" rtlCol="0" anchor="t"/>
          <a:lstStyle/>
          <a:p>
            <a:pPr indent="0" marL="0">
              <a:buNone/>
            </a:pPr>
            <a:r>
              <a:rPr lang="en-US" sz="950" dirty="0">
                <a:solidFill>
                  <a:srgbClr val="6E8579"/>
                </a:solidFill>
                <a:latin typeface="Calibri" pitchFamily="34" charset="0"/>
                <a:ea typeface="Calibri" pitchFamily="34" charset="-122"/>
                <a:cs typeface="Calibri" pitchFamily="34" charset="-120"/>
              </a:rPr>
              <a:t>Sources: RBI (Commercial Banks – Responsible Business Conduct) Third Amendment Directions, 2026, paras 4(15A) and 76T; press release 2026-2027/533, 24 Jun 2026</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F14"/>
        </a:solidFill>
      </p:bgPr>
    </p:bg>
    <p:spTree>
      <p:nvGrpSpPr>
        <p:cNvPr id="1" name=""/>
        <p:cNvGrpSpPr/>
        <p:nvPr/>
      </p:nvGrpSpPr>
      <p:grpSpPr>
        <a:xfrm>
          <a:off x="0" y="0"/>
          <a:ext cx="0" cy="0"/>
          <a:chOff x="0" y="0"/>
          <a:chExt cx="0" cy="0"/>
        </a:xfrm>
      </p:grpSpPr>
      <p:sp>
        <p:nvSpPr>
          <p:cNvPr id="2" name="Shape 0"/>
          <p:cNvSpPr/>
          <p:nvPr/>
        </p:nvSpPr>
        <p:spPr>
          <a:xfrm>
            <a:off x="11475720" y="384048"/>
            <a:ext cx="109728" cy="109728"/>
          </a:xfrm>
          <a:prstGeom prst="ellipse">
            <a:avLst/>
          </a:prstGeom>
          <a:solidFill>
            <a:srgbClr val="FF9E3D"/>
          </a:solidFill>
          <a:ln/>
        </p:spPr>
      </p:sp>
      <p:sp>
        <p:nvSpPr>
          <p:cNvPr id="3" name="Shape 1"/>
          <p:cNvSpPr/>
          <p:nvPr/>
        </p:nvSpPr>
        <p:spPr>
          <a:xfrm>
            <a:off x="11658600" y="384048"/>
            <a:ext cx="109728" cy="109728"/>
          </a:xfrm>
          <a:prstGeom prst="ellipse">
            <a:avLst/>
          </a:prstGeom>
          <a:solidFill>
            <a:srgbClr val="EEF3EE"/>
          </a:solidFill>
          <a:ln/>
        </p:spPr>
      </p:sp>
      <p:sp>
        <p:nvSpPr>
          <p:cNvPr id="4" name="Shape 2"/>
          <p:cNvSpPr/>
          <p:nvPr/>
        </p:nvSpPr>
        <p:spPr>
          <a:xfrm>
            <a:off x="11841480" y="384048"/>
            <a:ext cx="109728" cy="109728"/>
          </a:xfrm>
          <a:prstGeom prst="ellipse">
            <a:avLst/>
          </a:prstGeom>
          <a:solidFill>
            <a:srgbClr val="27C08A"/>
          </a:solidFill>
          <a:ln/>
        </p:spPr>
      </p:sp>
      <p:sp>
        <p:nvSpPr>
          <p:cNvPr id="5" name="Shape 3"/>
          <p:cNvSpPr/>
          <p:nvPr/>
        </p:nvSpPr>
        <p:spPr>
          <a:xfrm>
            <a:off x="566928" y="603504"/>
            <a:ext cx="128016" cy="128016"/>
          </a:xfrm>
          <a:prstGeom prst="ellipse">
            <a:avLst/>
          </a:prstGeom>
          <a:solidFill>
            <a:srgbClr val="27C08A"/>
          </a:solidFill>
          <a:ln/>
        </p:spPr>
      </p:sp>
      <p:sp>
        <p:nvSpPr>
          <p:cNvPr id="6" name="Text 4"/>
          <p:cNvSpPr/>
          <p:nvPr/>
        </p:nvSpPr>
        <p:spPr>
          <a:xfrm>
            <a:off x="777240" y="457200"/>
            <a:ext cx="10058400" cy="411480"/>
          </a:xfrm>
          <a:prstGeom prst="rect">
            <a:avLst/>
          </a:prstGeom>
          <a:noFill/>
          <a:ln/>
        </p:spPr>
        <p:txBody>
          <a:bodyPr wrap="square" lIns="0" tIns="0" rIns="0" bIns="0" rtlCol="0" anchor="ctr"/>
          <a:lstStyle/>
          <a:p>
            <a:pPr indent="0" marL="0">
              <a:buNone/>
            </a:pPr>
            <a:r>
              <a:rPr lang="en-US" sz="1250" b="1" spc="200" kern="0" dirty="0">
                <a:solidFill>
                  <a:srgbClr val="27C08A"/>
                </a:solidFill>
                <a:latin typeface="Arial" pitchFamily="34" charset="0"/>
                <a:ea typeface="Arial" pitchFamily="34" charset="-122"/>
                <a:cs typeface="Arial" pitchFamily="34" charset="-120"/>
              </a:rPr>
              <a:t>SCALABILITY AND SUSTAINABILITY</a:t>
            </a:r>
            <a:endParaRPr lang="en-US" sz="1250" dirty="0"/>
          </a:p>
        </p:txBody>
      </p:sp>
      <p:sp>
        <p:nvSpPr>
          <p:cNvPr id="7" name="Text 5"/>
          <p:cNvSpPr/>
          <p:nvPr/>
        </p:nvSpPr>
        <p:spPr>
          <a:xfrm>
            <a:off x="548640" y="868680"/>
            <a:ext cx="11064240" cy="914400"/>
          </a:xfrm>
          <a:prstGeom prst="rect">
            <a:avLst/>
          </a:prstGeom>
          <a:noFill/>
          <a:ln/>
        </p:spPr>
        <p:txBody>
          <a:bodyPr wrap="square" lIns="0" tIns="0" rIns="0" bIns="0" rtlCol="0" anchor="ctr"/>
          <a:lstStyle/>
          <a:p>
            <a:pPr indent="0" marL="0">
              <a:buNone/>
            </a:pPr>
            <a:r>
              <a:rPr lang="en-US" sz="3000" b="1" dirty="0">
                <a:solidFill>
                  <a:srgbClr val="EEF3EE"/>
                </a:solidFill>
                <a:latin typeface="Arial" pitchFamily="34" charset="0"/>
                <a:ea typeface="Arial" pitchFamily="34" charset="-122"/>
                <a:cs typeface="Arial" pitchFamily="34" charset="-120"/>
              </a:rPr>
              <a:t>Grow by replication; paid for by those who gain</a:t>
            </a:r>
            <a:endParaRPr lang="en-US" sz="3000" dirty="0"/>
          </a:p>
        </p:txBody>
      </p:sp>
      <p:sp>
        <p:nvSpPr>
          <p:cNvPr id="8" name="Shape 6"/>
          <p:cNvSpPr/>
          <p:nvPr/>
        </p:nvSpPr>
        <p:spPr>
          <a:xfrm>
            <a:off x="548640" y="1783080"/>
            <a:ext cx="5349240" cy="4389120"/>
          </a:xfrm>
          <a:prstGeom prst="roundRect">
            <a:avLst>
              <a:gd name="adj" fmla="val 2083"/>
            </a:avLst>
          </a:prstGeom>
          <a:solidFill>
            <a:srgbClr val="152017"/>
          </a:solidFill>
          <a:ln w="12700">
            <a:solidFill>
              <a:srgbClr val="2C4636"/>
            </a:solidFill>
            <a:prstDash val="solid"/>
          </a:ln>
          <a:effectLst>
            <a:outerShdw sx="100000" sy="100000" kx="0" ky="0" algn="bl" rotWithShape="0" blurRad="127000" dist="38100" dir="5400000">
              <a:srgbClr val="000000">
                <a:alpha val="40000"/>
              </a:srgbClr>
            </a:outerShdw>
          </a:effectLst>
        </p:spPr>
      </p:sp>
      <p:sp>
        <p:nvSpPr>
          <p:cNvPr id="9" name="Text 7"/>
          <p:cNvSpPr/>
          <p:nvPr/>
        </p:nvSpPr>
        <p:spPr>
          <a:xfrm>
            <a:off x="822960" y="1965960"/>
            <a:ext cx="4846320" cy="411480"/>
          </a:xfrm>
          <a:prstGeom prst="rect">
            <a:avLst/>
          </a:prstGeom>
          <a:noFill/>
          <a:ln/>
        </p:spPr>
        <p:txBody>
          <a:bodyPr wrap="square" lIns="0" tIns="0" rIns="0" bIns="0" rtlCol="0" anchor="ctr"/>
          <a:lstStyle/>
          <a:p>
            <a:pPr indent="0" marL="0">
              <a:buNone/>
            </a:pPr>
            <a:r>
              <a:rPr lang="en-US" sz="1600" b="1" dirty="0">
                <a:solidFill>
                  <a:srgbClr val="27C08A"/>
                </a:solidFill>
                <a:latin typeface="Arial" pitchFamily="34" charset="0"/>
                <a:ea typeface="Arial" pitchFamily="34" charset="-122"/>
                <a:cs typeface="Arial" pitchFamily="34" charset="-120"/>
              </a:rPr>
              <a:t>Replication, not reinvention</a:t>
            </a:r>
            <a:endParaRPr lang="en-US" sz="1600" dirty="0"/>
          </a:p>
        </p:txBody>
      </p:sp>
      <p:sp>
        <p:nvSpPr>
          <p:cNvPr id="10" name="Text 8"/>
          <p:cNvSpPr/>
          <p:nvPr/>
        </p:nvSpPr>
        <p:spPr>
          <a:xfrm>
            <a:off x="822960" y="2468880"/>
            <a:ext cx="4892040" cy="356616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9DB0A4"/>
                </a:solidFill>
                <a:latin typeface="Calibri" pitchFamily="34" charset="0"/>
                <a:ea typeface="Calibri" pitchFamily="34" charset="-122"/>
                <a:cs typeface="Calibri" pitchFamily="34" charset="-120"/>
              </a:rPr>
              <a:t>6 lakh functional CSCs, 4.7 lakh of them at gram-panchayat level: the counters already exist.</a:t>
            </a:r>
            <a:endParaRPr lang="en-US" sz="1250" dirty="0"/>
          </a:p>
          <a:p>
            <a:pPr marL="342900" indent="-342900">
              <a:spcAft>
                <a:spcPts val="600"/>
              </a:spcAft>
              <a:buSzPct val="100000"/>
              <a:buChar char="•"/>
            </a:pPr>
            <a:r>
              <a:rPr lang="en-US" sz="1250" dirty="0">
                <a:solidFill>
                  <a:srgbClr val="9DB0A4"/>
                </a:solidFill>
                <a:latin typeface="Calibri" pitchFamily="34" charset="0"/>
                <a:ea typeface="Calibri" pitchFamily="34" charset="-122"/>
                <a:cs typeface="Calibri" pitchFamily="34" charset="-120"/>
              </a:rPr>
              <a:t>A deployment is a node image, signed packs and a one-page operator guide; a new scam or scheme is a pack update by USB.</a:t>
            </a:r>
            <a:endParaRPr lang="en-US" sz="1250" dirty="0"/>
          </a:p>
          <a:p>
            <a:pPr marL="342900" indent="-342900">
              <a:spcAft>
                <a:spcPts val="600"/>
              </a:spcAft>
              <a:buSzPct val="100000"/>
              <a:buChar char="•"/>
            </a:pPr>
            <a:r>
              <a:rPr lang="en-US" sz="1250" dirty="0">
                <a:solidFill>
                  <a:srgbClr val="9DB0A4"/>
                </a:solidFill>
                <a:latin typeface="Calibri" pitchFamily="34" charset="0"/>
                <a:ea typeface="Calibri" pitchFamily="34" charset="-122"/>
                <a:cs typeface="Calibri" pitchFamily="34" charset="-120"/>
              </a:rPr>
              <a:t>Every phone that visits can keep its own copy, so protection spreads beyond the counter at no extra cost.</a:t>
            </a:r>
            <a:endParaRPr lang="en-US" sz="1250" dirty="0"/>
          </a:p>
          <a:p>
            <a:pPr marL="342900" indent="-342900">
              <a:spcAft>
                <a:spcPts val="600"/>
              </a:spcAft>
              <a:buSzPct val="100000"/>
              <a:buChar char="•"/>
            </a:pPr>
            <a:r>
              <a:rPr lang="en-US" sz="1250" dirty="0">
                <a:solidFill>
                  <a:srgbClr val="9DB0A4"/>
                </a:solidFill>
                <a:latin typeface="Calibri" pitchFamily="34" charset="0"/>
                <a:ea typeface="Calibri" pitchFamily="34" charset="-122"/>
                <a:cs typeface="Calibri" pitchFamily="34" charset="-120"/>
              </a:rPr>
              <a:t>No cloud and no per-query fee; open, tested rules any state can audit.</a:t>
            </a:r>
            <a:endParaRPr lang="en-US" sz="1250" dirty="0"/>
          </a:p>
        </p:txBody>
      </p:sp>
      <p:sp>
        <p:nvSpPr>
          <p:cNvPr id="11" name="Shape 9"/>
          <p:cNvSpPr/>
          <p:nvPr/>
        </p:nvSpPr>
        <p:spPr>
          <a:xfrm>
            <a:off x="6080760" y="1783080"/>
            <a:ext cx="5532120" cy="4389120"/>
          </a:xfrm>
          <a:prstGeom prst="roundRect">
            <a:avLst>
              <a:gd name="adj" fmla="val 2083"/>
            </a:avLst>
          </a:prstGeom>
          <a:solidFill>
            <a:srgbClr val="1B2A20"/>
          </a:solidFill>
          <a:ln w="12700">
            <a:solidFill>
              <a:srgbClr val="2C4636"/>
            </a:solidFill>
            <a:prstDash val="solid"/>
          </a:ln>
          <a:effectLst>
            <a:outerShdw sx="100000" sy="100000" kx="0" ky="0" algn="bl" rotWithShape="0" blurRad="127000" dist="38100" dir="5400000">
              <a:srgbClr val="000000">
                <a:alpha val="40000"/>
              </a:srgbClr>
            </a:outerShdw>
          </a:effectLst>
        </p:spPr>
      </p:sp>
      <p:sp>
        <p:nvSpPr>
          <p:cNvPr id="12" name="Text 10"/>
          <p:cNvSpPr/>
          <p:nvPr/>
        </p:nvSpPr>
        <p:spPr>
          <a:xfrm>
            <a:off x="6355080" y="1965960"/>
            <a:ext cx="5029200" cy="411480"/>
          </a:xfrm>
          <a:prstGeom prst="rect">
            <a:avLst/>
          </a:prstGeom>
          <a:noFill/>
          <a:ln/>
        </p:spPr>
        <p:txBody>
          <a:bodyPr wrap="square" lIns="0" tIns="0" rIns="0" bIns="0" rtlCol="0" anchor="ctr"/>
          <a:lstStyle/>
          <a:p>
            <a:pPr indent="0" marL="0">
              <a:buNone/>
            </a:pPr>
            <a:r>
              <a:rPr lang="en-US" sz="1600" b="1" dirty="0">
                <a:solidFill>
                  <a:srgbClr val="FF9E3D"/>
                </a:solidFill>
                <a:latin typeface="Arial" pitchFamily="34" charset="0"/>
                <a:ea typeface="Arial" pitchFamily="34" charset="-122"/>
                <a:cs typeface="Arial" pitchFamily="34" charset="-120"/>
              </a:rPr>
              <a:t>Who pays</a:t>
            </a:r>
            <a:endParaRPr lang="en-US" sz="1600" dirty="0"/>
          </a:p>
        </p:txBody>
      </p:sp>
      <p:sp>
        <p:nvSpPr>
          <p:cNvPr id="13" name="Text 11"/>
          <p:cNvSpPr/>
          <p:nvPr/>
        </p:nvSpPr>
        <p:spPr>
          <a:xfrm>
            <a:off x="6355080" y="2423160"/>
            <a:ext cx="5029200" cy="548640"/>
          </a:xfrm>
          <a:prstGeom prst="rect">
            <a:avLst/>
          </a:prstGeom>
          <a:noFill/>
          <a:ln/>
        </p:spPr>
        <p:txBody>
          <a:bodyPr wrap="square" lIns="0" tIns="0" rIns="0" bIns="0" rtlCol="0" anchor="ctr">
            <a:normAutofit/>
          </a:bodyPr>
          <a:lstStyle/>
          <a:p>
            <a:pPr indent="0" marL="0">
              <a:buNone/>
            </a:pPr>
            <a:r>
              <a:rPr lang="en-US" sz="2400" b="1" dirty="0">
                <a:solidFill>
                  <a:srgbClr val="EEF3EE"/>
                </a:solidFill>
                <a:latin typeface="Arial" pitchFamily="34" charset="0"/>
                <a:ea typeface="Arial" pitchFamily="34" charset="-122"/>
                <a:cs typeface="Arial" pitchFamily="34" charset="-120"/>
              </a:rPr>
              <a:t>₹25,000–35,000</a:t>
            </a:r>
            <a:endParaRPr lang="en-US" sz="2400" dirty="0"/>
          </a:p>
        </p:txBody>
      </p:sp>
      <p:sp>
        <p:nvSpPr>
          <p:cNvPr id="14" name="Text 12"/>
          <p:cNvSpPr/>
          <p:nvPr/>
        </p:nvSpPr>
        <p:spPr>
          <a:xfrm>
            <a:off x="6355080" y="2971800"/>
            <a:ext cx="5029200" cy="457200"/>
          </a:xfrm>
          <a:prstGeom prst="rect">
            <a:avLst/>
          </a:prstGeom>
          <a:noFill/>
          <a:ln/>
        </p:spPr>
        <p:txBody>
          <a:bodyPr wrap="square" lIns="0" tIns="0" rIns="0" bIns="0" rtlCol="0" anchor="ctr"/>
          <a:lstStyle/>
          <a:p>
            <a:pPr indent="0" marL="0">
              <a:buNone/>
            </a:pPr>
            <a:r>
              <a:rPr lang="en-US" sz="1200" dirty="0">
                <a:solidFill>
                  <a:srgbClr val="9DB0A4"/>
                </a:solidFill>
                <a:latin typeface="Calibri" pitchFamily="34" charset="0"/>
                <a:ea typeface="Calibri" pitchFamily="34" charset="-122"/>
                <a:cs typeface="Calibri" pitchFamily="34" charset="-120"/>
              </a:rPr>
              <a:t>once per node (an N150 mini-PC (8–16 GB) or a refurbished i5 laptop); each check costs nothing.</a:t>
            </a:r>
            <a:endParaRPr lang="en-US" sz="1200" dirty="0"/>
          </a:p>
        </p:txBody>
      </p:sp>
      <p:sp>
        <p:nvSpPr>
          <p:cNvPr id="15" name="Text 13"/>
          <p:cNvSpPr/>
          <p:nvPr/>
        </p:nvSpPr>
        <p:spPr>
          <a:xfrm>
            <a:off x="6355080" y="3520440"/>
            <a:ext cx="5029200" cy="256032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9DB0A4"/>
                </a:solidFill>
                <a:latin typeface="Calibri" pitchFamily="34" charset="0"/>
                <a:ea typeface="Calibri" pitchFamily="34" charset="-122"/>
                <a:cs typeface="Calibri" pitchFamily="34" charset="-120"/>
              </a:rPr>
              <a:t>Banks: financial-inclusion or CSR budgets for their agent points, as customer education; fewer small-fraud payouts (shared with RBI from 1 Jan 2027) are a bonus, not the case.</a:t>
            </a:r>
            <a:endParaRPr lang="en-US" sz="1250" dirty="0"/>
          </a:p>
          <a:p>
            <a:pPr marL="342900" indent="-342900">
              <a:spcAft>
                <a:spcPts val="600"/>
              </a:spcAft>
              <a:buSzPct val="100000"/>
              <a:buChar char="•"/>
            </a:pPr>
            <a:r>
              <a:rPr lang="en-US" sz="1250" dirty="0">
                <a:solidFill>
                  <a:srgbClr val="9DB0A4"/>
                </a:solidFill>
                <a:latin typeface="Calibri" pitchFamily="34" charset="0"/>
                <a:ea typeface="Calibri" pitchFamily="34" charset="-122"/>
                <a:cs typeface="Calibri" pitchFamily="34" charset="-120"/>
              </a:rPr>
              <a:t>The CSC network: paid about ₹20 per first-time Ayushman card or e-Shram registration Sahayak sends to the counter (how much reaches the operator varies); 86% of rural operators earn under ₹500 a month.</a:t>
            </a:r>
            <a:endParaRPr lang="en-US" sz="1250" dirty="0"/>
          </a:p>
          <a:p>
            <a:pPr marL="342900" indent="-342900">
              <a:spcAft>
                <a:spcPts val="600"/>
              </a:spcAft>
              <a:buSzPct val="100000"/>
              <a:buChar char="•"/>
            </a:pPr>
            <a:r>
              <a:rPr lang="en-US" sz="1250" dirty="0">
                <a:solidFill>
                  <a:srgbClr val="9DB0A4"/>
                </a:solidFill>
                <a:latin typeface="Calibri" pitchFamily="34" charset="0"/>
                <a:ea typeface="Calibri" pitchFamily="34" charset="-122"/>
                <a:cs typeface="Calibri" pitchFamily="34" charset="-120"/>
              </a:rPr>
              <a:t>The State Health Agency and the district: Vay Vandana card drives at the CSCs, funded against a signed monthly count of cards made.</a:t>
            </a:r>
            <a:endParaRPr lang="en-US" sz="1250" dirty="0"/>
          </a:p>
        </p:txBody>
      </p:sp>
      <p:sp>
        <p:nvSpPr>
          <p:cNvPr id="16" name="Text 14"/>
          <p:cNvSpPr/>
          <p:nvPr/>
        </p:nvSpPr>
        <p:spPr>
          <a:xfrm>
            <a:off x="548640" y="6355080"/>
            <a:ext cx="11064240" cy="320040"/>
          </a:xfrm>
          <a:prstGeom prst="rect">
            <a:avLst/>
          </a:prstGeom>
          <a:noFill/>
          <a:ln/>
        </p:spPr>
        <p:txBody>
          <a:bodyPr wrap="square" lIns="0" tIns="0" rIns="0" bIns="0" rtlCol="0" anchor="t"/>
          <a:lstStyle/>
          <a:p>
            <a:pPr indent="0" marL="0">
              <a:buNone/>
            </a:pPr>
            <a:r>
              <a:rPr lang="en-US" sz="950" dirty="0">
                <a:solidFill>
                  <a:srgbClr val="6E8579"/>
                </a:solidFill>
                <a:latin typeface="Calibri" pitchFamily="34" charset="0"/>
                <a:ea typeface="Calibri" pitchFamily="34" charset="-122"/>
                <a:cs typeface="Calibri" pitchFamily="34" charset="-120"/>
              </a:rPr>
              <a:t>Sources: MeitY, Rajya Sabha, Mar 2025; Amazon.in listings, 6 Oct 2026; RBI (Commercial Banks – Responsible Business Conduct) Third Amendment Directions, 2026, paras 4(15A) and 76T; press release 2026-2027/533, 24 Jun 2026; NHA–CSC MoU, 2021; Ministry of Labour; CAG audit, reported Apr 2026</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0F14"/>
        </a:solidFill>
      </p:bgPr>
    </p:bg>
    <p:spTree>
      <p:nvGrpSpPr>
        <p:cNvPr id="1" name=""/>
        <p:cNvGrpSpPr/>
        <p:nvPr/>
      </p:nvGrpSpPr>
      <p:grpSpPr>
        <a:xfrm>
          <a:off x="0" y="0"/>
          <a:ext cx="0" cy="0"/>
          <a:chOff x="0" y="0"/>
          <a:chExt cx="0" cy="0"/>
        </a:xfrm>
      </p:grpSpPr>
      <p:sp>
        <p:nvSpPr>
          <p:cNvPr id="2" name="Shape 0"/>
          <p:cNvSpPr/>
          <p:nvPr/>
        </p:nvSpPr>
        <p:spPr>
          <a:xfrm>
            <a:off x="11475720" y="384048"/>
            <a:ext cx="109728" cy="109728"/>
          </a:xfrm>
          <a:prstGeom prst="ellipse">
            <a:avLst/>
          </a:prstGeom>
          <a:solidFill>
            <a:srgbClr val="FF9E3D"/>
          </a:solidFill>
          <a:ln/>
        </p:spPr>
      </p:sp>
      <p:sp>
        <p:nvSpPr>
          <p:cNvPr id="3" name="Shape 1"/>
          <p:cNvSpPr/>
          <p:nvPr/>
        </p:nvSpPr>
        <p:spPr>
          <a:xfrm>
            <a:off x="11658600" y="384048"/>
            <a:ext cx="109728" cy="109728"/>
          </a:xfrm>
          <a:prstGeom prst="ellipse">
            <a:avLst/>
          </a:prstGeom>
          <a:solidFill>
            <a:srgbClr val="EEF3EE"/>
          </a:solidFill>
          <a:ln/>
        </p:spPr>
      </p:sp>
      <p:sp>
        <p:nvSpPr>
          <p:cNvPr id="4" name="Shape 2"/>
          <p:cNvSpPr/>
          <p:nvPr/>
        </p:nvSpPr>
        <p:spPr>
          <a:xfrm>
            <a:off x="11841480" y="384048"/>
            <a:ext cx="109728" cy="109728"/>
          </a:xfrm>
          <a:prstGeom prst="ellipse">
            <a:avLst/>
          </a:prstGeom>
          <a:solidFill>
            <a:srgbClr val="27C08A"/>
          </a:solidFill>
          <a:ln/>
        </p:spPr>
      </p:sp>
      <p:sp>
        <p:nvSpPr>
          <p:cNvPr id="5" name="Shape 3"/>
          <p:cNvSpPr/>
          <p:nvPr/>
        </p:nvSpPr>
        <p:spPr>
          <a:xfrm>
            <a:off x="566928" y="603504"/>
            <a:ext cx="128016" cy="128016"/>
          </a:xfrm>
          <a:prstGeom prst="ellipse">
            <a:avLst/>
          </a:prstGeom>
          <a:solidFill>
            <a:srgbClr val="27C08A"/>
          </a:solidFill>
          <a:ln/>
        </p:spPr>
      </p:sp>
      <p:sp>
        <p:nvSpPr>
          <p:cNvPr id="6" name="Text 4"/>
          <p:cNvSpPr/>
          <p:nvPr/>
        </p:nvSpPr>
        <p:spPr>
          <a:xfrm>
            <a:off x="777240" y="457200"/>
            <a:ext cx="10058400" cy="411480"/>
          </a:xfrm>
          <a:prstGeom prst="rect">
            <a:avLst/>
          </a:prstGeom>
          <a:noFill/>
          <a:ln/>
        </p:spPr>
        <p:txBody>
          <a:bodyPr wrap="square" lIns="0" tIns="0" rIns="0" bIns="0" rtlCol="0" anchor="ctr"/>
          <a:lstStyle/>
          <a:p>
            <a:pPr indent="0" marL="0">
              <a:buNone/>
            </a:pPr>
            <a:r>
              <a:rPr lang="en-US" sz="1250" b="1" spc="200" kern="0" dirty="0">
                <a:solidFill>
                  <a:srgbClr val="27C08A"/>
                </a:solidFill>
                <a:latin typeface="Arial" pitchFamily="34" charset="0"/>
                <a:ea typeface="Arial" pitchFamily="34" charset="-122"/>
                <a:cs typeface="Arial" pitchFamily="34" charset="-120"/>
              </a:rPr>
              <a:t>THEME ALIGNMENT</a:t>
            </a:r>
            <a:endParaRPr lang="en-US" sz="1250" dirty="0"/>
          </a:p>
        </p:txBody>
      </p:sp>
      <p:sp>
        <p:nvSpPr>
          <p:cNvPr id="7" name="Text 5"/>
          <p:cNvSpPr/>
          <p:nvPr/>
        </p:nvSpPr>
        <p:spPr>
          <a:xfrm>
            <a:off x="548640" y="868680"/>
            <a:ext cx="11064240" cy="914400"/>
          </a:xfrm>
          <a:prstGeom prst="rect">
            <a:avLst/>
          </a:prstGeom>
          <a:noFill/>
          <a:ln/>
        </p:spPr>
        <p:txBody>
          <a:bodyPr wrap="square" lIns="0" tIns="0" rIns="0" bIns="0" rtlCol="0" anchor="ctr"/>
          <a:lstStyle/>
          <a:p>
            <a:pPr indent="0" marL="0">
              <a:buNone/>
            </a:pPr>
            <a:r>
              <a:rPr lang="en-US" sz="3000" b="1" dirty="0">
                <a:solidFill>
                  <a:srgbClr val="EEF3EE"/>
                </a:solidFill>
                <a:latin typeface="Arial" pitchFamily="34" charset="0"/>
                <a:ea typeface="Arial" pitchFamily="34" charset="-122"/>
                <a:cs typeface="Arial" pitchFamily="34" charset="-120"/>
              </a:rPr>
              <a:t>Inclusive innovation on India's own rails</a:t>
            </a:r>
            <a:endParaRPr lang="en-US" sz="3000" dirty="0"/>
          </a:p>
        </p:txBody>
      </p:sp>
      <p:sp>
        <p:nvSpPr>
          <p:cNvPr id="8" name="Shape 6"/>
          <p:cNvSpPr/>
          <p:nvPr/>
        </p:nvSpPr>
        <p:spPr>
          <a:xfrm>
            <a:off x="548640" y="2011680"/>
            <a:ext cx="3520440" cy="1783080"/>
          </a:xfrm>
          <a:prstGeom prst="roundRect">
            <a:avLst>
              <a:gd name="adj" fmla="val 5128"/>
            </a:avLst>
          </a:prstGeom>
          <a:solidFill>
            <a:srgbClr val="152017"/>
          </a:solidFill>
          <a:ln w="12700">
            <a:solidFill>
              <a:srgbClr val="2C4636"/>
            </a:solidFill>
            <a:prstDash val="solid"/>
          </a:ln>
          <a:effectLst>
            <a:outerShdw sx="100000" sy="100000" kx="0" ky="0" algn="bl" rotWithShape="0" blurRad="127000" dist="38100" dir="5400000">
              <a:srgbClr val="000000">
                <a:alpha val="40000"/>
              </a:srgbClr>
            </a:outerShdw>
          </a:effectLst>
        </p:spPr>
      </p:sp>
      <p:sp>
        <p:nvSpPr>
          <p:cNvPr id="9" name="Text 7"/>
          <p:cNvSpPr/>
          <p:nvPr/>
        </p:nvSpPr>
        <p:spPr>
          <a:xfrm>
            <a:off x="822960" y="2212848"/>
            <a:ext cx="3017520" cy="502920"/>
          </a:xfrm>
          <a:prstGeom prst="rect">
            <a:avLst/>
          </a:prstGeom>
          <a:noFill/>
          <a:ln/>
        </p:spPr>
        <p:txBody>
          <a:bodyPr wrap="square" lIns="0" tIns="0" rIns="0" bIns="0" rtlCol="0" anchor="ctr"/>
          <a:lstStyle/>
          <a:p>
            <a:pPr indent="0" marL="0">
              <a:buNone/>
            </a:pPr>
            <a:r>
              <a:rPr lang="en-US" sz="1450" b="1" dirty="0">
                <a:solidFill>
                  <a:srgbClr val="27C08A"/>
                </a:solidFill>
                <a:latin typeface="Arial" pitchFamily="34" charset="0"/>
                <a:ea typeface="Arial" pitchFamily="34" charset="-122"/>
                <a:cs typeface="Arial" pitchFamily="34" charset="-120"/>
              </a:rPr>
              <a:t>Financial inclusion, made safe</a:t>
            </a:r>
            <a:endParaRPr lang="en-US" sz="1450" dirty="0"/>
          </a:p>
        </p:txBody>
      </p:sp>
      <p:sp>
        <p:nvSpPr>
          <p:cNvPr id="10" name="Text 8"/>
          <p:cNvSpPr/>
          <p:nvPr/>
        </p:nvSpPr>
        <p:spPr>
          <a:xfrm>
            <a:off x="822960" y="2743200"/>
            <a:ext cx="3017520" cy="960120"/>
          </a:xfrm>
          <a:prstGeom prst="rect">
            <a:avLst/>
          </a:prstGeom>
          <a:noFill/>
          <a:ln/>
        </p:spPr>
        <p:txBody>
          <a:bodyPr wrap="square" lIns="0" tIns="0" rIns="0" bIns="0" rtlCol="0" anchor="t"/>
          <a:lstStyle/>
          <a:p>
            <a:pPr indent="0" marL="0">
              <a:buNone/>
            </a:pPr>
            <a:r>
              <a:rPr lang="en-US" sz="1200" dirty="0">
                <a:solidFill>
                  <a:srgbClr val="9DB0A4"/>
                </a:solidFill>
                <a:latin typeface="Calibri" pitchFamily="34" charset="0"/>
                <a:ea typeface="Calibri" pitchFamily="34" charset="-122"/>
                <a:cs typeface="Calibri" pitchFamily="34" charset="-120"/>
              </a:rPr>
              <a:t>Protects the 59 crore Jan Dhan accounts and the UPI base the nation built, for the people who opened them last.</a:t>
            </a:r>
            <a:endParaRPr lang="en-US" sz="1200" dirty="0"/>
          </a:p>
        </p:txBody>
      </p:sp>
      <p:sp>
        <p:nvSpPr>
          <p:cNvPr id="11" name="Shape 9"/>
          <p:cNvSpPr/>
          <p:nvPr/>
        </p:nvSpPr>
        <p:spPr>
          <a:xfrm>
            <a:off x="4315968" y="2011680"/>
            <a:ext cx="3520440" cy="1783080"/>
          </a:xfrm>
          <a:prstGeom prst="roundRect">
            <a:avLst>
              <a:gd name="adj" fmla="val 5128"/>
            </a:avLst>
          </a:prstGeom>
          <a:solidFill>
            <a:srgbClr val="152017"/>
          </a:solidFill>
          <a:ln w="12700">
            <a:solidFill>
              <a:srgbClr val="2C4636"/>
            </a:solidFill>
            <a:prstDash val="solid"/>
          </a:ln>
          <a:effectLst>
            <a:outerShdw sx="100000" sy="100000" kx="0" ky="0" algn="bl" rotWithShape="0" blurRad="127000" dist="38100" dir="5400000">
              <a:srgbClr val="000000">
                <a:alpha val="40000"/>
              </a:srgbClr>
            </a:outerShdw>
          </a:effectLst>
        </p:spPr>
      </p:sp>
      <p:sp>
        <p:nvSpPr>
          <p:cNvPr id="12" name="Text 10"/>
          <p:cNvSpPr/>
          <p:nvPr/>
        </p:nvSpPr>
        <p:spPr>
          <a:xfrm>
            <a:off x="4590288" y="2212848"/>
            <a:ext cx="3017520" cy="502920"/>
          </a:xfrm>
          <a:prstGeom prst="rect">
            <a:avLst/>
          </a:prstGeom>
          <a:noFill/>
          <a:ln/>
        </p:spPr>
        <p:txBody>
          <a:bodyPr wrap="square" lIns="0" tIns="0" rIns="0" bIns="0" rtlCol="0" anchor="ctr"/>
          <a:lstStyle/>
          <a:p>
            <a:pPr indent="0" marL="0">
              <a:buNone/>
            </a:pPr>
            <a:r>
              <a:rPr lang="en-US" sz="1450" b="1" dirty="0">
                <a:solidFill>
                  <a:srgbClr val="27C08A"/>
                </a:solidFill>
                <a:latin typeface="Arial" pitchFamily="34" charset="0"/>
                <a:ea typeface="Arial" pitchFamily="34" charset="-122"/>
                <a:cs typeface="Arial" pitchFamily="34" charset="-120"/>
              </a:rPr>
              <a:t>1930 and RBI's 2027 rules</a:t>
            </a:r>
            <a:endParaRPr lang="en-US" sz="1450" dirty="0"/>
          </a:p>
        </p:txBody>
      </p:sp>
      <p:sp>
        <p:nvSpPr>
          <p:cNvPr id="13" name="Text 11"/>
          <p:cNvSpPr/>
          <p:nvPr/>
        </p:nvSpPr>
        <p:spPr>
          <a:xfrm>
            <a:off x="4590288" y="2743200"/>
            <a:ext cx="3017520" cy="960120"/>
          </a:xfrm>
          <a:prstGeom prst="rect">
            <a:avLst/>
          </a:prstGeom>
          <a:noFill/>
          <a:ln/>
        </p:spPr>
        <p:txBody>
          <a:bodyPr wrap="square" lIns="0" tIns="0" rIns="0" bIns="0" rtlCol="0" anchor="t"/>
          <a:lstStyle/>
          <a:p>
            <a:pPr indent="0" marL="0">
              <a:buNone/>
            </a:pPr>
            <a:r>
              <a:rPr lang="en-US" sz="1200" dirty="0">
                <a:solidFill>
                  <a:srgbClr val="9DB0A4"/>
                </a:solidFill>
                <a:latin typeface="Calibri" pitchFamily="34" charset="0"/>
                <a:ea typeface="Calibri" pitchFamily="34" charset="-122"/>
                <a:cs typeface="Calibri" pitchFamily="34" charset="-120"/>
              </a:rPr>
              <a:t>Every scam verdict ends in the national helpline; fast reporting is what RBI's compensation now requires.</a:t>
            </a:r>
            <a:endParaRPr lang="en-US" sz="1200" dirty="0"/>
          </a:p>
        </p:txBody>
      </p:sp>
      <p:sp>
        <p:nvSpPr>
          <p:cNvPr id="14" name="Shape 12"/>
          <p:cNvSpPr/>
          <p:nvPr/>
        </p:nvSpPr>
        <p:spPr>
          <a:xfrm>
            <a:off x="8083296" y="2011680"/>
            <a:ext cx="3520440" cy="1783080"/>
          </a:xfrm>
          <a:prstGeom prst="roundRect">
            <a:avLst>
              <a:gd name="adj" fmla="val 5128"/>
            </a:avLst>
          </a:prstGeom>
          <a:solidFill>
            <a:srgbClr val="152017"/>
          </a:solidFill>
          <a:ln w="12700">
            <a:solidFill>
              <a:srgbClr val="2C4636"/>
            </a:solidFill>
            <a:prstDash val="solid"/>
          </a:ln>
          <a:effectLst>
            <a:outerShdw sx="100000" sy="100000" kx="0" ky="0" algn="bl" rotWithShape="0" blurRad="127000" dist="38100" dir="5400000">
              <a:srgbClr val="000000">
                <a:alpha val="40000"/>
              </a:srgbClr>
            </a:outerShdw>
          </a:effectLst>
        </p:spPr>
      </p:sp>
      <p:sp>
        <p:nvSpPr>
          <p:cNvPr id="15" name="Text 13"/>
          <p:cNvSpPr/>
          <p:nvPr/>
        </p:nvSpPr>
        <p:spPr>
          <a:xfrm>
            <a:off x="8357616" y="2212848"/>
            <a:ext cx="3017520" cy="502920"/>
          </a:xfrm>
          <a:prstGeom prst="rect">
            <a:avLst/>
          </a:prstGeom>
          <a:noFill/>
          <a:ln/>
        </p:spPr>
        <p:txBody>
          <a:bodyPr wrap="square" lIns="0" tIns="0" rIns="0" bIns="0" rtlCol="0" anchor="ctr"/>
          <a:lstStyle/>
          <a:p>
            <a:pPr indent="0" marL="0">
              <a:buNone/>
            </a:pPr>
            <a:r>
              <a:rPr lang="en-US" sz="1450" b="1" dirty="0">
                <a:solidFill>
                  <a:srgbClr val="27C08A"/>
                </a:solidFill>
                <a:latin typeface="Arial" pitchFamily="34" charset="0"/>
                <a:ea typeface="Arial" pitchFamily="34" charset="-122"/>
                <a:cs typeface="Arial" pitchFamily="34" charset="-120"/>
              </a:rPr>
              <a:t>Ayushman Bharat</a:t>
            </a:r>
            <a:endParaRPr lang="en-US" sz="1450" dirty="0"/>
          </a:p>
        </p:txBody>
      </p:sp>
      <p:sp>
        <p:nvSpPr>
          <p:cNvPr id="16" name="Text 14"/>
          <p:cNvSpPr/>
          <p:nvPr/>
        </p:nvSpPr>
        <p:spPr>
          <a:xfrm>
            <a:off x="8357616" y="2743200"/>
            <a:ext cx="3017520" cy="960120"/>
          </a:xfrm>
          <a:prstGeom prst="rect">
            <a:avLst/>
          </a:prstGeom>
          <a:noFill/>
          <a:ln/>
        </p:spPr>
        <p:txBody>
          <a:bodyPr wrap="square" lIns="0" tIns="0" rIns="0" bIns="0" rtlCol="0" anchor="t"/>
          <a:lstStyle/>
          <a:p>
            <a:pPr indent="0" marL="0">
              <a:buNone/>
            </a:pPr>
            <a:r>
              <a:rPr lang="en-US" sz="1200" dirty="0">
                <a:solidFill>
                  <a:srgbClr val="9DB0A4"/>
                </a:solidFill>
                <a:latin typeface="Calibri" pitchFamily="34" charset="0"/>
                <a:ea typeface="Calibri" pitchFamily="34" charset="-122"/>
                <a:cs typeface="Calibri" pitchFamily="34" charset="-120"/>
              </a:rPr>
              <a:t>Finds seniors for the Vay Vandana card and sends them to the counter that makes it.</a:t>
            </a:r>
            <a:endParaRPr lang="en-US" sz="1200" dirty="0"/>
          </a:p>
        </p:txBody>
      </p:sp>
      <p:sp>
        <p:nvSpPr>
          <p:cNvPr id="17" name="Shape 15"/>
          <p:cNvSpPr/>
          <p:nvPr/>
        </p:nvSpPr>
        <p:spPr>
          <a:xfrm>
            <a:off x="548640" y="3977640"/>
            <a:ext cx="3520440" cy="1783080"/>
          </a:xfrm>
          <a:prstGeom prst="roundRect">
            <a:avLst>
              <a:gd name="adj" fmla="val 5128"/>
            </a:avLst>
          </a:prstGeom>
          <a:solidFill>
            <a:srgbClr val="152017"/>
          </a:solidFill>
          <a:ln w="12700">
            <a:solidFill>
              <a:srgbClr val="2C4636"/>
            </a:solidFill>
            <a:prstDash val="solid"/>
          </a:ln>
          <a:effectLst>
            <a:outerShdw sx="100000" sy="100000" kx="0" ky="0" algn="bl" rotWithShape="0" blurRad="127000" dist="38100" dir="5400000">
              <a:srgbClr val="000000">
                <a:alpha val="40000"/>
              </a:srgbClr>
            </a:outerShdw>
          </a:effectLst>
        </p:spPr>
      </p:sp>
      <p:sp>
        <p:nvSpPr>
          <p:cNvPr id="18" name="Text 16"/>
          <p:cNvSpPr/>
          <p:nvPr/>
        </p:nvSpPr>
        <p:spPr>
          <a:xfrm>
            <a:off x="822960" y="4178808"/>
            <a:ext cx="3017520" cy="502920"/>
          </a:xfrm>
          <a:prstGeom prst="rect">
            <a:avLst/>
          </a:prstGeom>
          <a:noFill/>
          <a:ln/>
        </p:spPr>
        <p:txBody>
          <a:bodyPr wrap="square" lIns="0" tIns="0" rIns="0" bIns="0" rtlCol="0" anchor="ctr"/>
          <a:lstStyle/>
          <a:p>
            <a:pPr indent="0" marL="0">
              <a:buNone/>
            </a:pPr>
            <a:r>
              <a:rPr lang="en-US" sz="1450" b="1" dirty="0">
                <a:solidFill>
                  <a:srgbClr val="27C08A"/>
                </a:solidFill>
                <a:latin typeface="Arial" pitchFamily="34" charset="0"/>
                <a:ea typeface="Arial" pitchFamily="34" charset="-122"/>
                <a:cs typeface="Arial" pitchFamily="34" charset="-120"/>
              </a:rPr>
              <a:t>Digital India, last mile</a:t>
            </a:r>
            <a:endParaRPr lang="en-US" sz="1450" dirty="0"/>
          </a:p>
        </p:txBody>
      </p:sp>
      <p:sp>
        <p:nvSpPr>
          <p:cNvPr id="19" name="Text 17"/>
          <p:cNvSpPr/>
          <p:nvPr/>
        </p:nvSpPr>
        <p:spPr>
          <a:xfrm>
            <a:off x="822960" y="4709160"/>
            <a:ext cx="3017520" cy="960120"/>
          </a:xfrm>
          <a:prstGeom prst="rect">
            <a:avLst/>
          </a:prstGeom>
          <a:noFill/>
          <a:ln/>
        </p:spPr>
        <p:txBody>
          <a:bodyPr wrap="square" lIns="0" tIns="0" rIns="0" bIns="0" rtlCol="0" anchor="t"/>
          <a:lstStyle/>
          <a:p>
            <a:pPr indent="0" marL="0">
              <a:buNone/>
            </a:pPr>
            <a:r>
              <a:rPr lang="en-US" sz="1200" dirty="0">
                <a:solidFill>
                  <a:srgbClr val="9DB0A4"/>
                </a:solidFill>
                <a:latin typeface="Calibri" pitchFamily="34" charset="0"/>
                <a:ea typeface="Calibri" pitchFamily="34" charset="-122"/>
                <a:cs typeface="Calibri" pitchFamily="34" charset="-120"/>
              </a:rPr>
              <a:t>Hindi and English by voice today, offline; the language data is a pack, so more languages follow.</a:t>
            </a:r>
            <a:endParaRPr lang="en-US" sz="1200" dirty="0"/>
          </a:p>
        </p:txBody>
      </p:sp>
      <p:sp>
        <p:nvSpPr>
          <p:cNvPr id="20" name="Shape 18"/>
          <p:cNvSpPr/>
          <p:nvPr/>
        </p:nvSpPr>
        <p:spPr>
          <a:xfrm>
            <a:off x="4315968" y="3977640"/>
            <a:ext cx="3520440" cy="1783080"/>
          </a:xfrm>
          <a:prstGeom prst="roundRect">
            <a:avLst>
              <a:gd name="adj" fmla="val 5128"/>
            </a:avLst>
          </a:prstGeom>
          <a:solidFill>
            <a:srgbClr val="152017"/>
          </a:solidFill>
          <a:ln w="12700">
            <a:solidFill>
              <a:srgbClr val="2C4636"/>
            </a:solidFill>
            <a:prstDash val="solid"/>
          </a:ln>
          <a:effectLst>
            <a:outerShdw sx="100000" sy="100000" kx="0" ky="0" algn="bl" rotWithShape="0" blurRad="127000" dist="38100" dir="5400000">
              <a:srgbClr val="000000">
                <a:alpha val="40000"/>
              </a:srgbClr>
            </a:outerShdw>
          </a:effectLst>
        </p:spPr>
      </p:sp>
      <p:sp>
        <p:nvSpPr>
          <p:cNvPr id="21" name="Text 19"/>
          <p:cNvSpPr/>
          <p:nvPr/>
        </p:nvSpPr>
        <p:spPr>
          <a:xfrm>
            <a:off x="4590288" y="4178808"/>
            <a:ext cx="3017520" cy="502920"/>
          </a:xfrm>
          <a:prstGeom prst="rect">
            <a:avLst/>
          </a:prstGeom>
          <a:noFill/>
          <a:ln/>
        </p:spPr>
        <p:txBody>
          <a:bodyPr wrap="square" lIns="0" tIns="0" rIns="0" bIns="0" rtlCol="0" anchor="ctr"/>
          <a:lstStyle/>
          <a:p>
            <a:pPr indent="0" marL="0">
              <a:buNone/>
            </a:pPr>
            <a:r>
              <a:rPr lang="en-US" sz="1450" b="1" dirty="0">
                <a:solidFill>
                  <a:srgbClr val="27C08A"/>
                </a:solidFill>
                <a:latin typeface="Arial" pitchFamily="34" charset="0"/>
                <a:ea typeface="Arial" pitchFamily="34" charset="-122"/>
                <a:cs typeface="Arial" pitchFamily="34" charset="-120"/>
              </a:rPr>
              <a:t>DPDP Act</a:t>
            </a:r>
            <a:endParaRPr lang="en-US" sz="1450" dirty="0"/>
          </a:p>
        </p:txBody>
      </p:sp>
      <p:sp>
        <p:nvSpPr>
          <p:cNvPr id="22" name="Text 20"/>
          <p:cNvSpPr/>
          <p:nvPr/>
        </p:nvSpPr>
        <p:spPr>
          <a:xfrm>
            <a:off x="4590288" y="4709160"/>
            <a:ext cx="3017520" cy="960120"/>
          </a:xfrm>
          <a:prstGeom prst="rect">
            <a:avLst/>
          </a:prstGeom>
          <a:noFill/>
          <a:ln/>
        </p:spPr>
        <p:txBody>
          <a:bodyPr wrap="square" lIns="0" tIns="0" rIns="0" bIns="0" rtlCol="0" anchor="t"/>
          <a:lstStyle/>
          <a:p>
            <a:pPr indent="0" marL="0">
              <a:buNone/>
            </a:pPr>
            <a:r>
              <a:rPr lang="en-US" sz="1200" dirty="0">
                <a:solidFill>
                  <a:srgbClr val="9DB0A4"/>
                </a:solidFill>
                <a:latin typeface="Calibri" pitchFamily="34" charset="0"/>
                <a:ea typeface="Calibri" pitchFamily="34" charset="-122"/>
                <a:cs typeface="Calibri" pitchFamily="34" charset="-120"/>
              </a:rPr>
              <a:t>Privacy by design: consent first, nothing named, nothing written to disk, deleted by default.</a:t>
            </a:r>
            <a:endParaRPr lang="en-US" sz="1200" dirty="0"/>
          </a:p>
        </p:txBody>
      </p:sp>
      <p:sp>
        <p:nvSpPr>
          <p:cNvPr id="23" name="Shape 21"/>
          <p:cNvSpPr/>
          <p:nvPr/>
        </p:nvSpPr>
        <p:spPr>
          <a:xfrm>
            <a:off x="8083296" y="3977640"/>
            <a:ext cx="3520440" cy="1783080"/>
          </a:xfrm>
          <a:prstGeom prst="roundRect">
            <a:avLst>
              <a:gd name="adj" fmla="val 5128"/>
            </a:avLst>
          </a:prstGeom>
          <a:solidFill>
            <a:srgbClr val="152017"/>
          </a:solidFill>
          <a:ln w="12700">
            <a:solidFill>
              <a:srgbClr val="2C4636"/>
            </a:solidFill>
            <a:prstDash val="solid"/>
          </a:ln>
          <a:effectLst>
            <a:outerShdw sx="100000" sy="100000" kx="0" ky="0" algn="bl" rotWithShape="0" blurRad="127000" dist="38100" dir="5400000">
              <a:srgbClr val="000000">
                <a:alpha val="40000"/>
              </a:srgbClr>
            </a:outerShdw>
          </a:effectLst>
        </p:spPr>
      </p:sp>
      <p:sp>
        <p:nvSpPr>
          <p:cNvPr id="24" name="Text 22"/>
          <p:cNvSpPr/>
          <p:nvPr/>
        </p:nvSpPr>
        <p:spPr>
          <a:xfrm>
            <a:off x="8357616" y="4178808"/>
            <a:ext cx="3017520" cy="502920"/>
          </a:xfrm>
          <a:prstGeom prst="rect">
            <a:avLst/>
          </a:prstGeom>
          <a:noFill/>
          <a:ln/>
        </p:spPr>
        <p:txBody>
          <a:bodyPr wrap="square" lIns="0" tIns="0" rIns="0" bIns="0" rtlCol="0" anchor="ctr"/>
          <a:lstStyle/>
          <a:p>
            <a:pPr indent="0" marL="0">
              <a:buNone/>
            </a:pPr>
            <a:r>
              <a:rPr lang="en-US" sz="1450" b="1" dirty="0">
                <a:solidFill>
                  <a:srgbClr val="27C08A"/>
                </a:solidFill>
                <a:latin typeface="Arial" pitchFamily="34" charset="0"/>
                <a:ea typeface="Arial" pitchFamily="34" charset="-122"/>
                <a:cs typeface="Arial" pitchFamily="34" charset="-120"/>
              </a:rPr>
              <a:t>CSC · BC · ASHA</a:t>
            </a:r>
            <a:endParaRPr lang="en-US" sz="1450" dirty="0"/>
          </a:p>
        </p:txBody>
      </p:sp>
      <p:sp>
        <p:nvSpPr>
          <p:cNvPr id="25" name="Text 23"/>
          <p:cNvSpPr/>
          <p:nvPr/>
        </p:nvSpPr>
        <p:spPr>
          <a:xfrm>
            <a:off x="8357616" y="4709160"/>
            <a:ext cx="3017520" cy="960120"/>
          </a:xfrm>
          <a:prstGeom prst="rect">
            <a:avLst/>
          </a:prstGeom>
          <a:noFill/>
          <a:ln/>
        </p:spPr>
        <p:txBody>
          <a:bodyPr wrap="square" lIns="0" tIns="0" rIns="0" bIns="0" rtlCol="0" anchor="t"/>
          <a:lstStyle/>
          <a:p>
            <a:pPr indent="0" marL="0">
              <a:buNone/>
            </a:pPr>
            <a:r>
              <a:rPr lang="en-US" sz="1200" dirty="0">
                <a:solidFill>
                  <a:srgbClr val="9DB0A4"/>
                </a:solidFill>
                <a:latin typeface="Calibri" pitchFamily="34" charset="0"/>
                <a:ea typeface="Calibri" pitchFamily="34" charset="-122"/>
                <a:cs typeface="Calibri" pitchFamily="34" charset="-120"/>
              </a:rPr>
              <a:t>Delivered through the public networks people already trust, with an operator at the counter.</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0F14"/>
        </a:solidFill>
      </p:bgPr>
    </p:bg>
    <p:spTree>
      <p:nvGrpSpPr>
        <p:cNvPr id="1" name=""/>
        <p:cNvGrpSpPr/>
        <p:nvPr/>
      </p:nvGrpSpPr>
      <p:grpSpPr>
        <a:xfrm>
          <a:off x="0" y="0"/>
          <a:ext cx="0" cy="0"/>
          <a:chOff x="0" y="0"/>
          <a:chExt cx="0" cy="0"/>
        </a:xfrm>
      </p:grpSpPr>
      <p:sp>
        <p:nvSpPr>
          <p:cNvPr id="2" name="Shape 0"/>
          <p:cNvSpPr/>
          <p:nvPr/>
        </p:nvSpPr>
        <p:spPr>
          <a:xfrm>
            <a:off x="11475720" y="384048"/>
            <a:ext cx="109728" cy="109728"/>
          </a:xfrm>
          <a:prstGeom prst="ellipse">
            <a:avLst/>
          </a:prstGeom>
          <a:solidFill>
            <a:srgbClr val="FF9E3D"/>
          </a:solidFill>
          <a:ln/>
        </p:spPr>
      </p:sp>
      <p:sp>
        <p:nvSpPr>
          <p:cNvPr id="3" name="Shape 1"/>
          <p:cNvSpPr/>
          <p:nvPr/>
        </p:nvSpPr>
        <p:spPr>
          <a:xfrm>
            <a:off x="11658600" y="384048"/>
            <a:ext cx="109728" cy="109728"/>
          </a:xfrm>
          <a:prstGeom prst="ellipse">
            <a:avLst/>
          </a:prstGeom>
          <a:solidFill>
            <a:srgbClr val="EEF3EE"/>
          </a:solidFill>
          <a:ln/>
        </p:spPr>
      </p:sp>
      <p:sp>
        <p:nvSpPr>
          <p:cNvPr id="4" name="Shape 2"/>
          <p:cNvSpPr/>
          <p:nvPr/>
        </p:nvSpPr>
        <p:spPr>
          <a:xfrm>
            <a:off x="11841480" y="384048"/>
            <a:ext cx="109728" cy="109728"/>
          </a:xfrm>
          <a:prstGeom prst="ellipse">
            <a:avLst/>
          </a:prstGeom>
          <a:solidFill>
            <a:srgbClr val="27C08A"/>
          </a:solidFill>
          <a:ln/>
        </p:spPr>
      </p:sp>
      <p:sp>
        <p:nvSpPr>
          <p:cNvPr id="5" name="Shape 3"/>
          <p:cNvSpPr/>
          <p:nvPr/>
        </p:nvSpPr>
        <p:spPr>
          <a:xfrm>
            <a:off x="566928" y="603504"/>
            <a:ext cx="128016" cy="128016"/>
          </a:xfrm>
          <a:prstGeom prst="ellipse">
            <a:avLst/>
          </a:prstGeom>
          <a:solidFill>
            <a:srgbClr val="27C08A"/>
          </a:solidFill>
          <a:ln/>
        </p:spPr>
      </p:sp>
      <p:sp>
        <p:nvSpPr>
          <p:cNvPr id="6" name="Text 4"/>
          <p:cNvSpPr/>
          <p:nvPr/>
        </p:nvSpPr>
        <p:spPr>
          <a:xfrm>
            <a:off x="777240" y="457200"/>
            <a:ext cx="10058400" cy="411480"/>
          </a:xfrm>
          <a:prstGeom prst="rect">
            <a:avLst/>
          </a:prstGeom>
          <a:noFill/>
          <a:ln/>
        </p:spPr>
        <p:txBody>
          <a:bodyPr wrap="square" lIns="0" tIns="0" rIns="0" bIns="0" rtlCol="0" anchor="ctr"/>
          <a:lstStyle/>
          <a:p>
            <a:pPr indent="0" marL="0">
              <a:buNone/>
            </a:pPr>
            <a:r>
              <a:rPr lang="en-US" sz="1250" b="1" spc="200" kern="0" dirty="0">
                <a:solidFill>
                  <a:srgbClr val="27C08A"/>
                </a:solidFill>
                <a:latin typeface="Arial" pitchFamily="34" charset="0"/>
                <a:ea typeface="Arial" pitchFamily="34" charset="-122"/>
                <a:cs typeface="Arial" pitchFamily="34" charset="-120"/>
              </a:rPr>
              <a:t>COLLABORATIONS</a:t>
            </a:r>
            <a:endParaRPr lang="en-US" sz="1250" dirty="0"/>
          </a:p>
        </p:txBody>
      </p:sp>
      <p:sp>
        <p:nvSpPr>
          <p:cNvPr id="7" name="Text 5"/>
          <p:cNvSpPr/>
          <p:nvPr/>
        </p:nvSpPr>
        <p:spPr>
          <a:xfrm>
            <a:off x="548640" y="868680"/>
            <a:ext cx="11064240" cy="914400"/>
          </a:xfrm>
          <a:prstGeom prst="rect">
            <a:avLst/>
          </a:prstGeom>
          <a:noFill/>
          <a:ln/>
        </p:spPr>
        <p:txBody>
          <a:bodyPr wrap="square" lIns="0" tIns="0" rIns="0" bIns="0" rtlCol="0" anchor="ctr"/>
          <a:lstStyle/>
          <a:p>
            <a:pPr indent="0" marL="0">
              <a:buNone/>
            </a:pPr>
            <a:r>
              <a:rPr lang="en-US" sz="3000" b="1" dirty="0">
                <a:solidFill>
                  <a:srgbClr val="EEF3EE"/>
                </a:solidFill>
                <a:latin typeface="Arial" pitchFamily="34" charset="0"/>
                <a:ea typeface="Arial" pitchFamily="34" charset="-122"/>
                <a:cs typeface="Arial" pitchFamily="34" charset="-120"/>
              </a:rPr>
              <a:t>Built in the open; seeking last-mile partners</a:t>
            </a:r>
            <a:endParaRPr lang="en-US" sz="3000" dirty="0"/>
          </a:p>
        </p:txBody>
      </p:sp>
      <p:sp>
        <p:nvSpPr>
          <p:cNvPr id="8" name="Shape 6"/>
          <p:cNvSpPr/>
          <p:nvPr/>
        </p:nvSpPr>
        <p:spPr>
          <a:xfrm>
            <a:off x="548640" y="1783080"/>
            <a:ext cx="11064240" cy="804672"/>
          </a:xfrm>
          <a:prstGeom prst="roundRect">
            <a:avLst>
              <a:gd name="adj" fmla="val 11364"/>
            </a:avLst>
          </a:prstGeom>
          <a:solidFill>
            <a:srgbClr val="152017"/>
          </a:solidFill>
          <a:ln w="12700">
            <a:solidFill>
              <a:srgbClr val="2C4636"/>
            </a:solidFill>
            <a:prstDash val="solid"/>
          </a:ln>
          <a:effectLst>
            <a:outerShdw sx="100000" sy="100000" kx="0" ky="0" algn="bl" rotWithShape="0" blurRad="127000" dist="38100" dir="5400000">
              <a:srgbClr val="000000">
                <a:alpha val="40000"/>
              </a:srgbClr>
            </a:outerShdw>
          </a:effectLst>
        </p:spPr>
      </p:sp>
      <p:sp>
        <p:nvSpPr>
          <p:cNvPr id="9" name="Text 7"/>
          <p:cNvSpPr/>
          <p:nvPr/>
        </p:nvSpPr>
        <p:spPr>
          <a:xfrm>
            <a:off x="822960" y="1837944"/>
            <a:ext cx="4206240" cy="694944"/>
          </a:xfrm>
          <a:prstGeom prst="rect">
            <a:avLst/>
          </a:prstGeom>
          <a:noFill/>
          <a:ln/>
        </p:spPr>
        <p:txBody>
          <a:bodyPr wrap="square" lIns="0" tIns="0" rIns="0" bIns="0" rtlCol="0" anchor="ctr"/>
          <a:lstStyle/>
          <a:p>
            <a:pPr indent="0" marL="0">
              <a:buNone/>
            </a:pPr>
            <a:r>
              <a:rPr lang="en-US" sz="1350" b="1" dirty="0">
                <a:solidFill>
                  <a:srgbClr val="EEF3EE"/>
                </a:solidFill>
                <a:latin typeface="Arial" pitchFamily="34" charset="0"/>
                <a:ea typeface="Arial" pitchFamily="34" charset="-122"/>
                <a:cs typeface="Arial" pitchFamily="34" charset="-120"/>
              </a:rPr>
              <a:t>CSC village-level entrepreneur or bank business correspondent</a:t>
            </a:r>
            <a:endParaRPr lang="en-US" sz="1350" dirty="0"/>
          </a:p>
        </p:txBody>
      </p:sp>
      <p:sp>
        <p:nvSpPr>
          <p:cNvPr id="10" name="Text 8"/>
          <p:cNvSpPr/>
          <p:nvPr/>
        </p:nvSpPr>
        <p:spPr>
          <a:xfrm>
            <a:off x="5120640" y="1837944"/>
            <a:ext cx="4663440" cy="694944"/>
          </a:xfrm>
          <a:prstGeom prst="rect">
            <a:avLst/>
          </a:prstGeom>
          <a:noFill/>
          <a:ln/>
        </p:spPr>
        <p:txBody>
          <a:bodyPr wrap="square" lIns="0" tIns="0" rIns="0" bIns="0" rtlCol="0" anchor="ctr"/>
          <a:lstStyle/>
          <a:p>
            <a:pPr indent="0" marL="0">
              <a:buNone/>
            </a:pPr>
            <a:r>
              <a:rPr lang="en-US" sz="1200" dirty="0">
                <a:solidFill>
                  <a:srgbClr val="9DB0A4"/>
                </a:solidFill>
                <a:latin typeface="Calibri" pitchFamily="34" charset="0"/>
                <a:ea typeface="Calibri" pitchFamily="34" charset="-122"/>
                <a:cs typeface="Calibri" pitchFamily="34" charset="-120"/>
              </a:rPr>
              <a:t>hosts the node and the field morning</a:t>
            </a:r>
            <a:endParaRPr lang="en-US" sz="1200" dirty="0"/>
          </a:p>
        </p:txBody>
      </p:sp>
      <p:sp>
        <p:nvSpPr>
          <p:cNvPr id="11" name="Shape 9"/>
          <p:cNvSpPr/>
          <p:nvPr/>
        </p:nvSpPr>
        <p:spPr>
          <a:xfrm>
            <a:off x="9921240" y="2002536"/>
            <a:ext cx="1463040" cy="365760"/>
          </a:xfrm>
          <a:prstGeom prst="roundRect">
            <a:avLst>
              <a:gd name="adj" fmla="val 20000"/>
            </a:avLst>
          </a:prstGeom>
          <a:solidFill>
            <a:srgbClr val="1B2A20"/>
          </a:solidFill>
          <a:ln w="12700">
            <a:solidFill>
              <a:srgbClr val="FF9E3D"/>
            </a:solidFill>
            <a:prstDash val="solid"/>
          </a:ln>
        </p:spPr>
      </p:sp>
      <p:sp>
        <p:nvSpPr>
          <p:cNvPr id="12" name="Text 10"/>
          <p:cNvSpPr/>
          <p:nvPr/>
        </p:nvSpPr>
        <p:spPr>
          <a:xfrm>
            <a:off x="9921240" y="2002536"/>
            <a:ext cx="1463040" cy="365760"/>
          </a:xfrm>
          <a:prstGeom prst="rect">
            <a:avLst/>
          </a:prstGeom>
          <a:noFill/>
          <a:ln/>
        </p:spPr>
        <p:txBody>
          <a:bodyPr wrap="square" lIns="0" tIns="0" rIns="0" bIns="0" rtlCol="0" anchor="ctr"/>
          <a:lstStyle/>
          <a:p>
            <a:pPr algn="ctr" indent="0" marL="0">
              <a:buNone/>
            </a:pPr>
            <a:r>
              <a:rPr lang="en-US" sz="1100" b="1" dirty="0">
                <a:solidFill>
                  <a:srgbClr val="FF9E3D"/>
                </a:solidFill>
                <a:latin typeface="Calibri" pitchFamily="34" charset="0"/>
                <a:ea typeface="Calibri" pitchFamily="34" charset="-122"/>
                <a:cs typeface="Calibri" pitchFamily="34" charset="-120"/>
              </a:rPr>
              <a:t>seeking</a:t>
            </a:r>
            <a:endParaRPr lang="en-US" sz="1100" dirty="0"/>
          </a:p>
        </p:txBody>
      </p:sp>
      <p:sp>
        <p:nvSpPr>
          <p:cNvPr id="13" name="Shape 11"/>
          <p:cNvSpPr/>
          <p:nvPr/>
        </p:nvSpPr>
        <p:spPr>
          <a:xfrm>
            <a:off x="548640" y="2715768"/>
            <a:ext cx="11064240" cy="804672"/>
          </a:xfrm>
          <a:prstGeom prst="roundRect">
            <a:avLst>
              <a:gd name="adj" fmla="val 11364"/>
            </a:avLst>
          </a:prstGeom>
          <a:solidFill>
            <a:srgbClr val="152017"/>
          </a:solidFill>
          <a:ln w="12700">
            <a:solidFill>
              <a:srgbClr val="2C4636"/>
            </a:solidFill>
            <a:prstDash val="solid"/>
          </a:ln>
          <a:effectLst>
            <a:outerShdw sx="100000" sy="100000" kx="0" ky="0" algn="bl" rotWithShape="0" blurRad="127000" dist="38100" dir="5400000">
              <a:srgbClr val="000000">
                <a:alpha val="40000"/>
              </a:srgbClr>
            </a:outerShdw>
          </a:effectLst>
        </p:spPr>
      </p:sp>
      <p:sp>
        <p:nvSpPr>
          <p:cNvPr id="14" name="Text 12"/>
          <p:cNvSpPr/>
          <p:nvPr/>
        </p:nvSpPr>
        <p:spPr>
          <a:xfrm>
            <a:off x="822960" y="2770632"/>
            <a:ext cx="4206240" cy="694944"/>
          </a:xfrm>
          <a:prstGeom prst="rect">
            <a:avLst/>
          </a:prstGeom>
          <a:noFill/>
          <a:ln/>
        </p:spPr>
        <p:txBody>
          <a:bodyPr wrap="square" lIns="0" tIns="0" rIns="0" bIns="0" rtlCol="0" anchor="ctr"/>
          <a:lstStyle/>
          <a:p>
            <a:pPr indent="0" marL="0">
              <a:buNone/>
            </a:pPr>
            <a:r>
              <a:rPr lang="en-US" sz="1350" b="1" dirty="0">
                <a:solidFill>
                  <a:srgbClr val="EEF3EE"/>
                </a:solidFill>
                <a:latin typeface="Arial" pitchFamily="34" charset="0"/>
                <a:ea typeface="Arial" pitchFamily="34" charset="-122"/>
                <a:cs typeface="Arial" pitchFamily="34" charset="-120"/>
              </a:rPr>
              <a:t>A rural NGO or SHG federation</a:t>
            </a:r>
            <a:endParaRPr lang="en-US" sz="1350" dirty="0"/>
          </a:p>
        </p:txBody>
      </p:sp>
      <p:sp>
        <p:nvSpPr>
          <p:cNvPr id="15" name="Text 13"/>
          <p:cNvSpPr/>
          <p:nvPr/>
        </p:nvSpPr>
        <p:spPr>
          <a:xfrm>
            <a:off x="5120640" y="2770632"/>
            <a:ext cx="4663440" cy="694944"/>
          </a:xfrm>
          <a:prstGeom prst="rect">
            <a:avLst/>
          </a:prstGeom>
          <a:noFill/>
          <a:ln/>
        </p:spPr>
        <p:txBody>
          <a:bodyPr wrap="square" lIns="0" tIns="0" rIns="0" bIns="0" rtlCol="0" anchor="ctr"/>
          <a:lstStyle/>
          <a:p>
            <a:pPr indent="0" marL="0">
              <a:buNone/>
            </a:pPr>
            <a:r>
              <a:rPr lang="en-US" sz="1200" dirty="0">
                <a:solidFill>
                  <a:srgbClr val="9DB0A4"/>
                </a:solidFill>
                <a:latin typeface="Calibri" pitchFamily="34" charset="0"/>
                <a:ea typeface="Calibri" pitchFamily="34" charset="-122"/>
                <a:cs typeface="Calibri" pitchFamily="34" charset="-120"/>
              </a:rPr>
              <a:t>invites participants, checks the Hindi and the consent</a:t>
            </a:r>
            <a:endParaRPr lang="en-US" sz="1200" dirty="0"/>
          </a:p>
        </p:txBody>
      </p:sp>
      <p:sp>
        <p:nvSpPr>
          <p:cNvPr id="16" name="Shape 14"/>
          <p:cNvSpPr/>
          <p:nvPr/>
        </p:nvSpPr>
        <p:spPr>
          <a:xfrm>
            <a:off x="9921240" y="2935224"/>
            <a:ext cx="1463040" cy="365760"/>
          </a:xfrm>
          <a:prstGeom prst="roundRect">
            <a:avLst>
              <a:gd name="adj" fmla="val 20000"/>
            </a:avLst>
          </a:prstGeom>
          <a:solidFill>
            <a:srgbClr val="1B2A20"/>
          </a:solidFill>
          <a:ln w="12700">
            <a:solidFill>
              <a:srgbClr val="FF9E3D"/>
            </a:solidFill>
            <a:prstDash val="solid"/>
          </a:ln>
        </p:spPr>
      </p:sp>
      <p:sp>
        <p:nvSpPr>
          <p:cNvPr id="17" name="Text 15"/>
          <p:cNvSpPr/>
          <p:nvPr/>
        </p:nvSpPr>
        <p:spPr>
          <a:xfrm>
            <a:off x="9921240" y="2935224"/>
            <a:ext cx="1463040" cy="365760"/>
          </a:xfrm>
          <a:prstGeom prst="rect">
            <a:avLst/>
          </a:prstGeom>
          <a:noFill/>
          <a:ln/>
        </p:spPr>
        <p:txBody>
          <a:bodyPr wrap="square" lIns="0" tIns="0" rIns="0" bIns="0" rtlCol="0" anchor="ctr"/>
          <a:lstStyle/>
          <a:p>
            <a:pPr algn="ctr" indent="0" marL="0">
              <a:buNone/>
            </a:pPr>
            <a:r>
              <a:rPr lang="en-US" sz="1100" b="1" dirty="0">
                <a:solidFill>
                  <a:srgbClr val="FF9E3D"/>
                </a:solidFill>
                <a:latin typeface="Calibri" pitchFamily="34" charset="0"/>
                <a:ea typeface="Calibri" pitchFamily="34" charset="-122"/>
                <a:cs typeface="Calibri" pitchFamily="34" charset="-120"/>
              </a:rPr>
              <a:t>seeking</a:t>
            </a:r>
            <a:endParaRPr lang="en-US" sz="1100" dirty="0"/>
          </a:p>
        </p:txBody>
      </p:sp>
      <p:sp>
        <p:nvSpPr>
          <p:cNvPr id="18" name="Shape 16"/>
          <p:cNvSpPr/>
          <p:nvPr/>
        </p:nvSpPr>
        <p:spPr>
          <a:xfrm>
            <a:off x="548640" y="3648456"/>
            <a:ext cx="11064240" cy="804672"/>
          </a:xfrm>
          <a:prstGeom prst="roundRect">
            <a:avLst>
              <a:gd name="adj" fmla="val 11364"/>
            </a:avLst>
          </a:prstGeom>
          <a:solidFill>
            <a:srgbClr val="152017"/>
          </a:solidFill>
          <a:ln w="12700">
            <a:solidFill>
              <a:srgbClr val="2C4636"/>
            </a:solidFill>
            <a:prstDash val="solid"/>
          </a:ln>
          <a:effectLst>
            <a:outerShdw sx="100000" sy="100000" kx="0" ky="0" algn="bl" rotWithShape="0" blurRad="127000" dist="38100" dir="5400000">
              <a:srgbClr val="000000">
                <a:alpha val="40000"/>
              </a:srgbClr>
            </a:outerShdw>
          </a:effectLst>
        </p:spPr>
      </p:sp>
      <p:sp>
        <p:nvSpPr>
          <p:cNvPr id="19" name="Text 17"/>
          <p:cNvSpPr/>
          <p:nvPr/>
        </p:nvSpPr>
        <p:spPr>
          <a:xfrm>
            <a:off x="822960" y="3703320"/>
            <a:ext cx="4206240" cy="694944"/>
          </a:xfrm>
          <a:prstGeom prst="rect">
            <a:avLst/>
          </a:prstGeom>
          <a:noFill/>
          <a:ln/>
        </p:spPr>
        <p:txBody>
          <a:bodyPr wrap="square" lIns="0" tIns="0" rIns="0" bIns="0" rtlCol="0" anchor="ctr"/>
          <a:lstStyle/>
          <a:p>
            <a:pPr indent="0" marL="0">
              <a:buNone/>
            </a:pPr>
            <a:r>
              <a:rPr lang="en-US" sz="1350" b="1" dirty="0">
                <a:solidFill>
                  <a:srgbClr val="EEF3EE"/>
                </a:solidFill>
                <a:latin typeface="Arial" pitchFamily="34" charset="0"/>
                <a:ea typeface="Arial" pitchFamily="34" charset="-122"/>
                <a:cs typeface="Arial" pitchFamily="34" charset="-120"/>
              </a:rPr>
              <a:t>A bank branch, regional office or SLBC</a:t>
            </a:r>
            <a:endParaRPr lang="en-US" sz="1350" dirty="0"/>
          </a:p>
        </p:txBody>
      </p:sp>
      <p:sp>
        <p:nvSpPr>
          <p:cNvPr id="20" name="Text 18"/>
          <p:cNvSpPr/>
          <p:nvPr/>
        </p:nvSpPr>
        <p:spPr>
          <a:xfrm>
            <a:off x="5120640" y="3703320"/>
            <a:ext cx="4663440" cy="694944"/>
          </a:xfrm>
          <a:prstGeom prst="rect">
            <a:avLst/>
          </a:prstGeom>
          <a:noFill/>
          <a:ln/>
        </p:spPr>
        <p:txBody>
          <a:bodyPr wrap="square" lIns="0" tIns="0" rIns="0" bIns="0" rtlCol="0" anchor="ctr"/>
          <a:lstStyle/>
          <a:p>
            <a:pPr indent="0" marL="0">
              <a:buNone/>
            </a:pPr>
            <a:r>
              <a:rPr lang="en-US" sz="1200" dirty="0">
                <a:solidFill>
                  <a:srgbClr val="9DB0A4"/>
                </a:solidFill>
                <a:latin typeface="Calibri" pitchFamily="34" charset="0"/>
                <a:ea typeface="Calibri" pitchFamily="34" charset="-122"/>
                <a:cs typeface="Calibri" pitchFamily="34" charset="-120"/>
              </a:rPr>
              <a:t>BC points for the pilot, real messages for ScamBench v1</a:t>
            </a:r>
            <a:endParaRPr lang="en-US" sz="1200" dirty="0"/>
          </a:p>
        </p:txBody>
      </p:sp>
      <p:sp>
        <p:nvSpPr>
          <p:cNvPr id="21" name="Shape 19"/>
          <p:cNvSpPr/>
          <p:nvPr/>
        </p:nvSpPr>
        <p:spPr>
          <a:xfrm>
            <a:off x="9921240" y="3867912"/>
            <a:ext cx="1463040" cy="365760"/>
          </a:xfrm>
          <a:prstGeom prst="roundRect">
            <a:avLst>
              <a:gd name="adj" fmla="val 20000"/>
            </a:avLst>
          </a:prstGeom>
          <a:solidFill>
            <a:srgbClr val="1B2A20"/>
          </a:solidFill>
          <a:ln w="12700">
            <a:solidFill>
              <a:srgbClr val="FF9E3D"/>
            </a:solidFill>
            <a:prstDash val="solid"/>
          </a:ln>
        </p:spPr>
      </p:sp>
      <p:sp>
        <p:nvSpPr>
          <p:cNvPr id="22" name="Text 20"/>
          <p:cNvSpPr/>
          <p:nvPr/>
        </p:nvSpPr>
        <p:spPr>
          <a:xfrm>
            <a:off x="9921240" y="3867912"/>
            <a:ext cx="1463040" cy="365760"/>
          </a:xfrm>
          <a:prstGeom prst="rect">
            <a:avLst/>
          </a:prstGeom>
          <a:noFill/>
          <a:ln/>
        </p:spPr>
        <p:txBody>
          <a:bodyPr wrap="square" lIns="0" tIns="0" rIns="0" bIns="0" rtlCol="0" anchor="ctr"/>
          <a:lstStyle/>
          <a:p>
            <a:pPr algn="ctr" indent="0" marL="0">
              <a:buNone/>
            </a:pPr>
            <a:r>
              <a:rPr lang="en-US" sz="1100" b="1" dirty="0">
                <a:solidFill>
                  <a:srgbClr val="FF9E3D"/>
                </a:solidFill>
                <a:latin typeface="Calibri" pitchFamily="34" charset="0"/>
                <a:ea typeface="Calibri" pitchFamily="34" charset="-122"/>
                <a:cs typeface="Calibri" pitchFamily="34" charset="-120"/>
              </a:rPr>
              <a:t>seeking</a:t>
            </a:r>
            <a:endParaRPr lang="en-US" sz="1100" dirty="0"/>
          </a:p>
        </p:txBody>
      </p:sp>
      <p:sp>
        <p:nvSpPr>
          <p:cNvPr id="23" name="Shape 21"/>
          <p:cNvSpPr/>
          <p:nvPr/>
        </p:nvSpPr>
        <p:spPr>
          <a:xfrm>
            <a:off x="548640" y="4581144"/>
            <a:ext cx="11064240" cy="804672"/>
          </a:xfrm>
          <a:prstGeom prst="roundRect">
            <a:avLst>
              <a:gd name="adj" fmla="val 11364"/>
            </a:avLst>
          </a:prstGeom>
          <a:solidFill>
            <a:srgbClr val="152017"/>
          </a:solidFill>
          <a:ln w="12700">
            <a:solidFill>
              <a:srgbClr val="2C4636"/>
            </a:solidFill>
            <a:prstDash val="solid"/>
          </a:ln>
          <a:effectLst>
            <a:outerShdw sx="100000" sy="100000" kx="0" ky="0" algn="bl" rotWithShape="0" blurRad="127000" dist="38100" dir="5400000">
              <a:srgbClr val="000000">
                <a:alpha val="40000"/>
              </a:srgbClr>
            </a:outerShdw>
          </a:effectLst>
        </p:spPr>
      </p:sp>
      <p:sp>
        <p:nvSpPr>
          <p:cNvPr id="24" name="Text 22"/>
          <p:cNvSpPr/>
          <p:nvPr/>
        </p:nvSpPr>
        <p:spPr>
          <a:xfrm>
            <a:off x="822960" y="4636008"/>
            <a:ext cx="4206240" cy="694944"/>
          </a:xfrm>
          <a:prstGeom prst="rect">
            <a:avLst/>
          </a:prstGeom>
          <a:noFill/>
          <a:ln/>
        </p:spPr>
        <p:txBody>
          <a:bodyPr wrap="square" lIns="0" tIns="0" rIns="0" bIns="0" rtlCol="0" anchor="ctr"/>
          <a:lstStyle/>
          <a:p>
            <a:pPr indent="0" marL="0">
              <a:buNone/>
            </a:pPr>
            <a:r>
              <a:rPr lang="en-US" sz="1350" b="1" dirty="0">
                <a:solidFill>
                  <a:srgbClr val="EEF3EE"/>
                </a:solidFill>
                <a:latin typeface="Arial" pitchFamily="34" charset="0"/>
                <a:ea typeface="Arial" pitchFamily="34" charset="-122"/>
                <a:cs typeface="Arial" pitchFamily="34" charset="-120"/>
              </a:rPr>
              <a:t>Haqdarshak or myScheme</a:t>
            </a:r>
            <a:endParaRPr lang="en-US" sz="1350" dirty="0"/>
          </a:p>
        </p:txBody>
      </p:sp>
      <p:sp>
        <p:nvSpPr>
          <p:cNvPr id="25" name="Text 23"/>
          <p:cNvSpPr/>
          <p:nvPr/>
        </p:nvSpPr>
        <p:spPr>
          <a:xfrm>
            <a:off x="5120640" y="4636008"/>
            <a:ext cx="4663440" cy="694944"/>
          </a:xfrm>
          <a:prstGeom prst="rect">
            <a:avLst/>
          </a:prstGeom>
          <a:noFill/>
          <a:ln/>
        </p:spPr>
        <p:txBody>
          <a:bodyPr wrap="square" lIns="0" tIns="0" rIns="0" bIns="0" rtlCol="0" anchor="ctr"/>
          <a:lstStyle/>
          <a:p>
            <a:pPr indent="0" marL="0">
              <a:buNone/>
            </a:pPr>
            <a:r>
              <a:rPr lang="en-US" sz="1200" dirty="0">
                <a:solidFill>
                  <a:srgbClr val="9DB0A4"/>
                </a:solidFill>
                <a:latin typeface="Calibri" pitchFamily="34" charset="0"/>
                <a:ea typeface="Calibri" pitchFamily="34" charset="-122"/>
                <a:cs typeface="Calibri" pitchFamily="34" charset="-120"/>
              </a:rPr>
              <a:t>scheme content beyond 12 central schemes; Sahayak is the offline front door</a:t>
            </a:r>
            <a:endParaRPr lang="en-US" sz="1200" dirty="0"/>
          </a:p>
        </p:txBody>
      </p:sp>
      <p:sp>
        <p:nvSpPr>
          <p:cNvPr id="26" name="Shape 24"/>
          <p:cNvSpPr/>
          <p:nvPr/>
        </p:nvSpPr>
        <p:spPr>
          <a:xfrm>
            <a:off x="9921240" y="4800600"/>
            <a:ext cx="1463040" cy="365760"/>
          </a:xfrm>
          <a:prstGeom prst="roundRect">
            <a:avLst>
              <a:gd name="adj" fmla="val 20000"/>
            </a:avLst>
          </a:prstGeom>
          <a:solidFill>
            <a:srgbClr val="1B2A20"/>
          </a:solidFill>
          <a:ln w="12700">
            <a:solidFill>
              <a:srgbClr val="FF9E3D"/>
            </a:solidFill>
            <a:prstDash val="solid"/>
          </a:ln>
        </p:spPr>
      </p:sp>
      <p:sp>
        <p:nvSpPr>
          <p:cNvPr id="27" name="Text 25"/>
          <p:cNvSpPr/>
          <p:nvPr/>
        </p:nvSpPr>
        <p:spPr>
          <a:xfrm>
            <a:off x="9921240" y="4800600"/>
            <a:ext cx="1463040" cy="365760"/>
          </a:xfrm>
          <a:prstGeom prst="rect">
            <a:avLst/>
          </a:prstGeom>
          <a:noFill/>
          <a:ln/>
        </p:spPr>
        <p:txBody>
          <a:bodyPr wrap="square" lIns="0" tIns="0" rIns="0" bIns="0" rtlCol="0" anchor="ctr"/>
          <a:lstStyle/>
          <a:p>
            <a:pPr algn="ctr" indent="0" marL="0">
              <a:buNone/>
            </a:pPr>
            <a:r>
              <a:rPr lang="en-US" sz="1100" b="1" dirty="0">
                <a:solidFill>
                  <a:srgbClr val="FF9E3D"/>
                </a:solidFill>
                <a:latin typeface="Calibri" pitchFamily="34" charset="0"/>
                <a:ea typeface="Calibri" pitchFamily="34" charset="-122"/>
                <a:cs typeface="Calibri" pitchFamily="34" charset="-120"/>
              </a:rPr>
              <a:t>seeking</a:t>
            </a:r>
            <a:endParaRPr lang="en-US" sz="1100" dirty="0"/>
          </a:p>
        </p:txBody>
      </p:sp>
      <p:sp>
        <p:nvSpPr>
          <p:cNvPr id="28" name="Text 26"/>
          <p:cNvSpPr/>
          <p:nvPr/>
        </p:nvSpPr>
        <p:spPr>
          <a:xfrm>
            <a:off x="548640" y="5577840"/>
            <a:ext cx="11064240" cy="548640"/>
          </a:xfrm>
          <a:prstGeom prst="rect">
            <a:avLst/>
          </a:prstGeom>
          <a:noFill/>
          <a:ln/>
        </p:spPr>
        <p:txBody>
          <a:bodyPr wrap="square" lIns="0" tIns="0" rIns="0" bIns="0" rtlCol="0" anchor="ctr"/>
          <a:lstStyle/>
          <a:p>
            <a:pPr indent="0" marL="0">
              <a:buNone/>
            </a:pPr>
            <a:r>
              <a:rPr lang="en-US" sz="1250" dirty="0">
                <a:solidFill>
                  <a:srgbClr val="EEF3EE"/>
                </a:solidFill>
                <a:latin typeface="Calibri" pitchFamily="34" charset="0"/>
                <a:ea typeface="Calibri" pitchFamily="34" charset="-122"/>
                <a:cs typeface="Calibri" pitchFamily="34" charset="-120"/>
              </a:rPr>
              <a:t>Ready for each partner: a one-morning field protocol with consent in Hindi and English, a scoring script, and letters of intent. The code is MIT-licensed and open.</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0F14"/>
        </a:solidFill>
      </p:bgPr>
    </p:bg>
    <p:spTree>
      <p:nvGrpSpPr>
        <p:cNvPr id="1" name=""/>
        <p:cNvGrpSpPr/>
        <p:nvPr/>
      </p:nvGrpSpPr>
      <p:grpSpPr>
        <a:xfrm>
          <a:off x="0" y="0"/>
          <a:ext cx="0" cy="0"/>
          <a:chOff x="0" y="0"/>
          <a:chExt cx="0" cy="0"/>
        </a:xfrm>
      </p:grpSpPr>
      <p:sp>
        <p:nvSpPr>
          <p:cNvPr id="2" name="Shape 0"/>
          <p:cNvSpPr/>
          <p:nvPr/>
        </p:nvSpPr>
        <p:spPr>
          <a:xfrm>
            <a:off x="11475720" y="384048"/>
            <a:ext cx="109728" cy="109728"/>
          </a:xfrm>
          <a:prstGeom prst="ellipse">
            <a:avLst/>
          </a:prstGeom>
          <a:solidFill>
            <a:srgbClr val="FF9E3D"/>
          </a:solidFill>
          <a:ln/>
        </p:spPr>
      </p:sp>
      <p:sp>
        <p:nvSpPr>
          <p:cNvPr id="3" name="Shape 1"/>
          <p:cNvSpPr/>
          <p:nvPr/>
        </p:nvSpPr>
        <p:spPr>
          <a:xfrm>
            <a:off x="11658600" y="384048"/>
            <a:ext cx="109728" cy="109728"/>
          </a:xfrm>
          <a:prstGeom prst="ellipse">
            <a:avLst/>
          </a:prstGeom>
          <a:solidFill>
            <a:srgbClr val="EEF3EE"/>
          </a:solidFill>
          <a:ln/>
        </p:spPr>
      </p:sp>
      <p:sp>
        <p:nvSpPr>
          <p:cNvPr id="4" name="Shape 2"/>
          <p:cNvSpPr/>
          <p:nvPr/>
        </p:nvSpPr>
        <p:spPr>
          <a:xfrm>
            <a:off x="11841480" y="384048"/>
            <a:ext cx="109728" cy="109728"/>
          </a:xfrm>
          <a:prstGeom prst="ellipse">
            <a:avLst/>
          </a:prstGeom>
          <a:solidFill>
            <a:srgbClr val="27C08A"/>
          </a:solidFill>
          <a:ln/>
        </p:spPr>
      </p:sp>
      <p:sp>
        <p:nvSpPr>
          <p:cNvPr id="5" name="Shape 3"/>
          <p:cNvSpPr/>
          <p:nvPr/>
        </p:nvSpPr>
        <p:spPr>
          <a:xfrm>
            <a:off x="566928" y="603504"/>
            <a:ext cx="128016" cy="128016"/>
          </a:xfrm>
          <a:prstGeom prst="ellipse">
            <a:avLst/>
          </a:prstGeom>
          <a:solidFill>
            <a:srgbClr val="27C08A"/>
          </a:solidFill>
          <a:ln/>
        </p:spPr>
      </p:sp>
      <p:sp>
        <p:nvSpPr>
          <p:cNvPr id="6" name="Text 4"/>
          <p:cNvSpPr/>
          <p:nvPr/>
        </p:nvSpPr>
        <p:spPr>
          <a:xfrm>
            <a:off x="777240" y="457200"/>
            <a:ext cx="10058400" cy="411480"/>
          </a:xfrm>
          <a:prstGeom prst="rect">
            <a:avLst/>
          </a:prstGeom>
          <a:noFill/>
          <a:ln/>
        </p:spPr>
        <p:txBody>
          <a:bodyPr wrap="square" lIns="0" tIns="0" rIns="0" bIns="0" rtlCol="0" anchor="ctr"/>
          <a:lstStyle/>
          <a:p>
            <a:pPr indent="0" marL="0">
              <a:buNone/>
            </a:pPr>
            <a:r>
              <a:rPr lang="en-US" sz="1250" b="1" spc="200" kern="0" dirty="0">
                <a:solidFill>
                  <a:srgbClr val="27C08A"/>
                </a:solidFill>
                <a:latin typeface="Arial" pitchFamily="34" charset="0"/>
                <a:ea typeface="Arial" pitchFamily="34" charset="-122"/>
                <a:cs typeface="Arial" pitchFamily="34" charset="-120"/>
              </a:rPr>
              <a:t>TEAM AND THE ASK</a:t>
            </a:r>
            <a:endParaRPr lang="en-US" sz="1250" dirty="0"/>
          </a:p>
        </p:txBody>
      </p:sp>
      <p:sp>
        <p:nvSpPr>
          <p:cNvPr id="7" name="Text 5"/>
          <p:cNvSpPr/>
          <p:nvPr/>
        </p:nvSpPr>
        <p:spPr>
          <a:xfrm>
            <a:off x="548640" y="868680"/>
            <a:ext cx="11064240" cy="914400"/>
          </a:xfrm>
          <a:prstGeom prst="rect">
            <a:avLst/>
          </a:prstGeom>
          <a:noFill/>
          <a:ln/>
        </p:spPr>
        <p:txBody>
          <a:bodyPr wrap="square" lIns="0" tIns="0" rIns="0" bIns="0" rtlCol="0" anchor="ctr"/>
          <a:lstStyle/>
          <a:p>
            <a:pPr indent="0" marL="0">
              <a:buNone/>
            </a:pPr>
            <a:r>
              <a:rPr lang="en-US" sz="3000" b="1" dirty="0">
                <a:solidFill>
                  <a:srgbClr val="EEF3EE"/>
                </a:solidFill>
                <a:latin typeface="Arial" pitchFamily="34" charset="0"/>
                <a:ea typeface="Arial" pitchFamily="34" charset="-122"/>
                <a:cs typeface="Arial" pitchFamily="34" charset="-120"/>
              </a:rPr>
              <a:t>Builders who ship, asking for one district</a:t>
            </a:r>
            <a:endParaRPr lang="en-US" sz="3000" dirty="0"/>
          </a:p>
        </p:txBody>
      </p:sp>
      <p:sp>
        <p:nvSpPr>
          <p:cNvPr id="8" name="Shape 6"/>
          <p:cNvSpPr/>
          <p:nvPr/>
        </p:nvSpPr>
        <p:spPr>
          <a:xfrm>
            <a:off x="548640" y="1828800"/>
            <a:ext cx="5074920" cy="4023360"/>
          </a:xfrm>
          <a:prstGeom prst="roundRect">
            <a:avLst>
              <a:gd name="adj" fmla="val 2273"/>
            </a:avLst>
          </a:prstGeom>
          <a:solidFill>
            <a:srgbClr val="152017"/>
          </a:solidFill>
          <a:ln w="12700">
            <a:solidFill>
              <a:srgbClr val="2C4636"/>
            </a:solidFill>
            <a:prstDash val="solid"/>
          </a:ln>
          <a:effectLst>
            <a:outerShdw sx="100000" sy="100000" kx="0" ky="0" algn="bl" rotWithShape="0" blurRad="127000" dist="38100" dir="5400000">
              <a:srgbClr val="000000">
                <a:alpha val="40000"/>
              </a:srgbClr>
            </a:outerShdw>
          </a:effectLst>
        </p:spPr>
      </p:sp>
      <p:sp>
        <p:nvSpPr>
          <p:cNvPr id="9" name="Text 7"/>
          <p:cNvSpPr/>
          <p:nvPr/>
        </p:nvSpPr>
        <p:spPr>
          <a:xfrm>
            <a:off x="868680" y="2057400"/>
            <a:ext cx="4572000" cy="457200"/>
          </a:xfrm>
          <a:prstGeom prst="rect">
            <a:avLst/>
          </a:prstGeom>
          <a:noFill/>
          <a:ln/>
        </p:spPr>
        <p:txBody>
          <a:bodyPr wrap="square" lIns="0" tIns="0" rIns="0" bIns="0" rtlCol="0" anchor="ctr"/>
          <a:lstStyle/>
          <a:p>
            <a:pPr indent="0" marL="0">
              <a:buNone/>
            </a:pPr>
            <a:r>
              <a:rPr lang="en-US" sz="2100" b="1" dirty="0">
                <a:solidFill>
                  <a:srgbClr val="EEF3EE"/>
                </a:solidFill>
                <a:latin typeface="Arial" pitchFamily="34" charset="0"/>
                <a:ea typeface="Arial" pitchFamily="34" charset="-122"/>
                <a:cs typeface="Arial" pitchFamily="34" charset="-120"/>
              </a:rPr>
              <a:t>Roshan Raj</a:t>
            </a:r>
            <a:endParaRPr lang="en-US" sz="2100" dirty="0"/>
          </a:p>
        </p:txBody>
      </p:sp>
      <p:sp>
        <p:nvSpPr>
          <p:cNvPr id="10" name="Text 8"/>
          <p:cNvSpPr/>
          <p:nvPr/>
        </p:nvSpPr>
        <p:spPr>
          <a:xfrm>
            <a:off x="868680" y="2514600"/>
            <a:ext cx="4572000" cy="548640"/>
          </a:xfrm>
          <a:prstGeom prst="rect">
            <a:avLst/>
          </a:prstGeom>
          <a:noFill/>
          <a:ln/>
        </p:spPr>
        <p:txBody>
          <a:bodyPr wrap="square" lIns="0" tIns="0" rIns="0" bIns="0" rtlCol="0" anchor="ctr"/>
          <a:lstStyle/>
          <a:p>
            <a:pPr indent="0" marL="0">
              <a:buNone/>
            </a:pPr>
            <a:r>
              <a:rPr lang="en-US" sz="1250" dirty="0">
                <a:solidFill>
                  <a:srgbClr val="27C08A"/>
                </a:solidFill>
                <a:latin typeface="Calibri" pitchFamily="34" charset="0"/>
                <a:ea typeface="Calibri" pitchFamily="34" charset="-122"/>
                <a:cs typeface="Calibri" pitchFamily="34" charset="-120"/>
              </a:rPr>
              <a:t>Systems and AI-infrastructure engineer · Manipal Institute of Technology</a:t>
            </a:r>
            <a:endParaRPr lang="en-US" sz="1250" dirty="0"/>
          </a:p>
        </p:txBody>
      </p:sp>
      <p:sp>
        <p:nvSpPr>
          <p:cNvPr id="11" name="Text 9"/>
          <p:cNvSpPr/>
          <p:nvPr/>
        </p:nvSpPr>
        <p:spPr>
          <a:xfrm>
            <a:off x="868680" y="3291840"/>
            <a:ext cx="4572000" cy="457200"/>
          </a:xfrm>
          <a:prstGeom prst="rect">
            <a:avLst/>
          </a:prstGeom>
          <a:noFill/>
          <a:ln/>
        </p:spPr>
        <p:txBody>
          <a:bodyPr wrap="square" lIns="0" tIns="0" rIns="0" bIns="0" rtlCol="0" anchor="ctr"/>
          <a:lstStyle/>
          <a:p>
            <a:pPr indent="0" marL="0">
              <a:buNone/>
            </a:pPr>
            <a:r>
              <a:rPr lang="en-US" sz="2100" b="1" dirty="0">
                <a:solidFill>
                  <a:srgbClr val="EEF3EE"/>
                </a:solidFill>
                <a:latin typeface="Arial" pitchFamily="34" charset="0"/>
                <a:ea typeface="Arial" pitchFamily="34" charset="-122"/>
                <a:cs typeface="Arial" pitchFamily="34" charset="-120"/>
              </a:rPr>
              <a:t>Ishmiit Singh</a:t>
            </a:r>
            <a:endParaRPr lang="en-US" sz="2100" dirty="0"/>
          </a:p>
        </p:txBody>
      </p:sp>
      <p:sp>
        <p:nvSpPr>
          <p:cNvPr id="12" name="Text 10"/>
          <p:cNvSpPr/>
          <p:nvPr/>
        </p:nvSpPr>
        <p:spPr>
          <a:xfrm>
            <a:off x="868680" y="3749040"/>
            <a:ext cx="4572000" cy="365760"/>
          </a:xfrm>
          <a:prstGeom prst="rect">
            <a:avLst/>
          </a:prstGeom>
          <a:noFill/>
          <a:ln/>
        </p:spPr>
        <p:txBody>
          <a:bodyPr wrap="square" lIns="0" tIns="0" rIns="0" bIns="0" rtlCol="0" anchor="ctr"/>
          <a:lstStyle/>
          <a:p>
            <a:pPr indent="0" marL="0">
              <a:buNone/>
            </a:pPr>
            <a:r>
              <a:rPr lang="en-US" sz="1250" dirty="0">
                <a:solidFill>
                  <a:srgbClr val="27C08A"/>
                </a:solidFill>
                <a:latin typeface="Calibri" pitchFamily="34" charset="0"/>
                <a:ea typeface="Calibri" pitchFamily="34" charset="-122"/>
                <a:cs typeface="Calibri" pitchFamily="34" charset="-120"/>
              </a:rPr>
              <a:t>Co-builder: product, content and evidence</a:t>
            </a:r>
            <a:endParaRPr lang="en-US" sz="1250" dirty="0"/>
          </a:p>
        </p:txBody>
      </p:sp>
      <p:sp>
        <p:nvSpPr>
          <p:cNvPr id="13" name="Text 11"/>
          <p:cNvSpPr/>
          <p:nvPr/>
        </p:nvSpPr>
        <p:spPr>
          <a:xfrm>
            <a:off x="868680" y="4297680"/>
            <a:ext cx="4572000" cy="1371600"/>
          </a:xfrm>
          <a:prstGeom prst="rect">
            <a:avLst/>
          </a:prstGeom>
          <a:noFill/>
          <a:ln/>
        </p:spPr>
        <p:txBody>
          <a:bodyPr wrap="square" lIns="0" tIns="0" rIns="0" bIns="0" rtlCol="0" anchor="t"/>
          <a:lstStyle/>
          <a:p>
            <a:pPr indent="0" marL="0">
              <a:buNone/>
            </a:pPr>
            <a:r>
              <a:rPr lang="en-US" sz="1250" dirty="0">
                <a:solidFill>
                  <a:srgbClr val="9DB0A4"/>
                </a:solidFill>
                <a:latin typeface="Calibri" pitchFamily="34" charset="0"/>
                <a:ea typeface="Calibri" pitchFamily="34" charset="-122"/>
                <a:cs typeface="Calibri" pitchFamily="34" charset="-120"/>
              </a:rPr>
              <a:t>Together: the node, the scam shield, the scheme navigator, offline voice, the phone engine, the operator console and the benchmarks behind every number in this deck.</a:t>
            </a:r>
            <a:endParaRPr lang="en-US" sz="1250" dirty="0"/>
          </a:p>
        </p:txBody>
      </p:sp>
      <p:sp>
        <p:nvSpPr>
          <p:cNvPr id="14" name="Shape 12"/>
          <p:cNvSpPr/>
          <p:nvPr/>
        </p:nvSpPr>
        <p:spPr>
          <a:xfrm>
            <a:off x="5852160" y="1828800"/>
            <a:ext cx="5760720" cy="4023360"/>
          </a:xfrm>
          <a:prstGeom prst="roundRect">
            <a:avLst>
              <a:gd name="adj" fmla="val 2273"/>
            </a:avLst>
          </a:prstGeom>
          <a:solidFill>
            <a:srgbClr val="1B2A20"/>
          </a:solidFill>
          <a:ln w="12700">
            <a:solidFill>
              <a:srgbClr val="2C4636"/>
            </a:solidFill>
            <a:prstDash val="solid"/>
          </a:ln>
          <a:effectLst>
            <a:outerShdw sx="100000" sy="100000" kx="0" ky="0" algn="bl" rotWithShape="0" blurRad="127000" dist="38100" dir="5400000">
              <a:srgbClr val="000000">
                <a:alpha val="40000"/>
              </a:srgbClr>
            </a:outerShdw>
          </a:effectLst>
        </p:spPr>
      </p:sp>
      <p:sp>
        <p:nvSpPr>
          <p:cNvPr id="15" name="Text 13"/>
          <p:cNvSpPr/>
          <p:nvPr/>
        </p:nvSpPr>
        <p:spPr>
          <a:xfrm>
            <a:off x="6172200" y="2057400"/>
            <a:ext cx="5212080" cy="365760"/>
          </a:xfrm>
          <a:prstGeom prst="rect">
            <a:avLst/>
          </a:prstGeom>
          <a:noFill/>
          <a:ln/>
        </p:spPr>
        <p:txBody>
          <a:bodyPr wrap="square" lIns="0" tIns="0" rIns="0" bIns="0" rtlCol="0" anchor="ctr"/>
          <a:lstStyle/>
          <a:p>
            <a:pPr indent="0" marL="0">
              <a:buNone/>
            </a:pPr>
            <a:r>
              <a:rPr lang="en-US" sz="1400" b="1" spc="200" kern="0" dirty="0">
                <a:solidFill>
                  <a:srgbClr val="FF9E3D"/>
                </a:solidFill>
                <a:latin typeface="Arial" pitchFamily="34" charset="0"/>
                <a:ea typeface="Arial" pitchFamily="34" charset="-122"/>
                <a:cs typeface="Arial" pitchFamily="34" charset="-120"/>
              </a:rPr>
              <a:t>The ask</a:t>
            </a:r>
            <a:endParaRPr lang="en-US" sz="1400" dirty="0"/>
          </a:p>
        </p:txBody>
      </p:sp>
      <p:sp>
        <p:nvSpPr>
          <p:cNvPr id="16" name="Text 14"/>
          <p:cNvSpPr/>
          <p:nvPr/>
        </p:nvSpPr>
        <p:spPr>
          <a:xfrm>
            <a:off x="6172200" y="2468880"/>
            <a:ext cx="5212080" cy="640080"/>
          </a:xfrm>
          <a:prstGeom prst="rect">
            <a:avLst/>
          </a:prstGeom>
          <a:noFill/>
          <a:ln/>
        </p:spPr>
        <p:txBody>
          <a:bodyPr wrap="square" lIns="0" tIns="0" rIns="0" bIns="0" rtlCol="0" anchor="ctr"/>
          <a:lstStyle/>
          <a:p>
            <a:pPr indent="0" marL="0">
              <a:buNone/>
            </a:pPr>
            <a:r>
              <a:rPr lang="en-US" sz="1300" dirty="0">
                <a:solidFill>
                  <a:srgbClr val="EEF3EE"/>
                </a:solidFill>
                <a:latin typeface="Calibri" pitchFamily="34" charset="0"/>
                <a:ea typeface="Calibri" pitchFamily="34" charset="-122"/>
                <a:cs typeface="Calibri" pitchFamily="34" charset="-120"/>
              </a:rPr>
              <a:t>A six-month, single-district pilot (about 20 villages, 50 counters, roughly ₹35–40 lakh) with:</a:t>
            </a:r>
            <a:endParaRPr lang="en-US" sz="1300" dirty="0"/>
          </a:p>
        </p:txBody>
      </p:sp>
      <p:sp>
        <p:nvSpPr>
          <p:cNvPr id="17" name="Text 15"/>
          <p:cNvSpPr/>
          <p:nvPr/>
        </p:nvSpPr>
        <p:spPr>
          <a:xfrm>
            <a:off x="6309360" y="3200400"/>
            <a:ext cx="5074920" cy="246888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9DB0A4"/>
                </a:solidFill>
                <a:latin typeface="Calibri" pitchFamily="34" charset="0"/>
                <a:ea typeface="Calibri" pitchFamily="34" charset="-122"/>
                <a:cs typeface="Calibri" pitchFamily="34" charset="-120"/>
              </a:rPr>
              <a:t>CSC e-Governance or the State IT department: the counters</a:t>
            </a:r>
            <a:endParaRPr lang="en-US" sz="1250" dirty="0"/>
          </a:p>
          <a:p>
            <a:pPr marL="342900" indent="-342900">
              <a:spcAft>
                <a:spcPts val="600"/>
              </a:spcAft>
              <a:buSzPct val="100000"/>
              <a:buChar char="•"/>
            </a:pPr>
            <a:r>
              <a:rPr lang="en-US" sz="1250" dirty="0">
                <a:solidFill>
                  <a:srgbClr val="9DB0A4"/>
                </a:solidFill>
                <a:latin typeface="Calibri" pitchFamily="34" charset="0"/>
                <a:ea typeface="Calibri" pitchFamily="34" charset="-122"/>
                <a:cs typeface="Calibri" pitchFamily="34" charset="-120"/>
              </a:rPr>
              <a:t>A bank BC network or SLBC: reach, and real messages for ScamBench v1</a:t>
            </a:r>
            <a:endParaRPr lang="en-US" sz="1250" dirty="0"/>
          </a:p>
          <a:p>
            <a:pPr marL="342900" indent="-342900">
              <a:spcAft>
                <a:spcPts val="600"/>
              </a:spcAft>
              <a:buSzPct val="100000"/>
              <a:buChar char="•"/>
            </a:pPr>
            <a:r>
              <a:rPr lang="en-US" sz="1250" dirty="0">
                <a:solidFill>
                  <a:srgbClr val="9DB0A4"/>
                </a:solidFill>
                <a:latin typeface="Calibri" pitchFamily="34" charset="0"/>
                <a:ea typeface="Calibri" pitchFamily="34" charset="-122"/>
                <a:cs typeface="Calibri" pitchFamily="34" charset="-120"/>
              </a:rPr>
              <a:t>NHA or the state health agency: Vay Vandana cards made at the counter</a:t>
            </a:r>
            <a:endParaRPr lang="en-US" sz="1250" dirty="0"/>
          </a:p>
          <a:p>
            <a:pPr marL="342900" indent="-342900">
              <a:spcAft>
                <a:spcPts val="600"/>
              </a:spcAft>
              <a:buSzPct val="100000"/>
              <a:buChar char="•"/>
            </a:pPr>
            <a:r>
              <a:rPr lang="en-US" sz="1250" dirty="0">
                <a:solidFill>
                  <a:srgbClr val="9DB0A4"/>
                </a:solidFill>
                <a:latin typeface="Calibri" pitchFamily="34" charset="0"/>
                <a:ea typeface="Calibri" pitchFamily="34" charset="-122"/>
                <a:cs typeface="Calibri" pitchFamily="34" charset="-120"/>
              </a:rPr>
              <a:t>A rural NGO: field testing and Hindi review</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0F14"/>
        </a:solidFill>
      </p:bgPr>
    </p:bg>
    <p:spTree>
      <p:nvGrpSpPr>
        <p:cNvPr id="1" name=""/>
        <p:cNvGrpSpPr/>
        <p:nvPr/>
      </p:nvGrpSpPr>
      <p:grpSpPr>
        <a:xfrm>
          <a:off x="0" y="0"/>
          <a:ext cx="0" cy="0"/>
          <a:chOff x="0" y="0"/>
          <a:chExt cx="0" cy="0"/>
        </a:xfrm>
      </p:grpSpPr>
      <p:sp>
        <p:nvSpPr>
          <p:cNvPr id="2" name="Shape 0"/>
          <p:cNvSpPr/>
          <p:nvPr/>
        </p:nvSpPr>
        <p:spPr>
          <a:xfrm>
            <a:off x="11475720" y="384048"/>
            <a:ext cx="109728" cy="109728"/>
          </a:xfrm>
          <a:prstGeom prst="ellipse">
            <a:avLst/>
          </a:prstGeom>
          <a:solidFill>
            <a:srgbClr val="FF9E3D"/>
          </a:solidFill>
          <a:ln/>
        </p:spPr>
      </p:sp>
      <p:sp>
        <p:nvSpPr>
          <p:cNvPr id="3" name="Shape 1"/>
          <p:cNvSpPr/>
          <p:nvPr/>
        </p:nvSpPr>
        <p:spPr>
          <a:xfrm>
            <a:off x="11658600" y="384048"/>
            <a:ext cx="109728" cy="109728"/>
          </a:xfrm>
          <a:prstGeom prst="ellipse">
            <a:avLst/>
          </a:prstGeom>
          <a:solidFill>
            <a:srgbClr val="EEF3EE"/>
          </a:solidFill>
          <a:ln/>
        </p:spPr>
      </p:sp>
      <p:sp>
        <p:nvSpPr>
          <p:cNvPr id="4" name="Shape 2"/>
          <p:cNvSpPr/>
          <p:nvPr/>
        </p:nvSpPr>
        <p:spPr>
          <a:xfrm>
            <a:off x="11841480" y="384048"/>
            <a:ext cx="109728" cy="109728"/>
          </a:xfrm>
          <a:prstGeom prst="ellipse">
            <a:avLst/>
          </a:prstGeom>
          <a:solidFill>
            <a:srgbClr val="27C08A"/>
          </a:solidFill>
          <a:ln/>
        </p:spPr>
      </p:sp>
      <p:sp>
        <p:nvSpPr>
          <p:cNvPr id="5" name="Shape 3"/>
          <p:cNvSpPr/>
          <p:nvPr/>
        </p:nvSpPr>
        <p:spPr>
          <a:xfrm>
            <a:off x="566928" y="603504"/>
            <a:ext cx="128016" cy="128016"/>
          </a:xfrm>
          <a:prstGeom prst="ellipse">
            <a:avLst/>
          </a:prstGeom>
          <a:solidFill>
            <a:srgbClr val="27C08A"/>
          </a:solidFill>
          <a:ln/>
        </p:spPr>
      </p:sp>
      <p:sp>
        <p:nvSpPr>
          <p:cNvPr id="6" name="Text 4"/>
          <p:cNvSpPr/>
          <p:nvPr/>
        </p:nvSpPr>
        <p:spPr>
          <a:xfrm>
            <a:off x="777240" y="457200"/>
            <a:ext cx="10058400" cy="411480"/>
          </a:xfrm>
          <a:prstGeom prst="rect">
            <a:avLst/>
          </a:prstGeom>
          <a:noFill/>
          <a:ln/>
        </p:spPr>
        <p:txBody>
          <a:bodyPr wrap="square" lIns="0" tIns="0" rIns="0" bIns="0" rtlCol="0" anchor="ctr"/>
          <a:lstStyle/>
          <a:p>
            <a:pPr indent="0" marL="0">
              <a:buNone/>
            </a:pPr>
            <a:r>
              <a:rPr lang="en-US" sz="1250" b="1" spc="200" kern="0" dirty="0">
                <a:solidFill>
                  <a:srgbClr val="27C08A"/>
                </a:solidFill>
                <a:latin typeface="Arial" pitchFamily="34" charset="0"/>
                <a:ea typeface="Arial" pitchFamily="34" charset="-122"/>
                <a:cs typeface="Arial" pitchFamily="34" charset="-120"/>
              </a:rPr>
              <a:t>ELEVATOR PITCH</a:t>
            </a:r>
            <a:endParaRPr lang="en-US" sz="1250" dirty="0"/>
          </a:p>
        </p:txBody>
      </p:sp>
      <p:sp>
        <p:nvSpPr>
          <p:cNvPr id="7" name="Text 5"/>
          <p:cNvSpPr/>
          <p:nvPr/>
        </p:nvSpPr>
        <p:spPr>
          <a:xfrm>
            <a:off x="640080" y="1828800"/>
            <a:ext cx="10972800" cy="640080"/>
          </a:xfrm>
          <a:prstGeom prst="rect">
            <a:avLst/>
          </a:prstGeom>
          <a:noFill/>
          <a:ln/>
        </p:spPr>
        <p:txBody>
          <a:bodyPr wrap="square" lIns="0" tIns="0" rIns="0" bIns="0" rtlCol="0" anchor="ctr"/>
          <a:lstStyle/>
          <a:p>
            <a:pPr indent="0" marL="0">
              <a:buNone/>
            </a:pPr>
            <a:r>
              <a:rPr lang="en-US" sz="2600" b="1" dirty="0">
                <a:solidFill>
                  <a:srgbClr val="EEF3EE"/>
                </a:solidFill>
                <a:latin typeface="Arial" pitchFamily="34" charset="0"/>
                <a:ea typeface="Arial" pitchFamily="34" charset="-122"/>
                <a:cs typeface="Arial" pitchFamily="34" charset="-120"/>
              </a:rPr>
              <a:t>India banked half a billion people.</a:t>
            </a:r>
            <a:endParaRPr lang="en-US" sz="2600" dirty="0"/>
          </a:p>
        </p:txBody>
      </p:sp>
      <p:sp>
        <p:nvSpPr>
          <p:cNvPr id="8" name="Text 6"/>
          <p:cNvSpPr/>
          <p:nvPr/>
        </p:nvSpPr>
        <p:spPr>
          <a:xfrm>
            <a:off x="640080" y="2468880"/>
            <a:ext cx="10972800" cy="640080"/>
          </a:xfrm>
          <a:prstGeom prst="rect">
            <a:avLst/>
          </a:prstGeom>
          <a:noFill/>
          <a:ln/>
        </p:spPr>
        <p:txBody>
          <a:bodyPr wrap="square" lIns="0" tIns="0" rIns="0" bIns="0" rtlCol="0" anchor="ctr"/>
          <a:lstStyle/>
          <a:p>
            <a:pPr indent="0" marL="0">
              <a:buNone/>
            </a:pPr>
            <a:r>
              <a:rPr lang="en-US" sz="2600" b="1" dirty="0">
                <a:solidFill>
                  <a:srgbClr val="27C08A"/>
                </a:solidFill>
                <a:latin typeface="Arial" pitchFamily="34" charset="0"/>
                <a:ea typeface="Arial" pitchFamily="34" charset="-122"/>
                <a:cs typeface="Arial" pitchFamily="34" charset="-120"/>
              </a:rPr>
              <a:t>Sahayak helps keep them safe, and claim what they are owed.</a:t>
            </a:r>
            <a:endParaRPr lang="en-US" sz="2600" dirty="0"/>
          </a:p>
        </p:txBody>
      </p:sp>
      <p:sp>
        <p:nvSpPr>
          <p:cNvPr id="9" name="Text 7"/>
          <p:cNvSpPr/>
          <p:nvPr/>
        </p:nvSpPr>
        <p:spPr>
          <a:xfrm>
            <a:off x="658368" y="3429000"/>
            <a:ext cx="10607040" cy="822960"/>
          </a:xfrm>
          <a:prstGeom prst="rect">
            <a:avLst/>
          </a:prstGeom>
          <a:noFill/>
          <a:ln/>
        </p:spPr>
        <p:txBody>
          <a:bodyPr wrap="square" lIns="0" tIns="0" rIns="0" bIns="0" rtlCol="0" anchor="ctr"/>
          <a:lstStyle/>
          <a:p>
            <a:pPr indent="0" marL="0">
              <a:buNone/>
            </a:pPr>
            <a:r>
              <a:rPr lang="en-US" sz="1500" dirty="0">
                <a:solidFill>
                  <a:srgbClr val="9DB0A4"/>
                </a:solidFill>
                <a:latin typeface="Calibri" pitchFamily="34" charset="0"/>
                <a:ea typeface="Calibri" pitchFamily="34" charset="-122"/>
                <a:cs typeface="Calibri" pitchFamily="34" charset="-120"/>
              </a:rPr>
              <a:t>At the counter and on their own phone · offline · in their language · nothing leaves the device · built and measured. Starting with ₹5 lakh of health cover for every senior who does not yet have the card.</a:t>
            </a:r>
            <a:endParaRPr lang="en-US" sz="1500" dirty="0"/>
          </a:p>
        </p:txBody>
      </p:sp>
      <p:sp>
        <p:nvSpPr>
          <p:cNvPr id="10" name="Text 8"/>
          <p:cNvSpPr/>
          <p:nvPr/>
        </p:nvSpPr>
        <p:spPr>
          <a:xfrm>
            <a:off x="658368" y="5120640"/>
            <a:ext cx="10972800" cy="365760"/>
          </a:xfrm>
          <a:prstGeom prst="rect">
            <a:avLst/>
          </a:prstGeom>
          <a:noFill/>
          <a:ln/>
        </p:spPr>
        <p:txBody>
          <a:bodyPr wrap="square" lIns="0" tIns="0" rIns="0" bIns="0" rtlCol="0" anchor="ctr"/>
          <a:lstStyle/>
          <a:p>
            <a:pPr indent="0" marL="0">
              <a:buNone/>
            </a:pPr>
            <a:r>
              <a:rPr lang="en-US" sz="1350" b="1" dirty="0">
                <a:solidFill>
                  <a:srgbClr val="EEF3EE"/>
                </a:solidFill>
                <a:latin typeface="Calibri" pitchFamily="34" charset="0"/>
                <a:ea typeface="Calibri" pitchFamily="34" charset="-122"/>
                <a:cs typeface="Calibri" pitchFamily="34" charset="-120"/>
              </a:rPr>
              <a:t>Roshan Raj  ·  Ishmiit Singh</a:t>
            </a:r>
            <a:endParaRPr lang="en-US" sz="1350" dirty="0"/>
          </a:p>
        </p:txBody>
      </p:sp>
      <p:pic>
        <p:nvPicPr>
          <p:cNvPr id="11" name="Image 0" descr="/Users/rosh/Personal/Hackathons/Optum - Inclusive Innovation for Bharat Hackathon/Project/Sahayak/docs/deck/img/tryit_qr.png">    </p:cNvPr>
          <p:cNvPicPr>
            <a:picLocks noChangeAspect="1"/>
          </p:cNvPicPr>
          <p:nvPr/>
        </p:nvPicPr>
        <p:blipFill>
          <a:blip r:embed="rId1"/>
          <a:stretch>
            <a:fillRect/>
          </a:stretch>
        </p:blipFill>
        <p:spPr>
          <a:xfrm>
            <a:off x="10104120" y="4526280"/>
            <a:ext cx="1417320" cy="1417320"/>
          </a:xfrm>
          <a:prstGeom prst="rect">
            <a:avLst/>
          </a:prstGeom>
        </p:spPr>
      </p:pic>
      <p:sp>
        <p:nvSpPr>
          <p:cNvPr id="12" name="Text 9"/>
          <p:cNvSpPr/>
          <p:nvPr/>
        </p:nvSpPr>
        <p:spPr>
          <a:xfrm>
            <a:off x="8503920" y="5989320"/>
            <a:ext cx="3017520" cy="320040"/>
          </a:xfrm>
          <a:prstGeom prst="rect">
            <a:avLst/>
          </a:prstGeom>
          <a:noFill/>
          <a:ln/>
        </p:spPr>
        <p:txBody>
          <a:bodyPr wrap="square" lIns="0" tIns="0" rIns="0" bIns="0" rtlCol="0" anchor="ctr"/>
          <a:lstStyle/>
          <a:p>
            <a:pPr algn="r" indent="0" marL="0">
              <a:buNone/>
            </a:pPr>
            <a:r>
              <a:rPr lang="en-US" sz="1100" dirty="0">
                <a:solidFill>
                  <a:srgbClr val="9DB0A4"/>
                </a:solidFill>
                <a:latin typeface="Calibri" pitchFamily="34" charset="0"/>
                <a:ea typeface="Calibri" pitchFamily="34" charset="-122"/>
                <a:cs typeface="Calibri" pitchFamily="34" charset="-120"/>
              </a:rPr>
              <a:t>roshworldwide.github.io/optum-v2</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Roshan Raj, Ishmiit Singh</dc:creator>
  <cp:lastModifiedBy>Roshan Raj, Ishmiit Singh</cp:lastModifiedBy>
  <cp:revision>1</cp:revision>
  <dcterms:created xsi:type="dcterms:W3CDTF">2026-10-07T02:27:24Z</dcterms:created>
  <dcterms:modified xsi:type="dcterms:W3CDTF">2026-10-07T02:27:24Z</dcterms:modified>
</cp:coreProperties>
</file>