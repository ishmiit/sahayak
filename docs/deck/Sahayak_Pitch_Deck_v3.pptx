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India banked half a billion people, then left them to be robbed. Sahayak protects them where they are: at the counter and at home, offline, in their language, privately.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Losses were flat from 2024 to 2025 while complaints rose: the fraud is moving to the people least able to spot it. The pension figure is from LASI 2017–18, say so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counter is where people meet Sahayak and claim benefits; the phone is where it protects them. Invite the judges to scan the code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 from the running prototype. The second one was taken with the network switched off: the pill says 'On this phone · offline'.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verdict never depends on a model alone; with the model off, everything still works, on the node and on the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complement the network filters and the helplines; no one else checks the thing in front of the person, offline, and explains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comes from a script in bench/ and the testing report; the caveats are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Optum's mission is healthier lives: this is the shortest path from Sahayak to a hospital bill that never has to be paid.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is economic (rupees at risk, entitlements claimed, cards made) and social (safety, dignity, trust).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operator's incentive matters: most rural operators earn very little, and every slip is a paid service at the counter.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Maps Sahayak onto the track: financial inclusion first, with public service delivery and health on the same counter.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Honest: the technology is built; the partnerships are what this challenge begins. Update the status pills in docs/deck/facts_v3.json as letters come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technology is built and measured; the pilot is integration and field validation, not new research.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line: banked half a billion; Sahayak helps keep them safe and claim what they are owed.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100" kern="0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SAHAYAK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658368" y="2971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Offline. Vernacular. On your side.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" y="36118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scam shield and benefits guide for people new to digital money: at the CSC counter and on their own phone, with no internet, in Hindi and English, by voice or touch. Built and measured.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5577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for India 2026</a:t>
            </a:r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Inclusive Innovation for Bharat · Financial Inclusion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8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Roshan Raj  ·  Ishmiit Singh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Banked, then left to be robbed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millions of first-time account holders now get OTPs, UPI requests and scheme messages they were never taught to read, and miss benefits they are owed.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2633472" cy="2103120"/>
          </a:xfrm>
          <a:prstGeom prst="roundRect">
            <a:avLst>
              <a:gd name="adj" fmla="val 434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9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₹22,495 crore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77240" y="33832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financial cyber fraud in 2025, across 24 lakh complaints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364992" y="2423160"/>
            <a:ext cx="2633472" cy="2103120"/>
          </a:xfrm>
          <a:prstGeom prst="roundRect">
            <a:avLst>
              <a:gd name="adj" fmla="val 434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93592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9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₹4,005 crore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93592" y="33832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by senior citizens in 2025 (1,03,488 complaints)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81344" y="2423160"/>
            <a:ext cx="2633472" cy="2103120"/>
          </a:xfrm>
          <a:prstGeom prst="roundRect">
            <a:avLst>
              <a:gd name="adj" fmla="val 434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9944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4F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in 5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09944" y="33832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with a UPI user hit by UPI fraud in the last 3 years; 51% never reported 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97696" y="2423160"/>
            <a:ext cx="2633472" cy="2103120"/>
          </a:xfrm>
          <a:prstGeom prst="roundRect">
            <a:avLst>
              <a:gd name="adj" fmla="val 434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226296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26296" y="33832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people aged 60+ know the old-age pension exists; 29% of poor elders receive it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75488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1B2A20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48463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every safety tool assumes the internet, a smartphone, English and the cloud: the four things the people most at risk are least likely to have, or trust.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8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MHA / I4C, Rajya Sabha, Feb 2026; MHA, Rajya Sabha, 5 Aug 2026; LocalCircles survey, 2025; LASI Wave 1, 2017–18 (IIPS)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counter, and on the phone at home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computer at a CSC or bank-agent counter. Phones join its Wi-Fi, which has no internet; after one visit, the same checks run on the phone itself.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3520440" cy="2651760"/>
          </a:xfrm>
          <a:prstGeom prst="roundRect">
            <a:avLst>
              <a:gd name="adj" fmla="val 344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50392" y="27249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9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"Is this a scam?"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50392" y="349300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Paste, speak, photograph or describe a message, a call or a UPI QR. A verdict in milliseconds, the three reasons, what to do now, and a ready 1930 complaint.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15968" y="2468880"/>
            <a:ext cx="3520440" cy="2651760"/>
          </a:xfrm>
          <a:prstGeom prst="roundRect">
            <a:avLst>
              <a:gd name="adj" fmla="val 344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17720" y="27249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am I owed?"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17720" y="349300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spoken interview (median 5 questions) across 12 central schemes, health first: what you can get, the papers, where to go, what to say, and a printed slip.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83296" y="2468880"/>
            <a:ext cx="3520440" cy="2651760"/>
          </a:xfrm>
          <a:prstGeom prst="roundRect">
            <a:avLst>
              <a:gd name="adj" fmla="val 344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85048" y="27249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F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Then, on their own phone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85048" y="349300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home, when the call actually comes: the same scam check and benefits interview, on the phone, with no node and no internet. Nothing leaves the phone.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1B2A20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pic>
        <p:nvPicPr>
          <p:cNvPr id="19" name="Image 0" descr="/Users/rosh/Personal/Hackathons/Optum - Inclusive Innovation for Bharat Hackathon/Project/Sahayak/docs/deck/img/tryit_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440680"/>
            <a:ext cx="1005840" cy="10058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920240" y="54864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now, on your own phone: </a:t>
            </a:r>
            <a:pPr indent="0" marL="0">
              <a:buNone/>
            </a:pPr>
            <a:r>
              <a:rPr lang="en-US" sz="1500" b="1" dirty="0">
                <a:solidFill>
                  <a:srgbClr val="27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roshworldwide.github.io/optum-v2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920240" y="59253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 message, switch on airplane mode, check another: it still works, and gives the node's exact answer.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IT WORKING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Built, and on a phone today</a:t>
            </a:r>
            <a:endParaRPr lang="en-US" sz="3000" dirty="0"/>
          </a:p>
        </p:txBody>
      </p:sp>
      <p:pic>
        <p:nvPicPr>
          <p:cNvPr id="8" name="Image 0" descr="/Users/rosh/Personal/Hackathons/Optum - Inclusive Innovation for Bharat Hackathon/Project/Sahayak/docs/deck/img/03_result_kyc_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2240280" cy="39593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583387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E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fake KYC SMS, on the node</a:t>
            </a:r>
            <a:endParaRPr lang="en-US" sz="1250" dirty="0"/>
          </a:p>
        </p:txBody>
      </p:sp>
      <p:pic>
        <p:nvPicPr>
          <p:cNvPr id="10" name="Image 1" descr="/Users/rosh/Personal/Hackathons/Optum - Inclusive Innovation for Bharat Hackathon/Project/Sahayak/docs/deck/img/20_phone_offline_scam_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152" y="1783080"/>
            <a:ext cx="2240280" cy="3959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27832" y="583387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E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 mode: checked on the phone</a:t>
            </a:r>
            <a:endParaRPr lang="en-US" sz="1250" dirty="0"/>
          </a:p>
        </p:txBody>
      </p:sp>
      <p:pic>
        <p:nvPicPr>
          <p:cNvPr id="12" name="Image 2" descr="/Users/rosh/Personal/Hackathons/Optum - Inclusive Innovation for Bharat Hackathon/Project/Sahayak/docs/deck/img/21_health_first_senior_h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783080"/>
            <a:ext cx="2240280" cy="3959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44184" y="583387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E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74: health cover first</a:t>
            </a:r>
            <a:endParaRPr lang="en-US" sz="1250" dirty="0"/>
          </a:p>
        </p:txBody>
      </p:sp>
      <p:pic>
        <p:nvPicPr>
          <p:cNvPr id="14" name="Image 3" descr="/Users/rosh/Personal/Hackathons/Optum - Inclusive Innovation for Bharat Hackathon/Project/Sahayak/docs/deck/img/13_qr_cashback_h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4856" y="1783080"/>
            <a:ext cx="2240280" cy="395935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860536" y="583387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E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"Scan to get cashback" QR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and implementation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1874520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1B2A20"/>
          </a:solidFill>
          <a:ln w="12700">
            <a:solidFill>
              <a:srgbClr val="27C0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8745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177393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80560" y="1773936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 app, no install, Hindi and English, every screen read aloud. After one visit it works offline on the phone.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52374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6609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1B2A20"/>
          </a:solidFill>
          <a:ln w="12700">
            <a:solidFill>
              <a:srgbClr val="27C0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660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560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Fraud-Shield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0560" y="256032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named signals in a signed content pack, a pattern matcher and a small classifier decide. Vetted templates explain; an optional local model may add a line, only through a safety gate.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3101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447288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1B2A20"/>
          </a:solidFill>
          <a:ln w="12700">
            <a:solidFill>
              <a:srgbClr val="27C0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334670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Navigator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80560" y="3346704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rules as data, each traced to its official page and date; yes / likely / unknown / no logic; asks only what can change the answer.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09651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233672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1B2A20"/>
          </a:solidFill>
          <a:ln w="12700">
            <a:solidFill>
              <a:srgbClr val="27C0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2336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63040" y="413308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voice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480560" y="413308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in and out on the node (Vosk, Piper); amounts spoken as words; "I heard …, is that right?" before any answer is used.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88289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5020056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1B2A20"/>
          </a:solidFill>
          <a:ln w="12700">
            <a:solidFill>
              <a:srgbClr val="27C0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0200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463040" y="491947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node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480560" y="4919472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mini-PC or laptop at a CSC. Zero-egress monitor, Ed25519-signed packs updated by USB, operator console, captive portal.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6692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77240" y="5806440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1B2A20"/>
          </a:solidFill>
          <a:ln w="12700">
            <a:solidFill>
              <a:srgbClr val="27C0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806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463040" y="570585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answer everywhere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480560" y="5705856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phone runs the same rules from the same signed packs: identical results to the node on 1,453 messages and 7,983 interviews.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DIFFERENTIATION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already exists, and what Sahayak adds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Already out there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 well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Sahayak adds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E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Airtel and Jio network filters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9DB0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spam calls and links at network scale; Airtel reports 68.7% lower fraud losses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9DB0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 the message, QR code or call story in front of the person and says why, in Hindi, offline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E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Truecaller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9DB0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Caller ID and spam lists for 339 million users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9DB0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account and no upload: nothing leaves the phone; covers UPI QR codes and screenshots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E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on-device scam alerts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9DB0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On-device call analysis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9DB0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in any phone's browser; Google's works on Pixel 9+ only (under 1% of phones)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E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1930, cybercrime.gov.in, Sanchar Saathi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9DB0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 and blocking after the fraud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9DB0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Catches it before the payment, and ends every scam verdict in a ready 1930 complaint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E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myScheme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9DB0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4,700+ schemes in 15 languages, online, self-serve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9DB0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Offline, spoken interview with a slip for the CSC; every rule and amount proven against official pages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E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Haqdarshak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9DB0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₹19,233 crore in benefits through trained agents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9DB0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offline front door and the scam shield; a content partner, not a rival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1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8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Airtel, citing I4C data, Sep 2025; Truecaller, Q2 2026; TechCrunch, Nov 2025; myScheme.gov.in, Oct 2026; Haqdarshak impact analysis, 2025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AND VALIDATION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already works, and we measured it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1064240" cy="1828800"/>
          </a:xfrm>
          <a:prstGeom prst="roundRect">
            <a:avLst>
              <a:gd name="adj" fmla="val 5000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91.9%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68680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scams caught (blocklist: 51.4%)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044952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9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ms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044952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verdict on a laptop CPU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21224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F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15.4%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221224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word error, real speakers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97496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 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97496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mic release to spoken reply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573768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9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573768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1,453 messages: the phone gives the node's exact answer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84048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B2A20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39502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know, and what it does not show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2960" y="43434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ScamBench v0 frozen test split (60 messages, 95% CI 82.1%–100.0%); SchemeBench: 2,400 of 2,400 decisions match an independent re-derivation; Google FLEURS Hindi (418 recordings). Red team: 46 of 52 disguised scams caught on the first run (blocklist 33). v0 messages were written by our team, so those numbers are optimistic; real messages collected with consent come next.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FIRST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 lakh of health cover most seniors have not claimed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6949440" cy="1463040"/>
          </a:xfrm>
          <a:prstGeom prst="roundRect">
            <a:avLst>
              <a:gd name="adj" fmla="val 6250"/>
            </a:avLst>
          </a:prstGeom>
          <a:solidFill>
            <a:srgbClr val="1B2A20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187452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9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crore of ~6 crore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256032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 aged 70+ had their Ayushman Vay Vandana card by Feb 2026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74720"/>
            <a:ext cx="6766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benefits result leads with Ayushman Bharat; for anyone 70 or older it is the Vay Vandana card, ₹5 lakh of treatment a year whatever their income.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their age, finds them; the slip tells the operator what to make.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CSC makes the card at the counter, and is paid ₹20 per first-time card; the citizen pays nothing.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scam check flags "pay to get your Ayushman card" messages; the node counts seniors found, every month, with no personal data.</a:t>
            </a:r>
            <a:endParaRPr lang="en-US" sz="1250" dirty="0"/>
          </a:p>
        </p:txBody>
      </p:sp>
      <p:pic>
        <p:nvPicPr>
          <p:cNvPr id="12" name="Image 0" descr="/Users/rosh/Personal/Hackathons/Optum - Inclusive Innovation for Bharat Hackathon/Project/Sahayak/docs/deck/img/21_health_first_senior_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783080"/>
            <a:ext cx="2514600" cy="444398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8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MoHFW, Feb 2026; Cabinet, Sep 2024; NHA–CSC MoU, 2021; Ministry of Labour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METRICS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"account opened" to "citizen safe"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0392" y="20848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9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Rupees at risk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2852928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node adds up the money asked for in messages it flags, every month: never called "saved", always shown to the district without personal data.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15968" y="18288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17720" y="20848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found, health first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2852928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found eligible, by scheme, with seniors found for Ayushman Vay Vandana counted on their own; each slip lets the operator finish the form.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83296" y="18288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85048" y="20848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F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in time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85048" y="2852928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compensation from 1 Jan 2027 needs a report within 5 days. Every scam verdict ends in a ready 1930 complaint, on the spot.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1B2A20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6817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target, not a result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" y="5074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district: about 20 villages and 50 CSC and bank-agent points, six months. Scams flagged and reported, people found eligible and cards made, all from the node's counters. A one-morning field test at a CSC (protocol and consent ready) comes first.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8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RBI Directions, 24 Jun 2026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AND SUSTAINABILITY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by replication; paid for by those who gain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349240" cy="4389120"/>
          </a:xfrm>
          <a:prstGeom prst="roundRect">
            <a:avLst>
              <a:gd name="adj" fmla="val 2083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19659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Replication, not reinvention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468880"/>
            <a:ext cx="4892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lakh functional CSCs, 4.7 lakh of them at gram-panchayat level: the counters already exist.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node image, signed packs and a one-page operator guide; a new scam or scheme is a pack update by USB.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phone that visits can keep its own copy, so protection spreads beyond the counter at no extra cost.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and no per-query fee; open, tested rules any state can audit.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0760" y="1783080"/>
            <a:ext cx="5532120" cy="4389120"/>
          </a:xfrm>
          <a:prstGeom prst="roundRect">
            <a:avLst>
              <a:gd name="adj" fmla="val 2083"/>
            </a:avLst>
          </a:prstGeom>
          <a:solidFill>
            <a:srgbClr val="1B2A20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19659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pays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55080" y="24231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₹25,000–35,000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55080" y="2971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node (an N150 mini-PC (8–16 GB) or a refurbished i5 laptop); each check costs nothing.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55080" y="352044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Banks: from 1 Jan 2027 they share the cost of compensating fraud losses, so a loss prevented is money kept.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CSC operator: paid about ₹20 per first-time Ayushman card or e-Shram registration Sahayak sends to the counter; 86% of rural operators earn under ₹500 a month.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district: a signed monthly count of scams seen and people found eligible, to fund against.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8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MeitY, Rajya Sabha, Mar 2025; Amazon.in listings, 6 Oct 2026; RBI Directions, 24 Jun 2026; NHA–CSC MoU, 2021; Ministry of Labour; CAG audit, reported Apr 2026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ALIGNMENT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Inclusive innovation on India's own rails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2128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inclusion, made safe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27432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the 59 crore Jan Dhan accounts and the UPI base the nation built, for the people who opened them last.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5968" y="201168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90288" y="22128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1930 and RBI's 2027 rules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90288" y="27432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scam verdict ends in the national helpline; fast reporting is what RBI's compensation now requires.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83296" y="201168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57616" y="22128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Ayushman Bharat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357616" y="27432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seniors for the Vay Vandana card and sends them to the counter that makes it.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17880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India, last mile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" y="470916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and English by voice today, offline; the language data is a pack, so more languages follow.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15968" y="397764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90288" y="417880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DPDP Act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590288" y="470916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design: consent first, nothing named, nothing written to disk, deleted by default.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83296" y="397764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357616" y="417880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CSC · BC · ASHA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357616" y="470916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through the public networks people already trust, with an operator at the counter.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COLLABORATIONS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the open; seeking last-mile partners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1837944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CSC village-level entrepreneur or bank business correspondent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120640" y="1837944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the node and the field morning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921240" y="2002536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1B2A20"/>
          </a:solidFill>
          <a:ln w="12700">
            <a:solidFill>
              <a:srgbClr val="FF9E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21240" y="200253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2770632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rural NGO or SHG federation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20640" y="2770632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invites participants, checks the Hindi and the consent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921240" y="2935224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1B2A20"/>
          </a:solidFill>
          <a:ln w="12700">
            <a:solidFill>
              <a:srgbClr val="FF9E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21240" y="29352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48456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703320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bank branch, regional office or SLBC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20640" y="3703320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points for the pilot, real messages for ScamBench v1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921240" y="3867912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1B2A20"/>
          </a:solidFill>
          <a:ln w="12700">
            <a:solidFill>
              <a:srgbClr val="FF9E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21240" y="386791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581144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2960" y="463600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Haqdarshak or myScheme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120640" y="4636008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content beyond 12 central schemes; Sahayak is the offline front door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921240" y="480060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1B2A20"/>
          </a:solidFill>
          <a:ln w="12700">
            <a:solidFill>
              <a:srgbClr val="FF9E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21240" y="4800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each partner: a one-morning field protocol with consent in Hindi and English, a scoring script, and letters of intent. The code is MIT-licensed and open.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AND THE ASK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who ship, asking for one district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273"/>
            </a:avLst>
          </a:prstGeom>
          <a:solidFill>
            <a:srgbClr val="152017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Roshan Raj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68680" y="2514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and AI-infrastructure engineer · Manipal Institute of Technology · 7 patents pending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291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Ishmiit Singh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68680" y="3749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Co-builder: product, content and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2976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Together: the node, the scam shield, the scheme navigator, offline voice, the phone engine, the operator console and the benchmarks behind every number in this deck.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852160" y="1828800"/>
            <a:ext cx="5760720" cy="4023360"/>
          </a:xfrm>
          <a:prstGeom prst="roundRect">
            <a:avLst>
              <a:gd name="adj" fmla="val 2273"/>
            </a:avLst>
          </a:prstGeom>
          <a:solidFill>
            <a:srgbClr val="1B2A20"/>
          </a:solidFill>
          <a:ln w="12700">
            <a:solidFill>
              <a:srgbClr val="2C46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72200" y="2057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9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246888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six-month, single-district pilot (about 20 villages, 50 counters, roughly ₹35–40 lakh) with: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3200400"/>
            <a:ext cx="5074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e-Governance or the State IT department: the counters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BC network or SLBC: reach, and real messages for ScamBench v1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 or the state health agency: Vay Vandana cards made at the counter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rural NGO: field testing and Hindi review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384048"/>
            <a:ext cx="109728" cy="109728"/>
          </a:xfrm>
          <a:prstGeom prst="ellipse">
            <a:avLst/>
          </a:prstGeom>
          <a:solidFill>
            <a:srgbClr val="FF9E3D"/>
          </a:solidFill>
          <a:ln/>
        </p:spPr>
      </p:sp>
      <p:sp>
        <p:nvSpPr>
          <p:cNvPr id="3" name="Shape 1"/>
          <p:cNvSpPr/>
          <p:nvPr/>
        </p:nvSpPr>
        <p:spPr>
          <a:xfrm>
            <a:off x="11658600" y="384048"/>
            <a:ext cx="109728" cy="109728"/>
          </a:xfrm>
          <a:prstGeom prst="ellipse">
            <a:avLst/>
          </a:prstGeom>
          <a:solidFill>
            <a:srgbClr val="EEF3EE"/>
          </a:solidFill>
          <a:ln/>
        </p:spPr>
      </p:sp>
      <p:sp>
        <p:nvSpPr>
          <p:cNvPr id="4" name="Shape 2"/>
          <p:cNvSpPr/>
          <p:nvPr/>
        </p:nvSpPr>
        <p:spPr>
          <a:xfrm>
            <a:off x="11841480" y="384048"/>
            <a:ext cx="109728" cy="109728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27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ELEVATOR PITCH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E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banked half a billion people.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7C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Sahayak helps keep them safe, and claim what they are owed.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58368" y="3429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counter and on their own phone · offline · in their language · nothing leaves the device · built and measured. Starting with ₹5 lakh of health cover for every senior who does not yet have the card.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5120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Roshan Raj  ·  Ishmiit Singh</a:t>
            </a:r>
            <a:endParaRPr lang="en-US" sz="1350" dirty="0"/>
          </a:p>
        </p:txBody>
      </p:sp>
      <p:pic>
        <p:nvPicPr>
          <p:cNvPr id="11" name="Image 0" descr="/Users/rosh/Personal/Hackathons/Optum - Inclusive Innovation for Bharat Hackathon/Project/Sahayak/docs/deck/img/tryit_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4526280"/>
            <a:ext cx="1417320" cy="1417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503920" y="5989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roshworldwide.github.io/optum-v2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Roshan Raj, Ishmiit Singh</dc:creator>
  <cp:lastModifiedBy>Roshan Raj, Ishmiit Singh</cp:lastModifiedBy>
  <cp:revision>1</cp:revision>
  <dcterms:created xsi:type="dcterms:W3CDTF">2026-10-06T18:31:55Z</dcterms:created>
  <dcterms:modified xsi:type="dcterms:W3CDTF">2026-10-06T18:31:55Z</dcterms:modified>
</cp:coreProperties>
</file>