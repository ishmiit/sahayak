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message" id="{a482bcc6-2a41-a86c-b595-411ac7e5a980}">
          <p14:sldIdLst>
            <p14:sldId id="256"/>
          </p14:sldIdLst>
        </p14:section>
        <p14:section name="Who reads it" id="{66a3f493-0613-9a4d-1732-386e03a23fc6}">
          <p14:sldIdLst>
            <p14:sldId id="257"/>
          </p14:sldIdLst>
        </p14:section>
        <p14:section name="Every minute" id="{f6773295-9004-9579-0b8a-a83d86ec1e35}">
          <p14:sldIdLst>
            <p14:sldId id="258"/>
          </p14:sldIdLst>
        </p14:section>
        <p14:section name="Introducing Sahayak" id="{255de4b0-cb62-37ee-cfe5-1473b0408c30}">
          <p14:sldIdLst>
            <p14:sldId id="259"/>
          </p14:sldIdLst>
        </p14:section>
        <p14:section name="It tells her why" id="{b500c994-74af-f937-9244-5ac1258f4b96}">
          <p14:sldIdLst>
            <p14:sldId id="260"/>
          </p14:sldIdLst>
        </p14:section>
        <p14:section name="What she is owed" id="{6153dca8-12f5-136e-f6aa-ff9f0e2361ae}">
          <p14:sldIdLst>
            <p14:sldId id="261"/>
          </p14:sldIdLst>
        </p14:section>
        <p14:section name="Try it" id="{95f2bd6e-561d-a64d-01ea-0afeff54b6e8}">
          <p14:sldIdLst>
            <p14:sldId id="262"/>
          </p14:sldIdLst>
        </p14:section>
        <p14:section name="How it works" id="{75ba7f90-215b-2a2a-61d2-30346868713b}">
          <p14:sldIdLst>
            <p14:sldId id="263"/>
          </p14:sldIdLst>
        </p14:section>
        <p14:section name="Why rules decide" id="{d36852c9-c337-67d4-b1cc-eea7bc1ec58a}">
          <p14:sldIdLst>
            <p14:sldId id="264"/>
          </p14:sldIdLst>
        </p14:section>
        <p14:section name="The honest number" id="{96a56ea5-ba73-47d6-6ee9-9fc45353336d}">
          <p14:sldIdLst>
            <p14:sldId id="265"/>
          </p14:sldIdLst>
        </p14:section>
        <p14:section name="The pilot" id="{7117de9b-d3b6-670e-1311-6312a74b7114}">
          <p14:sldIdLst>
            <p14:sldId id="266"/>
          </p14:sldIdLst>
        </p14:section>
        <p14:section name="The ask" id="{7421871e-399f-2d2e-61be-a911b1f0dbff}">
          <p14:sldIdLst>
            <p14:sldId id="267"/>
          </p14:sldIdLst>
        </p14:section>
        <p14:section name="One more thing" id="{90c57ebc-1d64-214e-c814-a41df9a7d53a}">
          <p14:sldIdLst>
            <p14:sldId id="268"/>
          </p14:sldIdLst>
        </p14:section>
        <p14:section name="Someone to ask" id="{5228b047-764c-9198-878a-c0a4635c100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The scam SMS, large, as a phone shows it: Hindi, with the English below.
DO: Before you walk on: the deck is on slide 1. Nothing in your hands but the clicker.
DO: Walk to the centre and stop. Look at the jury. Say nothing until the room is quiet. (about 2 s)
ISHMIIT: It’s nine at night, and a phone buzzes. You can read it for yourself. Her account closes tonight, unless she updates her KYC. And there’s a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Four words, one per line: 74. 9 PM. Bank closed. Alone.
DO: Click.
ISHMIIT: Now picture who’s holding that phone. She’s seventy-four. Her bank shut hours ago. Her son is in another city. Whatever she does next, she decides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“₹4 lakh”, lost to cyber fraud every minute, on average. Below: ₹22,495 crore in 2025, and ₹4,005 crore of it from senior citizens.
DO: Click. Say nothing for two seconds. Let the number sit. (about 2 s)
ISHMIIT: She isn’t one story. She’s millions. Last year, Indians reported losing over twenty-two thousand crore rupees to cyber fraud. That’s about four lakh rupees every minute, on average.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Sahayak, its two promises, three short pills (CSC and phone, offline, 22 languages), and the app’s home screen.
DO: Click. Take one step toward the jury.
ISHMIIT: So we built her a helper. It’s called Sahayak, and it does two things. It catches the scam before the money moves. And it finds what she’s owed.
ISHMIIT: At the Common Services Centre in her village, or on her own phone, even offline. And every screen, every answer, comes in all twenty-two of India’s scheduled languages.
ISHMIIT: Good morning. I’m Ishmiit Singh, and this is Roshan Raj.
DO: On Roshan’s name, open a hand toward Roshan. Roshan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Sahayak’s answer to that SMS on a phone, “Scam.”, and six short cues: three reasons, three things to do.
DO: Click.
ISHMIIT: Back to her message. She pastes it in, and in under a second: Scam.
ISHMIIT: But a warning people don’t understand gets ignored. So Sahayak gives its reasons, in plain words. A bank won’t text from a personal number. That link only looks like SBI’s. And no bank updates KYC through a link.
ISHMIIT: Then, what to do. Don’t tap. Keep the message as proof. If money’s gone, call 1930. And one more tap warns her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“₹5 lakh” of free hospital care a year, three short cues, and Sahayak’s benefits result for a 74-year-old.
DO: Click.
ISHMIIT: And building this, something surprised us. The people scammers chase are often missing out on what’s already theirs.
ISHMIIT: At seventy-four, she’s entitled to free hospital care, up to five lakh rupees a year, whatever her income. Yet by February, fewer than one in five people over seventy had the card.
ISHMIIT: So Sahayak asks five simple questions, puts that card first, and gives her the exact sentence to say at the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The only QR code in the deck, and three things to try.
DO: Click.
ISHMIIT: Don’t take my word for it. Take out your phones, and scan this code. Nothing to install. No account.
DO: Wait until you see phones come up. (about 3 s)
ISHMIIT: Tap ‘Check a message’, and try the one asking five hundred rupees for an Ayushman card.
DO: Wait for the first faces to react. (about 2 s)
ISHMIIT: Scam. That card is free.
ISHMIIT: Now, my favourite part. Turn on airplane mode, and try another. It still works.
DO: Roshan holds up the demo phone.
ROSHAN: If it doesn’t open, just raise your hand. I’ll bring you this one.
DO: Stop talking and let them try it. Watch the jury, not the screen. Roshan walks the demo phone to anyone who raises a hand. (about 8 s)
ISHMIIT: The phone Roshan is holding has been in airplane mode since we walked into this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Three cards with a few words each: You ask. Rules decide. A clear answer. Below: phone and counter agree, 1,841 of 1,841.
DO: Click.
ISHMIIT: She can type, speak, describe a call, or photograph a UPI QR code.
ISHMIIT: Sixty-four scam signals run right on the device, so nothing she types leaves her phone.
ISHMIIT: She gets one of four answers, and ‘safe’ isn’t one of them. No one can promise that.
ISHMIIT: And her phone answers exactly like the counter. We checked, eighteen hundred and forty-one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A 3B language model against Sahayak on the same 137 real messages. Roshan speaks.
DO: Click.
ISHMIIT: In round one, we said a large AI model would make these decisions. So we tested one. Roshan.
DO: Turn to Roshan and step back. Roshan steps forward.
ROSHAN: On the same hundred and thirty-seven real messages, it caught more scams than we did.
ROSHAN: But it called twenty-one of thirty-four genuine messages a scam. We did that eleven times. A warning that cries wolf gets ignored. So rules decide.
ROSHAN: We’ll use the model where it helps most: reading messages in the new languages, as a second opinion that can only raise a warning.
ISHMIIT: Thank you, Roshan.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“7 in 10” on 137 real messages, scored once, with the two bigger numbers greyed out on the left.
DO: Click.
ISHMIIT: We could have opened with a bigger number. Thirty-four of thirty-seven, on messages we wrote. Ninety-two of a hundred and three, against a blind red team.
ISHMIIT: But real messages are harder. On a hundred and thirty-seven that people in India actually received, scored once, it caught seven in ten.
ISHMIIT: That’s our number, because it’s the honest one. What it needs now is real users, with messages from their own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One district: 20 villages, 50 counters, six months, about ₹39 lakh. The next 30 days.
DO: Click.
ISHMIIT: So, the pilot. One district. Twenty villages. Fifty counters. Six months. About thirty-nine lakh rupees, costed line by line.
ISHMIIT: And the biggest share goes to the local operator who runs each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“Introduce us to one district.” Above it: 6 lakh CSCs, and the 50 counters we need.
DO: Click. Stop moving. Look at the head juror.
ISHMIIT: And that’s where you come in. India has six lakh Common Services Centres. We need fifty counters.
ISHMIIT: Introduce us to one district. One morning to start, then six months. And we’ll come back with real numbers, from real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Spot the scam: the game on the Learn tab. Two phones: a card (Scam or real?) and Sahayak’s clues after the answer.
DO: Click. Pause. Take one step toward the jury. (about 2 s)
ISHMIIT: And, one more thing. Sahayak checks a message when you have one. But the best defence is knowing a scam before it arrives. So we built a game. Spot the scam. Five messages a round. Scam, or real? Swipe your answer, and Sahayak shows you the clues it found. Points, levels, badges, and a new message every day. It’s in the Learn tab, on the phone in your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SHOW: Nine at night. Now she has someone to ask. Sahayak, its two promises, and both your names.
DO: Click.
ISHMIIT: So, back to her, one last time. Nine at night. The bank is closed. The link is right there. But now, before she taps, she has someone to ask.
ISHMIIT: Sahayak. Spot the scam before the money moves. Claim what you’re owed. Thank you.
DO: Stand still. Let them applaud. (about 2 s)
ISHMIIT: Roshan and I would love to take your questions.
DO: Roshan steps to the centre for the questions. Ishmiit stays on stage, half a step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G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MS card"/>
          <p:cNvSpPr/>
          <p:nvPr/>
        </p:nvSpPr>
        <p:spPr>
          <a:xfrm>
            <a:off x="2194560" y="1051560"/>
            <a:ext cx="7799832" cy="3657600"/>
          </a:xfrm>
          <a:prstGeom prst="roundRect">
            <a:avLst>
              <a:gd name="adj" fmla="val 10000"/>
            </a:avLst>
          </a:prstGeom>
          <a:solidFill>
            <a:srgbClr val="1C1C1E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3" name="SMS icon"/>
          <p:cNvSpPr/>
          <p:nvPr/>
        </p:nvSpPr>
        <p:spPr>
          <a:xfrm>
            <a:off x="2606040" y="14173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4FD68A"/>
          </a:solidFill>
          <a:ln/>
        </p:spPr>
      </p:sp>
      <p:sp>
        <p:nvSpPr>
          <p:cNvPr id="4" name="sender"/>
          <p:cNvSpPr txBox="1"/>
          <p:nvPr/>
        </p:nvSpPr>
        <p:spPr>
          <a:xfrm>
            <a:off x="3200400" y="14173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</a:t>
            </a:r>
            <a:pPr indent="0" marL="0">
              <a:buNone/>
            </a:pPr>
            <a:r>
              <a:rPr lang="en-US" sz="19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9876501234</a:t>
            </a:r>
            <a:endParaRPr lang="en-US" sz="1900" dirty="0"/>
          </a:p>
        </p:txBody>
      </p:sp>
      <p:sp>
        <p:nvSpPr>
          <p:cNvPr id="5" name="time"/>
          <p:cNvSpPr txBox="1"/>
          <p:nvPr/>
        </p:nvSpPr>
        <p:spPr>
          <a:xfrm>
            <a:off x="7863840" y="14173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9:02 PM</a:t>
            </a:r>
            <a:endParaRPr lang="en-US" sz="1700" dirty="0"/>
          </a:p>
        </p:txBody>
      </p:sp>
      <p:sp>
        <p:nvSpPr>
          <p:cNvPr id="6" name="the SMS, in Hindi"/>
          <p:cNvSpPr txBox="1"/>
          <p:nvPr/>
        </p:nvSpPr>
        <p:spPr>
          <a:xfrm>
            <a:off x="2606040" y="2103120"/>
            <a:ext cx="6995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5F5F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प्रिय ग्राहक, आपके SBI खाते का KYC खत्म हो गया है। तुरंत अपडेट करें, नहीं तो आज रात खाता बंद हो जाएगा।</a:t>
            </a:r>
            <a:endParaRPr lang="en-US" sz="2800" dirty="0"/>
          </a:p>
        </p:txBody>
      </p:sp>
      <p:sp>
        <p:nvSpPr>
          <p:cNvPr id="7" name="the link"/>
          <p:cNvSpPr txBox="1"/>
          <p:nvPr/>
        </p:nvSpPr>
        <p:spPr>
          <a:xfrm>
            <a:off x="2606040" y="3886200"/>
            <a:ext cx="6995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लिंक: http://sbi-kyc-update.xyz</a:t>
            </a:r>
            <a:endParaRPr lang="en-US" sz="2000" dirty="0"/>
          </a:p>
        </p:txBody>
      </p:sp>
      <p:sp>
        <p:nvSpPr>
          <p:cNvPr id="8" name="English"/>
          <p:cNvSpPr txBox="1"/>
          <p:nvPr/>
        </p:nvSpPr>
        <p:spPr>
          <a:xfrm>
            <a:off x="1280160" y="507492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“Your SBI KYC has expired. Update now, or your account will be closed tonight.”</a:t>
            </a:r>
            <a:endParaRPr lang="en-US" sz="2000" dirty="0"/>
          </a:p>
        </p:txBody>
      </p:sp>
      <p:sp>
        <p:nvSpPr>
          <p:cNvPr id="9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message, written by the team in the style of real KYC scams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1463040" y="868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READS IT</a:t>
            </a:r>
            <a:endParaRPr lang="en-US" sz="1400" dirty="0"/>
          </a:p>
        </p:txBody>
      </p:sp>
      <p:sp>
        <p:nvSpPr>
          <p:cNvPr id="3" name="line 1"/>
          <p:cNvSpPr txBox="1"/>
          <p:nvPr/>
        </p:nvSpPr>
        <p:spPr>
          <a:xfrm>
            <a:off x="1463040" y="1325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</a:t>
            </a:r>
            <a:endParaRPr lang="en-US" sz="6000" dirty="0"/>
          </a:p>
        </p:txBody>
      </p:sp>
      <p:sp>
        <p:nvSpPr>
          <p:cNvPr id="4" name="line 2"/>
          <p:cNvSpPr txBox="1"/>
          <p:nvPr/>
        </p:nvSpPr>
        <p:spPr>
          <a:xfrm>
            <a:off x="1463040" y="235000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PM.</a:t>
            </a:r>
            <a:endParaRPr lang="en-US" sz="6000" dirty="0"/>
          </a:p>
        </p:txBody>
      </p:sp>
      <p:sp>
        <p:nvSpPr>
          <p:cNvPr id="5" name="line 3"/>
          <p:cNvSpPr txBox="1"/>
          <p:nvPr/>
        </p:nvSpPr>
        <p:spPr>
          <a:xfrm>
            <a:off x="1463040" y="3374136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closed.</a:t>
            </a:r>
            <a:endParaRPr lang="en-US" sz="6000" dirty="0"/>
          </a:p>
        </p:txBody>
      </p:sp>
      <p:sp>
        <p:nvSpPr>
          <p:cNvPr id="6" name="line 4"/>
          <p:cNvSpPr txBox="1"/>
          <p:nvPr/>
        </p:nvSpPr>
        <p:spPr>
          <a:xfrm>
            <a:off x="1463040" y="4398264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Alone.</a:t>
            </a:r>
            <a:endParaRPr lang="en-US" sz="6000" dirty="0"/>
          </a:p>
        </p:txBody>
      </p:sp>
      <p:sp>
        <p:nvSpPr>
          <p:cNvPr id="7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persona, not a real person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 number"/>
          <p:cNvSpPr txBox="1"/>
          <p:nvPr/>
        </p:nvSpPr>
        <p:spPr>
          <a:xfrm>
            <a:off x="822960" y="868680"/>
            <a:ext cx="10515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 lakh</a:t>
            </a:r>
            <a:endParaRPr lang="en-US" sz="16000" dirty="0"/>
          </a:p>
        </p:txBody>
      </p:sp>
      <p:sp>
        <p:nvSpPr>
          <p:cNvPr id="3" name="what it means"/>
          <p:cNvSpPr txBox="1"/>
          <p:nvPr/>
        </p:nvSpPr>
        <p:spPr>
          <a:xfrm>
            <a:off x="896112" y="3246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cyber fraud in India, every minute, on average.</a:t>
            </a:r>
            <a:endParaRPr lang="en-US" sz="3000" dirty="0"/>
          </a:p>
        </p:txBody>
      </p:sp>
      <p:sp>
        <p:nvSpPr>
          <p:cNvPr id="4" name="stat 1 rule"/>
          <p:cNvSpPr/>
          <p:nvPr/>
        </p:nvSpPr>
        <p:spPr>
          <a:xfrm>
            <a:off x="896112" y="4434840"/>
            <a:ext cx="4572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stat 1"/>
          <p:cNvSpPr txBox="1"/>
          <p:nvPr/>
        </p:nvSpPr>
        <p:spPr>
          <a:xfrm>
            <a:off x="896112" y="45720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₹22,495 crore</a:t>
            </a:r>
            <a:endParaRPr lang="en-US" sz="3200" dirty="0"/>
          </a:p>
        </p:txBody>
      </p:sp>
      <p:sp>
        <p:nvSpPr>
          <p:cNvPr id="6" name="stat 1 label"/>
          <p:cNvSpPr txBox="1"/>
          <p:nvPr/>
        </p:nvSpPr>
        <p:spPr>
          <a:xfrm>
            <a:off x="896112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in 2025, across 24 lakh complaints</a:t>
            </a:r>
            <a:endParaRPr lang="en-US" sz="1700" dirty="0"/>
          </a:p>
        </p:txBody>
      </p:sp>
      <p:sp>
        <p:nvSpPr>
          <p:cNvPr id="7" name="stat 2 rule"/>
          <p:cNvSpPr/>
          <p:nvPr/>
        </p:nvSpPr>
        <p:spPr>
          <a:xfrm>
            <a:off x="6016752" y="4434840"/>
            <a:ext cx="4572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6016752" y="45720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₹4,005 crore</a:t>
            </a:r>
            <a:endParaRPr lang="en-US" sz="3200" dirty="0"/>
          </a:p>
        </p:txBody>
      </p:sp>
      <p:sp>
        <p:nvSpPr>
          <p:cNvPr id="9" name="stat 2 label"/>
          <p:cNvSpPr txBox="1"/>
          <p:nvPr/>
        </p:nvSpPr>
        <p:spPr>
          <a:xfrm>
            <a:off x="6016752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it, from senior citizens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MHA / I4C, Rajya Sabha, Feb 2026; seniors: MHA, Rajya Sabha, 5 Aug 2026. Spread evenly over the year, ₹22,495 crore is about ₹7,133 a second.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868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</a:t>
            </a:r>
            <a:endParaRPr lang="en-US" sz="1400" dirty="0"/>
          </a:p>
        </p:txBody>
      </p:sp>
      <p:sp>
        <p:nvSpPr>
          <p:cNvPr id="3" name="name"/>
          <p:cNvSpPr txBox="1"/>
          <p:nvPr/>
        </p:nvSpPr>
        <p:spPr>
          <a:xfrm>
            <a:off x="822960" y="118872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pPr indent="0" marL="0">
              <a:buNone/>
            </a:pPr>
            <a:r>
              <a:rPr lang="en-US" sz="4800" b="1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 सहायक</a:t>
            </a:r>
            <a:endParaRPr lang="en-US" sz="8800" dirty="0"/>
          </a:p>
        </p:txBody>
      </p:sp>
      <p:sp>
        <p:nvSpPr>
          <p:cNvPr id="4" name="tagline"/>
          <p:cNvSpPr txBox="1"/>
          <p:nvPr/>
        </p:nvSpPr>
        <p:spPr>
          <a:xfrm>
            <a:off x="822960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to ask, before you tap.</a:t>
            </a:r>
            <a:endParaRPr lang="en-US" sz="24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246120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346704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a scam before the money moves.</a:t>
            </a:r>
            <a:endParaRPr lang="en-US" sz="2600" dirty="0"/>
          </a:p>
        </p:txBody>
      </p:sp>
      <p:sp>
        <p:nvSpPr>
          <p:cNvPr id="7" name="point 2 rule"/>
          <p:cNvSpPr/>
          <p:nvPr/>
        </p:nvSpPr>
        <p:spPr>
          <a:xfrm>
            <a:off x="822960" y="3904488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0050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600" dirty="0"/>
          </a:p>
        </p:txBody>
      </p:sp>
      <p:sp>
        <p:nvSpPr>
          <p:cNvPr id="9" name="pill: CSC counter + your phone"/>
          <p:cNvSpPr/>
          <p:nvPr/>
        </p:nvSpPr>
        <p:spPr>
          <a:xfrm>
            <a:off x="822960" y="4754880"/>
            <a:ext cx="242316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0" name="pill text: CSC counter + your phone"/>
          <p:cNvSpPr txBox="1"/>
          <p:nvPr/>
        </p:nvSpPr>
        <p:spPr>
          <a:xfrm>
            <a:off x="822960" y="475488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CSC counter + your phone</a:t>
            </a:r>
            <a:endParaRPr lang="en-US" sz="1500" dirty="0"/>
          </a:p>
        </p:txBody>
      </p:sp>
      <p:sp>
        <p:nvSpPr>
          <p:cNvPr id="11" name="pill: Works offline"/>
          <p:cNvSpPr/>
          <p:nvPr/>
        </p:nvSpPr>
        <p:spPr>
          <a:xfrm>
            <a:off x="3410712" y="4754880"/>
            <a:ext cx="150876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2" name="pill text: Works offline"/>
          <p:cNvSpPr txBox="1"/>
          <p:nvPr/>
        </p:nvSpPr>
        <p:spPr>
          <a:xfrm>
            <a:off x="3410712" y="4754880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</a:t>
            </a:r>
            <a:endParaRPr lang="en-US" sz="1500" dirty="0"/>
          </a:p>
        </p:txBody>
      </p:sp>
      <p:sp>
        <p:nvSpPr>
          <p:cNvPr id="13" name="pill: 22 Indian languages"/>
          <p:cNvSpPr/>
          <p:nvPr/>
        </p:nvSpPr>
        <p:spPr>
          <a:xfrm>
            <a:off x="5084064" y="475488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 w="9525">
            <a:solidFill>
              <a:srgbClr val="2C2C30"/>
            </a:solidFill>
            <a:prstDash val="solid"/>
          </a:ln>
        </p:spPr>
      </p:sp>
      <p:sp>
        <p:nvSpPr>
          <p:cNvPr id="14" name="pill text: 22 Indian languages"/>
          <p:cNvSpPr txBox="1"/>
          <p:nvPr/>
        </p:nvSpPr>
        <p:spPr>
          <a:xfrm>
            <a:off x="5084064" y="47548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Indian languages</a:t>
            </a:r>
            <a:endParaRPr lang="en-US" sz="1500" dirty="0"/>
          </a:p>
        </p:txBody>
      </p:sp>
      <p:sp>
        <p:nvSpPr>
          <p:cNvPr id="15" name="team"/>
          <p:cNvSpPr txBox="1"/>
          <p:nvPr/>
        </p:nvSpPr>
        <p:spPr>
          <a:xfrm>
            <a:off x="82296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 Singh  ·  Roshan Raj</a:t>
            </a:r>
            <a:endParaRPr lang="en-US" sz="1500" dirty="0"/>
          </a:p>
        </p:txBody>
      </p:sp>
      <p:pic>
        <p:nvPicPr>
          <p:cNvPr id="16" name="Sahayak home screen" descr="Screenshot: Sahayak home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594360"/>
            <a:ext cx="271574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ahayak's answer to the KYC SMS" descr="Screenshot: Sahayak's answer to the KYC S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94360"/>
            <a:ext cx="2715748" cy="5669280"/>
          </a:xfrm>
          <a:prstGeom prst="rect">
            <a:avLst/>
          </a:prstGeom>
        </p:spPr>
      </p:pic>
      <p:sp>
        <p:nvSpPr>
          <p:cNvPr id="3" name="eyebrow"/>
          <p:cNvSpPr txBox="1"/>
          <p:nvPr/>
        </p:nvSpPr>
        <p:spPr>
          <a:xfrm>
            <a:off x="452628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HER MESSAGE</a:t>
            </a:r>
            <a:endParaRPr lang="en-US" sz="1400" dirty="0"/>
          </a:p>
        </p:txBody>
      </p:sp>
      <p:sp>
        <p:nvSpPr>
          <p:cNvPr id="4" name="verdict"/>
          <p:cNvSpPr txBox="1"/>
          <p:nvPr/>
        </p:nvSpPr>
        <p:spPr>
          <a:xfrm>
            <a:off x="4526280" y="109728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Scam.</a:t>
            </a:r>
            <a:endParaRPr lang="en-US" sz="7000" dirty="0"/>
          </a:p>
        </p:txBody>
      </p:sp>
      <p:sp>
        <p:nvSpPr>
          <p:cNvPr id="5" name="eyebrow"/>
          <p:cNvSpPr txBox="1"/>
          <p:nvPr/>
        </p:nvSpPr>
        <p:spPr>
          <a:xfrm>
            <a:off x="4526280" y="22860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400" dirty="0"/>
          </a:p>
        </p:txBody>
      </p:sp>
      <p:sp>
        <p:nvSpPr>
          <p:cNvPr id="6" name="point 1 rule"/>
          <p:cNvSpPr/>
          <p:nvPr/>
        </p:nvSpPr>
        <p:spPr>
          <a:xfrm>
            <a:off x="4526280" y="260604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7" name="point 1"/>
          <p:cNvSpPr txBox="1"/>
          <p:nvPr/>
        </p:nvSpPr>
        <p:spPr>
          <a:xfrm>
            <a:off x="4526280" y="270662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number</a:t>
            </a:r>
            <a:endParaRPr lang="en-US" sz="2100" dirty="0"/>
          </a:p>
        </p:txBody>
      </p:sp>
      <p:sp>
        <p:nvSpPr>
          <p:cNvPr id="8" name="point 2 rule"/>
          <p:cNvSpPr/>
          <p:nvPr/>
        </p:nvSpPr>
        <p:spPr>
          <a:xfrm>
            <a:off x="4526280" y="310896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9" name="point 2"/>
          <p:cNvSpPr txBox="1"/>
          <p:nvPr/>
        </p:nvSpPr>
        <p:spPr>
          <a:xfrm>
            <a:off x="4526280" y="320954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SBI link</a:t>
            </a:r>
            <a:endParaRPr lang="en-US" sz="2100" dirty="0"/>
          </a:p>
        </p:txBody>
      </p:sp>
      <p:sp>
        <p:nvSpPr>
          <p:cNvPr id="10" name="point 3 rule"/>
          <p:cNvSpPr/>
          <p:nvPr/>
        </p:nvSpPr>
        <p:spPr>
          <a:xfrm>
            <a:off x="4526280" y="361188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1" name="point 3"/>
          <p:cNvSpPr txBox="1"/>
          <p:nvPr/>
        </p:nvSpPr>
        <p:spPr>
          <a:xfrm>
            <a:off x="4526280" y="371246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never by link</a:t>
            </a:r>
            <a:endParaRPr lang="en-US" sz="2100" dirty="0"/>
          </a:p>
        </p:txBody>
      </p:sp>
      <p:sp>
        <p:nvSpPr>
          <p:cNvPr id="12" name="eyebrow"/>
          <p:cNvSpPr txBox="1"/>
          <p:nvPr/>
        </p:nvSpPr>
        <p:spPr>
          <a:xfrm>
            <a:off x="4526280" y="42519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400" dirty="0"/>
          </a:p>
        </p:txBody>
      </p:sp>
      <p:sp>
        <p:nvSpPr>
          <p:cNvPr id="13" name="point 1 rule"/>
          <p:cNvSpPr/>
          <p:nvPr/>
        </p:nvSpPr>
        <p:spPr>
          <a:xfrm>
            <a:off x="4526280" y="457200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4" name="point 1"/>
          <p:cNvSpPr txBox="1"/>
          <p:nvPr/>
        </p:nvSpPr>
        <p:spPr>
          <a:xfrm>
            <a:off x="4526280" y="467258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tap · keep the proof</a:t>
            </a:r>
            <a:endParaRPr lang="en-US" sz="2100" dirty="0"/>
          </a:p>
        </p:txBody>
      </p:sp>
      <p:sp>
        <p:nvSpPr>
          <p:cNvPr id="15" name="point 2 rule"/>
          <p:cNvSpPr/>
          <p:nvPr/>
        </p:nvSpPr>
        <p:spPr>
          <a:xfrm>
            <a:off x="4526280" y="507492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6" name="point 2"/>
          <p:cNvSpPr txBox="1"/>
          <p:nvPr/>
        </p:nvSpPr>
        <p:spPr>
          <a:xfrm>
            <a:off x="4526280" y="517550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gone? 1930</a:t>
            </a:r>
            <a:endParaRPr lang="en-US" sz="2100" dirty="0"/>
          </a:p>
        </p:txBody>
      </p:sp>
      <p:sp>
        <p:nvSpPr>
          <p:cNvPr id="17" name="point 3 rule"/>
          <p:cNvSpPr/>
          <p:nvPr/>
        </p:nvSpPr>
        <p:spPr>
          <a:xfrm>
            <a:off x="4526280" y="5577840"/>
            <a:ext cx="6858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8" name="point 3"/>
          <p:cNvSpPr txBox="1"/>
          <p:nvPr/>
        </p:nvSpPr>
        <p:spPr>
          <a:xfrm>
            <a:off x="4526280" y="5678424"/>
            <a:ext cx="6858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 the family</a:t>
            </a:r>
            <a:endParaRPr lang="en-US" sz="2100" dirty="0"/>
          </a:p>
        </p:txBody>
      </p:sp>
      <p:sp>
        <p:nvSpPr>
          <p:cNvPr id="19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persona and SMS written by the team · the app’s answer, on a phone, 14 Oct 2026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SHE’S OWED</a:t>
            </a:r>
            <a:endParaRPr lang="en-US" sz="1400" dirty="0"/>
          </a:p>
        </p:txBody>
      </p:sp>
      <p:sp>
        <p:nvSpPr>
          <p:cNvPr id="3" name="cover"/>
          <p:cNvSpPr txBox="1"/>
          <p:nvPr/>
        </p:nvSpPr>
        <p:spPr>
          <a:xfrm>
            <a:off x="822960" y="1097280"/>
            <a:ext cx="713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 lakh</a:t>
            </a:r>
            <a:endParaRPr lang="en-US" sz="10000" dirty="0"/>
          </a:p>
        </p:txBody>
      </p:sp>
      <p:sp>
        <p:nvSpPr>
          <p:cNvPr id="4" name="what it is"/>
          <p:cNvSpPr txBox="1"/>
          <p:nvPr/>
        </p:nvSpPr>
        <p:spPr>
          <a:xfrm>
            <a:off x="822960" y="25146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free hospital care, every year.</a:t>
            </a:r>
            <a:endParaRPr lang="en-US" sz="28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337560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43814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Vay Vandana card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every Indian 70+</a:t>
            </a:r>
            <a:endParaRPr lang="en-US" sz="2000" dirty="0"/>
          </a:p>
        </p:txBody>
      </p:sp>
      <p:sp>
        <p:nvSpPr>
          <p:cNvPr id="7" name="point 2 rule"/>
          <p:cNvSpPr/>
          <p:nvPr/>
        </p:nvSpPr>
        <p:spPr>
          <a:xfrm>
            <a:off x="822960" y="3904488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00507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than 1 in 5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had it by Feb 2026</a:t>
            </a:r>
            <a:endParaRPr lang="en-US" sz="2000" dirty="0"/>
          </a:p>
        </p:txBody>
      </p:sp>
      <p:sp>
        <p:nvSpPr>
          <p:cNvPr id="9" name="point 3 rule"/>
          <p:cNvSpPr/>
          <p:nvPr/>
        </p:nvSpPr>
        <p:spPr>
          <a:xfrm>
            <a:off x="822960" y="4471416"/>
            <a:ext cx="69494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22960" y="45720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questions</a:t>
            </a:r>
            <a:pPr indent="0" marL="0">
              <a:buNone/>
            </a:pPr>
            <a:r>
              <a:rPr lang="en-US" sz="20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the words to say</a:t>
            </a:r>
            <a:endParaRPr lang="en-US" sz="2000" dirty="0"/>
          </a:p>
        </p:txBody>
      </p:sp>
      <p:sp>
        <p:nvSpPr>
          <p:cNvPr id="11" name="both"/>
          <p:cNvSpPr txBox="1"/>
          <p:nvPr/>
        </p:nvSpPr>
        <p:spPr>
          <a:xfrm>
            <a:off x="822960" y="52578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scam. </a:t>
            </a:r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400" dirty="0"/>
          </a:p>
        </p:txBody>
      </p:sp>
      <p:sp>
        <p:nvSpPr>
          <p:cNvPr id="12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of ~6 crore aged 70+ had the card (MoHFW, Feb 2026) · shared with a spouse also 70+; hospital care only · screenshot: result for a 74-year-old</a:t>
            </a:r>
            <a:endParaRPr lang="en-US" sz="1050" dirty="0"/>
          </a:p>
        </p:txBody>
      </p:sp>
      <p:pic>
        <p:nvPicPr>
          <p:cNvPr id="13" name="Sahayak's benefits result for a 74-year-old" descr="Screenshot: Sahayak's benefits result for a 74-year-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594360"/>
            <a:ext cx="271574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R card"/>
          <p:cNvSpPr/>
          <p:nvPr/>
        </p:nvSpPr>
        <p:spPr>
          <a:xfrm>
            <a:off x="914400" y="1143000"/>
            <a:ext cx="4343400" cy="43434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</p:sp>
      <p:pic>
        <p:nvPicPr>
          <p:cNvPr id="3" name="QR code" descr="QR code for https://ishmiit.github.io/Sahayak/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3977640" cy="3977640"/>
          </a:xfrm>
          <a:prstGeom prst="rect">
            <a:avLst/>
          </a:prstGeom>
        </p:spPr>
      </p:pic>
      <p:sp>
        <p:nvSpPr>
          <p:cNvPr id="4" name="address"/>
          <p:cNvSpPr txBox="1"/>
          <p:nvPr/>
        </p:nvSpPr>
        <p:spPr>
          <a:xfrm>
            <a:off x="640080" y="5715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ishmiit.github.io/Sahayak</a:t>
            </a:r>
            <a:endParaRPr lang="en-US" sz="1700" dirty="0"/>
          </a:p>
        </p:txBody>
      </p:sp>
      <p:sp>
        <p:nvSpPr>
          <p:cNvPr id="5" name="title"/>
          <p:cNvSpPr txBox="1"/>
          <p:nvPr/>
        </p:nvSpPr>
        <p:spPr>
          <a:xfrm>
            <a:off x="603504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it.</a:t>
            </a:r>
            <a:endParaRPr lang="en-US" sz="5600" dirty="0"/>
          </a:p>
        </p:txBody>
      </p:sp>
      <p:sp>
        <p:nvSpPr>
          <p:cNvPr id="6" name="subtitle"/>
          <p:cNvSpPr txBox="1"/>
          <p:nvPr/>
        </p:nvSpPr>
        <p:spPr>
          <a:xfrm>
            <a:off x="603504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now, on your phone.</a:t>
            </a:r>
            <a:endParaRPr lang="en-US" sz="2400" dirty="0"/>
          </a:p>
        </p:txBody>
      </p:sp>
      <p:sp>
        <p:nvSpPr>
          <p:cNvPr id="7" name="number 1"/>
          <p:cNvSpPr/>
          <p:nvPr/>
        </p:nvSpPr>
        <p:spPr>
          <a:xfrm>
            <a:off x="6035040" y="2862072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8" name="number 1 label"/>
          <p:cNvSpPr txBox="1"/>
          <p:nvPr/>
        </p:nvSpPr>
        <p:spPr>
          <a:xfrm>
            <a:off x="603504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ep 1"/>
          <p:cNvSpPr txBox="1"/>
          <p:nvPr/>
        </p:nvSpPr>
        <p:spPr>
          <a:xfrm>
            <a:off x="6720840" y="2834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code.</a:t>
            </a:r>
            <a:endParaRPr lang="en-US" sz="2100" dirty="0"/>
          </a:p>
        </p:txBody>
      </p:sp>
      <p:sp>
        <p:nvSpPr>
          <p:cNvPr id="10" name="step 1 detail"/>
          <p:cNvSpPr txBox="1"/>
          <p:nvPr/>
        </p:nvSpPr>
        <p:spPr>
          <a:xfrm>
            <a:off x="6720840" y="32644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install. No account.</a:t>
            </a:r>
            <a:endParaRPr lang="en-US" sz="1800" dirty="0"/>
          </a:p>
        </p:txBody>
      </p:sp>
      <p:sp>
        <p:nvSpPr>
          <p:cNvPr id="11" name="number 2"/>
          <p:cNvSpPr/>
          <p:nvPr/>
        </p:nvSpPr>
        <p:spPr>
          <a:xfrm>
            <a:off x="6035040" y="3849624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2" name="number 2 label"/>
          <p:cNvSpPr txBox="1"/>
          <p:nvPr/>
        </p:nvSpPr>
        <p:spPr>
          <a:xfrm>
            <a:off x="603504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tep 2"/>
          <p:cNvSpPr txBox="1"/>
          <p:nvPr/>
        </p:nvSpPr>
        <p:spPr>
          <a:xfrm>
            <a:off x="6720840" y="3822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“Check a message”</a:t>
            </a:r>
            <a:endParaRPr lang="en-US" sz="2100" dirty="0"/>
          </a:p>
        </p:txBody>
      </p:sp>
      <p:sp>
        <p:nvSpPr>
          <p:cNvPr id="14" name="step 2 detail"/>
          <p:cNvSpPr txBox="1"/>
          <p:nvPr/>
        </p:nvSpPr>
        <p:spPr>
          <a:xfrm>
            <a:off x="6720840" y="4251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“Pay ₹500 for your Ayushman card”.</a:t>
            </a:r>
            <a:endParaRPr lang="en-US" sz="1800" dirty="0"/>
          </a:p>
        </p:txBody>
      </p:sp>
      <p:sp>
        <p:nvSpPr>
          <p:cNvPr id="15" name="number 3"/>
          <p:cNvSpPr/>
          <p:nvPr/>
        </p:nvSpPr>
        <p:spPr>
          <a:xfrm>
            <a:off x="6035040" y="4837176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6" name="number 3 label"/>
          <p:cNvSpPr txBox="1"/>
          <p:nvPr/>
        </p:nvSpPr>
        <p:spPr>
          <a:xfrm>
            <a:off x="603504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step 3"/>
          <p:cNvSpPr txBox="1"/>
          <p:nvPr/>
        </p:nvSpPr>
        <p:spPr>
          <a:xfrm>
            <a:off x="6720840" y="4809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 airplane mode.</a:t>
            </a:r>
            <a:endParaRPr lang="en-US" sz="2100" dirty="0"/>
          </a:p>
        </p:txBody>
      </p:sp>
      <p:sp>
        <p:nvSpPr>
          <p:cNvPr id="18" name="step 3 detail"/>
          <p:cNvSpPr txBox="1"/>
          <p:nvPr/>
        </p:nvSpPr>
        <p:spPr>
          <a:xfrm>
            <a:off x="6720840" y="52395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another. It still works.</a:t>
            </a:r>
            <a:endParaRPr lang="en-US" sz="1800" dirty="0"/>
          </a:p>
        </p:txBody>
      </p:sp>
      <p:sp>
        <p:nvSpPr>
          <p:cNvPr id="19" name="language"/>
          <p:cNvSpPr txBox="1"/>
          <p:nvPr/>
        </p:nvSpPr>
        <p:spPr>
          <a:xfrm>
            <a:off x="603504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in English. Tap EN for any of 22 Indian languages.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22960" y="73152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4400" dirty="0"/>
          </a:p>
        </p:txBody>
      </p:sp>
      <p:sp>
        <p:nvSpPr>
          <p:cNvPr id="3" name="card 1"/>
          <p:cNvSpPr/>
          <p:nvPr/>
        </p:nvSpPr>
        <p:spPr>
          <a:xfrm>
            <a:off x="82296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4" name="number 1"/>
          <p:cNvSpPr/>
          <p:nvPr/>
        </p:nvSpPr>
        <p:spPr>
          <a:xfrm>
            <a:off x="1143000" y="2286000"/>
            <a:ext cx="457200" cy="457200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5" name="number 1 label"/>
          <p:cNvSpPr txBox="1"/>
          <p:nvPr/>
        </p:nvSpPr>
        <p:spPr>
          <a:xfrm>
            <a:off x="11430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card 1 title"/>
          <p:cNvSpPr txBox="1"/>
          <p:nvPr/>
        </p:nvSpPr>
        <p:spPr>
          <a:xfrm>
            <a:off x="114300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ask.</a:t>
            </a:r>
            <a:endParaRPr lang="en-US" sz="2800" dirty="0"/>
          </a:p>
        </p:txBody>
      </p:sp>
      <p:sp>
        <p:nvSpPr>
          <p:cNvPr id="7" name="card 1 points"/>
          <p:cNvSpPr txBox="1"/>
          <p:nvPr/>
        </p:nvSpPr>
        <p:spPr>
          <a:xfrm>
            <a:off x="114300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· Speak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 · A UPI QR</a:t>
            </a:r>
            <a:endParaRPr lang="en-US" sz="2200" dirty="0"/>
          </a:p>
        </p:txBody>
      </p:sp>
      <p:sp>
        <p:nvSpPr>
          <p:cNvPr id="8" name="card 2"/>
          <p:cNvSpPr/>
          <p:nvPr/>
        </p:nvSpPr>
        <p:spPr>
          <a:xfrm>
            <a:off x="443484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4754880" y="2286000"/>
            <a:ext cx="457200" cy="457200"/>
          </a:xfrm>
          <a:prstGeom prst="ellipse">
            <a:avLst/>
          </a:prstGeom>
          <a:solidFill>
            <a:srgbClr val="4FD68A"/>
          </a:solidFill>
          <a:ln/>
        </p:spPr>
      </p:sp>
      <p:sp>
        <p:nvSpPr>
          <p:cNvPr id="10" name="number 2 label"/>
          <p:cNvSpPr txBox="1"/>
          <p:nvPr/>
        </p:nvSpPr>
        <p:spPr>
          <a:xfrm>
            <a:off x="47548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card 2 title"/>
          <p:cNvSpPr txBox="1"/>
          <p:nvPr/>
        </p:nvSpPr>
        <p:spPr>
          <a:xfrm>
            <a:off x="475488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decide.</a:t>
            </a:r>
            <a:endParaRPr lang="en-US" sz="2800" dirty="0"/>
          </a:p>
        </p:txBody>
      </p:sp>
      <p:sp>
        <p:nvSpPr>
          <p:cNvPr id="12" name="card 2 points"/>
          <p:cNvSpPr txBox="1"/>
          <p:nvPr/>
        </p:nvSpPr>
        <p:spPr>
          <a:xfrm>
            <a:off x="475488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signals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device</a:t>
            </a:r>
            <a:endParaRPr lang="en-US" sz="2200" dirty="0"/>
          </a:p>
        </p:txBody>
      </p:sp>
      <p:sp>
        <p:nvSpPr>
          <p:cNvPr id="13" name="card 3"/>
          <p:cNvSpPr/>
          <p:nvPr/>
        </p:nvSpPr>
        <p:spPr>
          <a:xfrm>
            <a:off x="8046720" y="1965960"/>
            <a:ext cx="3337560" cy="2834640"/>
          </a:xfrm>
          <a:prstGeom prst="roundRect">
            <a:avLst>
              <a:gd name="adj" fmla="val 5806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8366760" y="2286000"/>
            <a:ext cx="457200" cy="457200"/>
          </a:xfrm>
          <a:prstGeom prst="ellipse">
            <a:avLst/>
          </a:prstGeom>
          <a:solidFill>
            <a:srgbClr val="E2C28A"/>
          </a:solidFill>
          <a:ln/>
        </p:spPr>
      </p:sp>
      <p:sp>
        <p:nvSpPr>
          <p:cNvPr id="15" name="number 3 label"/>
          <p:cNvSpPr txBox="1"/>
          <p:nvPr/>
        </p:nvSpPr>
        <p:spPr>
          <a:xfrm>
            <a:off x="83667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card 3 title"/>
          <p:cNvSpPr txBox="1"/>
          <p:nvPr/>
        </p:nvSpPr>
        <p:spPr>
          <a:xfrm>
            <a:off x="836676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answer.</a:t>
            </a:r>
            <a:endParaRPr lang="en-US" sz="2800" dirty="0"/>
          </a:p>
        </p:txBody>
      </p:sp>
      <p:sp>
        <p:nvSpPr>
          <p:cNvPr id="17" name="card 3 points"/>
          <p:cNvSpPr txBox="1"/>
          <p:nvPr/>
        </p:nvSpPr>
        <p:spPr>
          <a:xfrm>
            <a:off x="8366760" y="3611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answers</a:t>
            </a:r>
            <a:endParaRPr lang="en-US" sz="2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“safe”.</a:t>
            </a:r>
            <a:endParaRPr lang="en-US" sz="2200" dirty="0"/>
          </a:p>
        </p:txBody>
      </p:sp>
      <p:sp>
        <p:nvSpPr>
          <p:cNvPr id="18" name="parity"/>
          <p:cNvSpPr txBox="1"/>
          <p:nvPr/>
        </p:nvSpPr>
        <p:spPr>
          <a:xfrm>
            <a:off x="822960" y="52120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= counter: </a:t>
            </a:r>
            <a:pPr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1,841 of 1,841 checks.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315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ONE: A LARGE AI MODEL WOULD DECIDE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822960" y="10515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tested one.</a:t>
            </a:r>
            <a:endParaRPr lang="en-US" sz="4400" dirty="0"/>
          </a:p>
        </p:txBody>
      </p:sp>
      <p:sp>
        <p:nvSpPr>
          <p:cNvPr id="4" name="A 3B language model panel"/>
          <p:cNvSpPr/>
          <p:nvPr/>
        </p:nvSpPr>
        <p:spPr>
          <a:xfrm>
            <a:off x="822960" y="2148840"/>
            <a:ext cx="5120640" cy="2788920"/>
          </a:xfrm>
          <a:prstGeom prst="roundRect">
            <a:avLst>
              <a:gd name="adj" fmla="val 5902"/>
            </a:avLst>
          </a:prstGeom>
          <a:solidFill>
            <a:srgbClr val="161618"/>
          </a:solidFill>
          <a:ln w="12700">
            <a:solidFill>
              <a:srgbClr val="2C2C30"/>
            </a:solidFill>
            <a:prstDash val="solid"/>
          </a:ln>
        </p:spPr>
      </p:sp>
      <p:sp>
        <p:nvSpPr>
          <p:cNvPr id="5" name="A 3B language model name"/>
          <p:cNvSpPr txBox="1"/>
          <p:nvPr/>
        </p:nvSpPr>
        <p:spPr>
          <a:xfrm>
            <a:off x="118872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3B language model</a:t>
            </a:r>
            <a:endParaRPr lang="en-US" sz="2400" dirty="0"/>
          </a:p>
        </p:txBody>
      </p:sp>
      <p:sp>
        <p:nvSpPr>
          <p:cNvPr id="6" name="A 3B language model Scams caught label"/>
          <p:cNvSpPr txBox="1"/>
          <p:nvPr/>
        </p:nvSpPr>
        <p:spPr>
          <a:xfrm>
            <a:off x="1188720" y="3063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</a:t>
            </a:r>
            <a:endParaRPr lang="en-US" sz="1200" dirty="0"/>
          </a:p>
        </p:txBody>
      </p:sp>
      <p:sp>
        <p:nvSpPr>
          <p:cNvPr id="7" name="A 3B language model Scams caught"/>
          <p:cNvSpPr txBox="1"/>
          <p:nvPr/>
        </p:nvSpPr>
        <p:spPr>
          <a:xfrm>
            <a:off x="1188720" y="3337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of 103</a:t>
            </a:r>
            <a:endParaRPr lang="en-US" sz="3600" dirty="0"/>
          </a:p>
        </p:txBody>
      </p:sp>
      <p:sp>
        <p:nvSpPr>
          <p:cNvPr id="8" name="A 3B language model Genuine messages flagged label"/>
          <p:cNvSpPr txBox="1"/>
          <p:nvPr/>
        </p:nvSpPr>
        <p:spPr>
          <a:xfrm>
            <a:off x="1188720" y="3977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MESSAGES FLAGGED</a:t>
            </a:r>
            <a:endParaRPr lang="en-US" sz="1200" dirty="0"/>
          </a:p>
        </p:txBody>
      </p:sp>
      <p:sp>
        <p:nvSpPr>
          <p:cNvPr id="9" name="A 3B language model Genuine messages flagged"/>
          <p:cNvSpPr txBox="1"/>
          <p:nvPr/>
        </p:nvSpPr>
        <p:spPr>
          <a:xfrm>
            <a:off x="1188720" y="4251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of 34</a:t>
            </a:r>
            <a:endParaRPr lang="en-US" sz="3600" dirty="0"/>
          </a:p>
        </p:txBody>
      </p:sp>
      <p:sp>
        <p:nvSpPr>
          <p:cNvPr id="10" name="Sahayak panel"/>
          <p:cNvSpPr/>
          <p:nvPr/>
        </p:nvSpPr>
        <p:spPr>
          <a:xfrm>
            <a:off x="6172200" y="2148840"/>
            <a:ext cx="5120640" cy="2788920"/>
          </a:xfrm>
          <a:prstGeom prst="roundRect">
            <a:avLst>
              <a:gd name="adj" fmla="val 5902"/>
            </a:avLst>
          </a:prstGeom>
          <a:solidFill>
            <a:srgbClr val="111B2B"/>
          </a:solidFill>
          <a:ln w="12700">
            <a:solidFill>
              <a:srgbClr val="2F4A75"/>
            </a:solidFill>
            <a:prstDash val="solid"/>
          </a:ln>
        </p:spPr>
      </p:sp>
      <p:sp>
        <p:nvSpPr>
          <p:cNvPr id="11" name="Sahayak name"/>
          <p:cNvSpPr txBox="1"/>
          <p:nvPr/>
        </p:nvSpPr>
        <p:spPr>
          <a:xfrm>
            <a:off x="6537960" y="24231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endParaRPr lang="en-US" sz="2400" dirty="0"/>
          </a:p>
        </p:txBody>
      </p:sp>
      <p:sp>
        <p:nvSpPr>
          <p:cNvPr id="12" name="Sahayak Scams caught label"/>
          <p:cNvSpPr txBox="1"/>
          <p:nvPr/>
        </p:nvSpPr>
        <p:spPr>
          <a:xfrm>
            <a:off x="6537960" y="3063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</a:t>
            </a:r>
            <a:endParaRPr lang="en-US" sz="1200" dirty="0"/>
          </a:p>
        </p:txBody>
      </p:sp>
      <p:sp>
        <p:nvSpPr>
          <p:cNvPr id="13" name="Sahayak Scams caught"/>
          <p:cNvSpPr txBox="1"/>
          <p:nvPr/>
        </p:nvSpPr>
        <p:spPr>
          <a:xfrm>
            <a:off x="6537960" y="3337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of 103</a:t>
            </a:r>
            <a:endParaRPr lang="en-US" sz="3600" dirty="0"/>
          </a:p>
        </p:txBody>
      </p:sp>
      <p:sp>
        <p:nvSpPr>
          <p:cNvPr id="14" name="Sahayak Genuine messages flagged label"/>
          <p:cNvSpPr txBox="1"/>
          <p:nvPr/>
        </p:nvSpPr>
        <p:spPr>
          <a:xfrm>
            <a:off x="6537960" y="39776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 MESSAGES FLAGGED</a:t>
            </a:r>
            <a:endParaRPr lang="en-US" sz="1200" dirty="0"/>
          </a:p>
        </p:txBody>
      </p:sp>
      <p:sp>
        <p:nvSpPr>
          <p:cNvPr id="15" name="Sahayak Genuine messages flagged"/>
          <p:cNvSpPr txBox="1"/>
          <p:nvPr/>
        </p:nvSpPr>
        <p:spPr>
          <a:xfrm>
            <a:off x="6537960" y="4251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of 34</a:t>
            </a:r>
            <a:endParaRPr lang="en-US" sz="3600" dirty="0"/>
          </a:p>
        </p:txBody>
      </p:sp>
      <p:sp>
        <p:nvSpPr>
          <p:cNvPr id="16" name="conclusion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warning that cries wolf gets ignored.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rules decide, and every answer says why.</a:t>
            </a:r>
            <a:endParaRPr lang="en-US" sz="2400" dirty="0"/>
          </a:p>
        </p:txBody>
      </p:sp>
      <p:sp>
        <p:nvSpPr>
          <p:cNvPr id="17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qwen2.5:3b, zero-shot, on the same 137 real published messages, first runs, 7 Oct 2026. In languages Sahayak can’t read yet, the model caught 14 of 15 scams.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8686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COULD HAVE SHOWN YOU</a:t>
            </a:r>
            <a:endParaRPr lang="en-US" sz="1400" dirty="0"/>
          </a:p>
        </p:txBody>
      </p:sp>
      <p:sp>
        <p:nvSpPr>
          <p:cNvPr id="3" name="bigger number 1 rule"/>
          <p:cNvSpPr/>
          <p:nvPr/>
        </p:nvSpPr>
        <p:spPr>
          <a:xfrm>
            <a:off x="822960" y="132588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4" name="bigger number 1"/>
          <p:cNvSpPr txBox="1"/>
          <p:nvPr/>
        </p:nvSpPr>
        <p:spPr>
          <a:xfrm>
            <a:off x="822960" y="1463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of 37</a:t>
            </a:r>
            <a:endParaRPr lang="en-US" sz="4000" dirty="0"/>
          </a:p>
        </p:txBody>
      </p:sp>
      <p:sp>
        <p:nvSpPr>
          <p:cNvPr id="5" name="bigger number 1 label"/>
          <p:cNvSpPr txBox="1"/>
          <p:nvPr/>
        </p:nvSpPr>
        <p:spPr>
          <a:xfrm>
            <a:off x="82296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messages we wrote</a:t>
            </a:r>
            <a:endParaRPr lang="en-US" sz="1500" dirty="0"/>
          </a:p>
        </p:txBody>
      </p:sp>
      <p:sp>
        <p:nvSpPr>
          <p:cNvPr id="6" name="bigger number 2 rule"/>
          <p:cNvSpPr/>
          <p:nvPr/>
        </p:nvSpPr>
        <p:spPr>
          <a:xfrm>
            <a:off x="822960" y="292608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7" name="bigger number 2"/>
          <p:cNvSpPr txBox="1"/>
          <p:nvPr/>
        </p:nvSpPr>
        <p:spPr>
          <a:xfrm>
            <a:off x="822960" y="3063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of 103</a:t>
            </a:r>
            <a:endParaRPr lang="en-US" sz="4000" dirty="0"/>
          </a:p>
        </p:txBody>
      </p:sp>
      <p:sp>
        <p:nvSpPr>
          <p:cNvPr id="8" name="bigger number 2 label"/>
          <p:cNvSpPr txBox="1"/>
          <p:nvPr/>
        </p:nvSpPr>
        <p:spPr>
          <a:xfrm>
            <a:off x="82296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blind red team, written by an AI that never saw our code</a:t>
            </a:r>
            <a:endParaRPr lang="en-US" sz="1500" dirty="0"/>
          </a:p>
        </p:txBody>
      </p:sp>
      <p:sp>
        <p:nvSpPr>
          <p:cNvPr id="9" name="divider"/>
          <p:cNvSpPr/>
          <p:nvPr/>
        </p:nvSpPr>
        <p:spPr>
          <a:xfrm>
            <a:off x="4572000" y="914400"/>
            <a:ext cx="0" cy="402336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eyebrow"/>
          <p:cNvSpPr txBox="1"/>
          <p:nvPr/>
        </p:nvSpPr>
        <p:spPr>
          <a:xfrm>
            <a:off x="5120640" y="8686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NUMBER</a:t>
            </a:r>
            <a:endParaRPr lang="en-US" sz="1400" dirty="0"/>
          </a:p>
        </p:txBody>
      </p:sp>
      <p:sp>
        <p:nvSpPr>
          <p:cNvPr id="11" name="headline number"/>
          <p:cNvSpPr txBox="1"/>
          <p:nvPr/>
        </p:nvSpPr>
        <p:spPr>
          <a:xfrm>
            <a:off x="5074920" y="114300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in 10</a:t>
            </a:r>
            <a:endParaRPr lang="en-US" sz="15000" dirty="0"/>
          </a:p>
        </p:txBody>
      </p:sp>
      <p:sp>
        <p:nvSpPr>
          <p:cNvPr id="12" name="what it counts"/>
          <p:cNvSpPr txBox="1"/>
          <p:nvPr/>
        </p:nvSpPr>
        <p:spPr>
          <a:xfrm>
            <a:off x="5120640" y="338328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scams caught on 137 real messages people in India received.</a:t>
            </a:r>
            <a:endParaRPr lang="en-US" sz="2500" dirty="0"/>
          </a:p>
        </p:txBody>
      </p:sp>
      <p:sp>
        <p:nvSpPr>
          <p:cNvPr id="13" name="scored once"/>
          <p:cNvSpPr txBox="1"/>
          <p:nvPr/>
        </p:nvSpPr>
        <p:spPr>
          <a:xfrm>
            <a:off x="5120640" y="429768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once.</a:t>
            </a:r>
            <a:endParaRPr lang="en-US" sz="2200" dirty="0"/>
          </a:p>
        </p:txBody>
      </p:sp>
      <p:sp>
        <p:nvSpPr>
          <p:cNvPr id="14" name="not yet rule"/>
          <p:cNvSpPr/>
          <p:nvPr/>
        </p:nvSpPr>
        <p:spPr>
          <a:xfrm>
            <a:off x="822960" y="5257800"/>
            <a:ext cx="10545775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5" name="not yet"/>
          <p:cNvSpPr txBox="1"/>
          <p:nvPr/>
        </p:nvSpPr>
        <p:spPr>
          <a:xfrm>
            <a:off x="822960" y="53949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yet: </a:t>
            </a:r>
            <a:pPr indent="0" marL="0">
              <a:buNone/>
            </a:pPr>
            <a:r>
              <a:rPr lang="en-US" sz="21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users, and messages from people’s own phones. That’s next.</a:t>
            </a:r>
            <a:endParaRPr lang="en-US" sz="2100" dirty="0"/>
          </a:p>
        </p:txBody>
      </p:sp>
      <p:sp>
        <p:nvSpPr>
          <p:cNvPr id="16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Hindi, English and Hinglish: 67 of 97 scams caught, 11 of 34 genuine flagged; published by the Income Tax portal, PIB Fact Check and fact-checkers · first runs, bench/results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7772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400" dirty="0"/>
          </a:p>
        </p:txBody>
      </p:sp>
      <p:sp>
        <p:nvSpPr>
          <p:cNvPr id="3" name="scope"/>
          <p:cNvSpPr txBox="1"/>
          <p:nvPr/>
        </p:nvSpPr>
        <p:spPr>
          <a:xfrm>
            <a:off x="822960" y="10972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district.</a:t>
            </a:r>
            <a:endParaRPr lang="en-US" sz="6400" dirty="0"/>
          </a:p>
        </p:txBody>
      </p:sp>
      <p:sp>
        <p:nvSpPr>
          <p:cNvPr id="4" name="stat 1 rule"/>
          <p:cNvSpPr/>
          <p:nvPr/>
        </p:nvSpPr>
        <p:spPr>
          <a:xfrm>
            <a:off x="8229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stat 1"/>
          <p:cNvSpPr txBox="1"/>
          <p:nvPr/>
        </p:nvSpPr>
        <p:spPr>
          <a:xfrm>
            <a:off x="8229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200" dirty="0"/>
          </a:p>
        </p:txBody>
      </p:sp>
      <p:sp>
        <p:nvSpPr>
          <p:cNvPr id="6" name="stat 1 label"/>
          <p:cNvSpPr txBox="1"/>
          <p:nvPr/>
        </p:nvSpPr>
        <p:spPr>
          <a:xfrm>
            <a:off x="8229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villages</a:t>
            </a:r>
            <a:endParaRPr lang="en-US" sz="1800" dirty="0"/>
          </a:p>
        </p:txBody>
      </p:sp>
      <p:sp>
        <p:nvSpPr>
          <p:cNvPr id="7" name="stat 2 rule"/>
          <p:cNvSpPr/>
          <p:nvPr/>
        </p:nvSpPr>
        <p:spPr>
          <a:xfrm>
            <a:off x="33375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3375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5200" dirty="0"/>
          </a:p>
        </p:txBody>
      </p:sp>
      <p:sp>
        <p:nvSpPr>
          <p:cNvPr id="9" name="stat 2 label"/>
          <p:cNvSpPr txBox="1"/>
          <p:nvPr/>
        </p:nvSpPr>
        <p:spPr>
          <a:xfrm>
            <a:off x="33375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counters</a:t>
            </a:r>
            <a:endParaRPr lang="en-US" sz="1800" dirty="0"/>
          </a:p>
        </p:txBody>
      </p:sp>
      <p:sp>
        <p:nvSpPr>
          <p:cNvPr id="10" name="stat 3 rule"/>
          <p:cNvSpPr/>
          <p:nvPr/>
        </p:nvSpPr>
        <p:spPr>
          <a:xfrm>
            <a:off x="5852160" y="2377440"/>
            <a:ext cx="228600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1" name="stat 3"/>
          <p:cNvSpPr txBox="1"/>
          <p:nvPr/>
        </p:nvSpPr>
        <p:spPr>
          <a:xfrm>
            <a:off x="585216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200" dirty="0"/>
          </a:p>
        </p:txBody>
      </p:sp>
      <p:sp>
        <p:nvSpPr>
          <p:cNvPr id="12" name="stat 3 label"/>
          <p:cNvSpPr txBox="1"/>
          <p:nvPr/>
        </p:nvSpPr>
        <p:spPr>
          <a:xfrm>
            <a:off x="585216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</a:t>
            </a:r>
            <a:endParaRPr lang="en-US" sz="1800" dirty="0"/>
          </a:p>
        </p:txBody>
      </p:sp>
      <p:sp>
        <p:nvSpPr>
          <p:cNvPr id="13" name="stat 4 rule"/>
          <p:cNvSpPr/>
          <p:nvPr/>
        </p:nvSpPr>
        <p:spPr>
          <a:xfrm>
            <a:off x="8366760" y="2377440"/>
            <a:ext cx="2999232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4" name="stat 4"/>
          <p:cNvSpPr txBox="1"/>
          <p:nvPr/>
        </p:nvSpPr>
        <p:spPr>
          <a:xfrm>
            <a:off x="8366760" y="251460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₹39 lakh</a:t>
            </a:r>
            <a:endParaRPr lang="en-US" sz="5200" dirty="0"/>
          </a:p>
        </p:txBody>
      </p:sp>
      <p:sp>
        <p:nvSpPr>
          <p:cNvPr id="15" name="stat 4 label"/>
          <p:cNvSpPr txBox="1"/>
          <p:nvPr/>
        </p:nvSpPr>
        <p:spPr>
          <a:xfrm>
            <a:off x="8366760" y="333756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</a:t>
            </a:r>
            <a:endParaRPr lang="en-US" sz="1800" dirty="0"/>
          </a:p>
        </p:txBody>
      </p:sp>
      <p:sp>
        <p:nvSpPr>
          <p:cNvPr id="16" name="eyebrow"/>
          <p:cNvSpPr txBox="1"/>
          <p:nvPr/>
        </p:nvSpPr>
        <p:spPr>
          <a:xfrm>
            <a:off x="822960" y="43434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30 DAYS</a:t>
            </a:r>
            <a:endParaRPr lang="en-US" sz="1400" dirty="0"/>
          </a:p>
        </p:txBody>
      </p:sp>
      <p:sp>
        <p:nvSpPr>
          <p:cNvPr id="17" name="number 1"/>
          <p:cNvSpPr/>
          <p:nvPr/>
        </p:nvSpPr>
        <p:spPr>
          <a:xfrm>
            <a:off x="82296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18" name="number 1 label"/>
          <p:cNvSpPr txBox="1"/>
          <p:nvPr/>
        </p:nvSpPr>
        <p:spPr>
          <a:xfrm>
            <a:off x="82296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next 1"/>
          <p:cNvSpPr txBox="1"/>
          <p:nvPr/>
        </p:nvSpPr>
        <p:spPr>
          <a:xfrm>
            <a:off x="137160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field morning at a CSC</a:t>
            </a:r>
            <a:endParaRPr lang="en-US" sz="1900" dirty="0"/>
          </a:p>
        </p:txBody>
      </p:sp>
      <p:sp>
        <p:nvSpPr>
          <p:cNvPr id="20" name="number 2"/>
          <p:cNvSpPr/>
          <p:nvPr/>
        </p:nvSpPr>
        <p:spPr>
          <a:xfrm>
            <a:off x="443484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21" name="number 2 label"/>
          <p:cNvSpPr txBox="1"/>
          <p:nvPr/>
        </p:nvSpPr>
        <p:spPr>
          <a:xfrm>
            <a:off x="44348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next 2"/>
          <p:cNvSpPr txBox="1"/>
          <p:nvPr/>
        </p:nvSpPr>
        <p:spPr>
          <a:xfrm>
            <a:off x="498348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messages from people’s own phones</a:t>
            </a:r>
            <a:endParaRPr lang="en-US" sz="1900" dirty="0"/>
          </a:p>
        </p:txBody>
      </p:sp>
      <p:sp>
        <p:nvSpPr>
          <p:cNvPr id="23" name="number 3"/>
          <p:cNvSpPr/>
          <p:nvPr/>
        </p:nvSpPr>
        <p:spPr>
          <a:xfrm>
            <a:off x="8046720" y="4754880"/>
            <a:ext cx="384048" cy="384048"/>
          </a:xfrm>
          <a:prstGeom prst="ellipse">
            <a:avLst/>
          </a:prstGeom>
          <a:solidFill>
            <a:srgbClr val="6FA8FF"/>
          </a:solidFill>
          <a:ln/>
        </p:spPr>
      </p:sp>
      <p:sp>
        <p:nvSpPr>
          <p:cNvPr id="24" name="number 3 label"/>
          <p:cNvSpPr txBox="1"/>
          <p:nvPr/>
        </p:nvSpPr>
        <p:spPr>
          <a:xfrm>
            <a:off x="804672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next 3"/>
          <p:cNvSpPr txBox="1"/>
          <p:nvPr/>
        </p:nvSpPr>
        <p:spPr>
          <a:xfrm>
            <a:off x="8595360" y="473659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district partner</a:t>
            </a:r>
            <a:endParaRPr lang="en-US" sz="1900" dirty="0"/>
          </a:p>
        </p:txBody>
      </p:sp>
      <p:sp>
        <p:nvSpPr>
          <p:cNvPr id="26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not quotes: the team’s line-item budget, 7 Oct 2026 (₹39.2 lakh). At 500 counters, about ₹24,000 a counter a year; the operator’s ₹9,600 is the biggest part.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ale"/>
          <p:cNvSpPr txBox="1"/>
          <p:nvPr/>
        </p:nvSpPr>
        <p:spPr>
          <a:xfrm>
            <a:off x="822960" y="1417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has </a:t>
            </a:r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lakh CSCs.</a:t>
            </a:r>
            <a:pPr indent="0" marL="0">
              <a:buNone/>
            </a:pPr>
            <a:r>
              <a:rPr lang="en-US" sz="26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We’re asking for </a:t>
            </a:r>
            <a:pPr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counters.</a:t>
            </a:r>
            <a:endParaRPr lang="en-US" sz="2600" dirty="0"/>
          </a:p>
        </p:txBody>
      </p:sp>
      <p:sp>
        <p:nvSpPr>
          <p:cNvPr id="3" name="eyebrow"/>
          <p:cNvSpPr txBox="1"/>
          <p:nvPr/>
        </p:nvSpPr>
        <p:spPr>
          <a:xfrm>
            <a:off x="822960" y="23774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2C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</a:t>
            </a:r>
            <a:endParaRPr lang="en-US" sz="1400" dirty="0"/>
          </a:p>
        </p:txBody>
      </p:sp>
      <p:sp>
        <p:nvSpPr>
          <p:cNvPr id="4" name="the ask"/>
          <p:cNvSpPr txBox="1"/>
          <p:nvPr/>
        </p:nvSpPr>
        <p:spPr>
          <a:xfrm>
            <a:off x="822960" y="2697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us to one district.</a:t>
            </a:r>
            <a:endParaRPr lang="en-US" sz="5600" dirty="0"/>
          </a:p>
        </p:txBody>
      </p:sp>
      <p:sp>
        <p:nvSpPr>
          <p:cNvPr id="5" name="step 1 rule"/>
          <p:cNvSpPr/>
          <p:nvPr/>
        </p:nvSpPr>
        <p:spPr>
          <a:xfrm>
            <a:off x="82296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step 1"/>
          <p:cNvSpPr txBox="1"/>
          <p:nvPr/>
        </p:nvSpPr>
        <p:spPr>
          <a:xfrm>
            <a:off x="82296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morning.</a:t>
            </a:r>
            <a:endParaRPr lang="en-US" sz="2100" dirty="0"/>
          </a:p>
        </p:txBody>
      </p:sp>
      <p:sp>
        <p:nvSpPr>
          <p:cNvPr id="7" name="step 2 rule"/>
          <p:cNvSpPr/>
          <p:nvPr/>
        </p:nvSpPr>
        <p:spPr>
          <a:xfrm>
            <a:off x="443484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step 2"/>
          <p:cNvSpPr txBox="1"/>
          <p:nvPr/>
        </p:nvSpPr>
        <p:spPr>
          <a:xfrm>
            <a:off x="443484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months.</a:t>
            </a:r>
            <a:endParaRPr lang="en-US" sz="2100" dirty="0"/>
          </a:p>
        </p:txBody>
      </p:sp>
      <p:sp>
        <p:nvSpPr>
          <p:cNvPr id="9" name="step 3 rule"/>
          <p:cNvSpPr/>
          <p:nvPr/>
        </p:nvSpPr>
        <p:spPr>
          <a:xfrm>
            <a:off x="8046720" y="4572000"/>
            <a:ext cx="32918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step 3"/>
          <p:cNvSpPr txBox="1"/>
          <p:nvPr/>
        </p:nvSpPr>
        <p:spPr>
          <a:xfrm>
            <a:off x="8046720" y="470916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numbers.</a:t>
            </a:r>
            <a:endParaRPr lang="en-US" sz="2100" dirty="0"/>
          </a:p>
        </p:txBody>
      </p:sp>
      <p:sp>
        <p:nvSpPr>
          <p:cNvPr id="11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lakh functional CSCs, 4.7 lakh at gram-panchayat level (MeitY, Mar 2025) · the pilot’s 50 counters: nodes at 20 CSCs, the phone app at 30 bank-agent points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822960" y="1097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THING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822960" y="146304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scam.</a:t>
            </a:r>
            <a:endParaRPr lang="en-US" sz="5400" dirty="0"/>
          </a:p>
        </p:txBody>
      </p:sp>
      <p:sp>
        <p:nvSpPr>
          <p:cNvPr id="4" name="tagline"/>
          <p:cNvSpPr txBox="1"/>
          <p:nvPr/>
        </p:nvSpPr>
        <p:spPr>
          <a:xfrm>
            <a:off x="822960" y="2514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a scam before it arrives.</a:t>
            </a:r>
            <a:endParaRPr lang="en-US" sz="2400" dirty="0"/>
          </a:p>
        </p:txBody>
      </p:sp>
      <p:sp>
        <p:nvSpPr>
          <p:cNvPr id="5" name="point 1 rule"/>
          <p:cNvSpPr/>
          <p:nvPr/>
        </p:nvSpPr>
        <p:spPr>
          <a:xfrm>
            <a:off x="822960" y="3291840"/>
            <a:ext cx="51206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6" name="point 1"/>
          <p:cNvSpPr txBox="1"/>
          <p:nvPr/>
        </p:nvSpPr>
        <p:spPr>
          <a:xfrm>
            <a:off x="822960" y="3392424"/>
            <a:ext cx="5120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cards a round</a:t>
            </a:r>
            <a:pPr indent="0" marL="0">
              <a:buNone/>
            </a:pPr>
            <a:r>
              <a:rPr lang="en-US" sz="21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scam or real?</a:t>
            </a:r>
            <a:endParaRPr lang="en-US" sz="2100" dirty="0"/>
          </a:p>
        </p:txBody>
      </p:sp>
      <p:sp>
        <p:nvSpPr>
          <p:cNvPr id="7" name="point 2 rule"/>
          <p:cNvSpPr/>
          <p:nvPr/>
        </p:nvSpPr>
        <p:spPr>
          <a:xfrm>
            <a:off x="822960" y="3913632"/>
            <a:ext cx="51206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8" name="point 2"/>
          <p:cNvSpPr txBox="1"/>
          <p:nvPr/>
        </p:nvSpPr>
        <p:spPr>
          <a:xfrm>
            <a:off x="822960" y="4014216"/>
            <a:ext cx="5120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Sahayak’s own clues</a:t>
            </a:r>
            <a:pPr indent="0" marL="0">
              <a:buNone/>
            </a:pPr>
            <a:r>
              <a:rPr lang="en-US" sz="21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 every answer</a:t>
            </a:r>
            <a:endParaRPr lang="en-US" sz="2100" dirty="0"/>
          </a:p>
        </p:txBody>
      </p:sp>
      <p:sp>
        <p:nvSpPr>
          <p:cNvPr id="9" name="point 3 rule"/>
          <p:cNvSpPr/>
          <p:nvPr/>
        </p:nvSpPr>
        <p:spPr>
          <a:xfrm>
            <a:off x="822960" y="4535424"/>
            <a:ext cx="512064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10" name="point 3"/>
          <p:cNvSpPr txBox="1"/>
          <p:nvPr/>
        </p:nvSpPr>
        <p:spPr>
          <a:xfrm>
            <a:off x="822960" y="4636008"/>
            <a:ext cx="5120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Levels, badges</a:t>
            </a:r>
            <a:pPr indent="0" marL="0">
              <a:buNone/>
            </a:pPr>
            <a:r>
              <a:rPr lang="en-US" sz="21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 new message daily</a:t>
            </a:r>
            <a:endParaRPr lang="en-US" sz="2100" dirty="0"/>
          </a:p>
        </p:txBody>
      </p:sp>
      <p:pic>
        <p:nvPicPr>
          <p:cNvPr id="11" name="Spot the scam: a card" descr="Screenshot: Spot the scam: a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685800"/>
            <a:ext cx="2518637" cy="5257800"/>
          </a:xfrm>
          <a:prstGeom prst="rect">
            <a:avLst/>
          </a:prstGeom>
        </p:spPr>
      </p:pic>
      <p:pic>
        <p:nvPicPr>
          <p:cNvPr id="12" name="Spot the scam: Sahayak's clues after the answer" descr="Screenshot: Spot the scam: Sahayak's clues after the answ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685800"/>
            <a:ext cx="2518637" cy="5257800"/>
          </a:xfrm>
          <a:prstGeom prst="rect">
            <a:avLst/>
          </a:prstGeom>
        </p:spPr>
      </p:pic>
      <p:sp>
        <p:nvSpPr>
          <p:cNvPr id="13" name="source"/>
          <p:cNvSpPr txBox="1"/>
          <p:nvPr/>
        </p:nvSpPr>
        <p:spPr>
          <a:xfrm>
            <a:off x="822960" y="6400800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 tab of the same app · every card agrees with Sahayak’s own check (tests/test_game.py) · nothing leaves the phone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n"/>
          <p:cNvSpPr txBox="1"/>
          <p:nvPr/>
        </p:nvSpPr>
        <p:spPr>
          <a:xfrm>
            <a:off x="457200" y="1143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at night. The bank is closed.</a:t>
            </a:r>
            <a:endParaRPr lang="en-US" sz="3000" dirty="0"/>
          </a:p>
        </p:txBody>
      </p:sp>
      <p:sp>
        <p:nvSpPr>
          <p:cNvPr id="3" name="now"/>
          <p:cNvSpPr txBox="1"/>
          <p:nvPr/>
        </p:nvSpPr>
        <p:spPr>
          <a:xfrm>
            <a:off x="457200" y="1783080"/>
            <a:ext cx="112772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she has someone to ask.</a:t>
            </a:r>
            <a:endParaRPr lang="en-US" sz="6000" dirty="0"/>
          </a:p>
        </p:txBody>
      </p:sp>
      <p:sp>
        <p:nvSpPr>
          <p:cNvPr id="4" name="divider"/>
          <p:cNvSpPr/>
          <p:nvPr/>
        </p:nvSpPr>
        <p:spPr>
          <a:xfrm>
            <a:off x="5547208" y="3429000"/>
            <a:ext cx="1097280" cy="0"/>
          </a:xfrm>
          <a:prstGeom prst="line">
            <a:avLst/>
          </a:prstGeom>
          <a:noFill/>
          <a:ln w="9525">
            <a:solidFill>
              <a:srgbClr val="3A3A3E"/>
            </a:solidFill>
            <a:prstDash val="solid"/>
          </a:ln>
        </p:spPr>
      </p:sp>
      <p:sp>
        <p:nvSpPr>
          <p:cNvPr id="5" name="name"/>
          <p:cNvSpPr txBox="1"/>
          <p:nvPr/>
        </p:nvSpPr>
        <p:spPr>
          <a:xfrm>
            <a:off x="457200" y="37490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Sahayak</a:t>
            </a:r>
            <a:pPr algn="ctr" indent="0" marL="0">
              <a:buNone/>
            </a:pPr>
            <a:r>
              <a:rPr lang="en-US" sz="3000" b="1" dirty="0">
                <a:solidFill>
                  <a:srgbClr val="6FA8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 सहायक</a:t>
            </a:r>
            <a:endParaRPr lang="en-US" sz="4400" dirty="0"/>
          </a:p>
        </p:txBody>
      </p:sp>
      <p:sp>
        <p:nvSpPr>
          <p:cNvPr id="6" name="promise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scam before the money moves.  </a:t>
            </a:r>
            <a:pPr algn="ctr" indent="0" marL="0">
              <a:buNone/>
            </a:pPr>
            <a:r>
              <a:rPr lang="en-US" sz="220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what you’re owed.</a:t>
            </a:r>
            <a:endParaRPr lang="en-US" sz="2200" dirty="0"/>
          </a:p>
        </p:txBody>
      </p:sp>
      <p:sp>
        <p:nvSpPr>
          <p:cNvPr id="7" name="team"/>
          <p:cNvSpPr txBox="1"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1A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Ishmiit Singh  ·  Roshan Raj</a:t>
            </a:r>
            <a:endParaRPr lang="en-US" sz="1700" dirty="0"/>
          </a:p>
        </p:txBody>
      </p:sp>
      <p:sp>
        <p:nvSpPr>
          <p:cNvPr id="8" name="repo"/>
          <p:cNvSpPr txBox="1"/>
          <p:nvPr/>
        </p:nvSpPr>
        <p:spPr>
          <a:xfrm>
            <a:off x="457200" y="61722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source: github.com/ishmiit/Sahayak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hayak Keynote">
  <a:themeElements>
    <a:clrScheme name="Sahayak Keynote">
      <a:dk1>
        <a:srgbClr val="000000"/>
      </a:dk1>
      <a:lt1>
        <a:srgbClr val="F5F5F7"/>
      </a:lt1>
      <a:dk2>
        <a:srgbClr val="161618"/>
      </a:dk2>
      <a:lt2>
        <a:srgbClr val="A1A1A6"/>
      </a:lt2>
      <a:accent1>
        <a:srgbClr val="6FA8FF"/>
      </a:accent1>
      <a:accent2>
        <a:srgbClr val="E2C28A"/>
      </a:accent2>
      <a:accent3>
        <a:srgbClr val="4FD68A"/>
      </a:accent3>
      <a:accent4>
        <a:srgbClr val="FF5A52"/>
      </a:accent4>
      <a:accent5>
        <a:srgbClr val="1C1C1E"/>
      </a:accent5>
      <a:accent6>
        <a:srgbClr val="6E6E73"/>
      </a:accent6>
      <a:hlink>
        <a:srgbClr val="6FA8FF"/>
      </a:hlink>
      <a:folHlink>
        <a:srgbClr val="91C1FF"/>
      </a:folHlink>
    </a:clrScheme>
    <a:fontScheme name="Sahayak Keyno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Sahayak: keynote for the Grand Jury Round, Ideas for India 2026</dc:title>
  <dc:subject>PptxGenJS Presentation</dc:subject>
  <dc:creator>Ishmiit Singh, Roshan Raj</dc:creator>
  <cp:lastModifiedBy>Ishmiit Singh, Roshan Raj</cp:lastModifiedBy>
  <cp:revision>1</cp:revision>
  <dcterms:created xsi:type="dcterms:W3CDTF">2026-10-14T04:47:00Z</dcterms:created>
  <dcterms:modified xsi:type="dcterms:W3CDTF">2026-10-14T04:47:00Z</dcterms:modified>
</cp:coreProperties>
</file>