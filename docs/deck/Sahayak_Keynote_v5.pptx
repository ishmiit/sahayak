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message" id="{a6222779-f308-abc3-24e5-317a21c344fb}">
          <p14:sldIdLst>
            <p14:sldId id="256"/>
          </p14:sldIdLst>
        </p14:section>
        <p14:section name="Who reads it" id="{01a2b4f3-b88f-6c24-2c0b-47c86fe7bf1b}">
          <p14:sldIdLst>
            <p14:sldId id="257"/>
          </p14:sldIdLst>
        </p14:section>
        <p14:section name="Every minute" id="{c5a144ad-3753-b6e1-7cc2-edf807ff1687}">
          <p14:sldIdLst>
            <p14:sldId id="258"/>
          </p14:sldIdLst>
        </p14:section>
        <p14:section name="Introducing Sahayak" id="{748a1465-4b63-62a8-93bd-28d0fc4c4a17}">
          <p14:sldIdLst>
            <p14:sldId id="259"/>
          </p14:sldIdLst>
        </p14:section>
        <p14:section name="It tells her why" id="{aaa5e9c8-c7eb-e089-50ad-2ee3e5fa4fe1}">
          <p14:sldIdLst>
            <p14:sldId id="260"/>
          </p14:sldIdLst>
        </p14:section>
        <p14:section name="What she is owed" id="{20da63b6-555e-cfa9-3031-05d1591ef64f}">
          <p14:sldIdLst>
            <p14:sldId id="261"/>
          </p14:sldIdLst>
        </p14:section>
        <p14:section name="Try it" id="{b6aec84f-9fd0-39a7-721c-dca1f77e5055}">
          <p14:sldIdLst>
            <p14:sldId id="262"/>
          </p14:sldIdLst>
        </p14:section>
        <p14:section name="How it works" id="{9064523b-ed93-f44a-6848-069770d36660}">
          <p14:sldIdLst>
            <p14:sldId id="263"/>
          </p14:sldIdLst>
        </p14:section>
        <p14:section name="Why rules decide" id="{12520189-5f56-fa34-1531-6bfd96cee726}">
          <p14:sldIdLst>
            <p14:sldId id="264"/>
          </p14:sldIdLst>
        </p14:section>
        <p14:section name="The honest number" id="{bd11d996-d301-54b2-9666-8a69680abc1a}">
          <p14:sldIdLst>
            <p14:sldId id="265"/>
          </p14:sldIdLst>
        </p14:section>
        <p14:section name="The pilot" id="{d9880d17-cea6-3832-1eaf-23655f6685aa}">
          <p14:sldIdLst>
            <p14:sldId id="266"/>
          </p14:sldIdLst>
        </p14:section>
        <p14:section name="The ask" id="{8c3c6461-a2d6-b74c-6855-c5d41790f95d}">
          <p14:sldIdLst>
            <p14:sldId id="267"/>
          </p14:sldIdLst>
        </p14:section>
        <p14:section name="One more thing" id="{ae3bc636-ca73-809c-a64c-0c4f0798be47}">
          <p14:sldIdLst>
            <p14:sldId id="268"/>
          </p14:sldIdLst>
        </p14:section>
        <p14:section name="Someone to ask" id="{4faaa1ce-b481-ee58-8c5c-c1dd9a0cfa18}">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scam SMS, large, as a phone shows it: Hindi, with the English below.
DO: Before you walk on: the deck is on slide 1. Nothing in your hands but the clicker.
DO: Walk to the centre and stop. Look at the jury. Say nothing until the room is quiet. (about 2 s)
ISHMIIT: It’s nine at night, and a phone buzzes. You can read it for yourself. Her account closes tonight, unless she updates her KYC. And there’s a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Four words, one per line: 74. 9 PM. Bank closed. Alone.
DO: Click.
ISHMIIT: Now picture who’s holding that phone. She’s seventy-four. Her bank shut hours ago. Her son is in another city. Whatever she does next, she decides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“₹4 lakh”, lost to cyber fraud every minute, on average. Below: ₹22,495 crore in 2025, and ₹4,005 crore of it from senior citizens.
DO: Click. Say nothing for two seconds. Let the number sit. (about 2 s)
ISHMIIT: She isn’t one story. She’s millions. Last year, Indians reported losing over twenty-two thousand crore rupees to cyber fraud. That’s about four lakh rupees every minute,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Sahayak, its two promises, three short pills, and the app’s home screen on a phone.
DO: Click. Take one step toward the jury.
ISHMIIT: So we built her a helper. It’s called Sahayak, and it does two things. It catches the scam before the money moves. And it finds what she’s owed.
ISHMIIT: At the Common Services Centre in her village, or on her own phone, even offline. English and Hindi today, with regional languages on the way.
ISHMIIT: Good morning. I’m Ishmiit Singh, and this is Roshan Raj.
DO: On Roshan’s name, open a hand toward Roshan. Roshan nods.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Sahayak’s answer to that SMS on a phone, “Scam.”, and six short cues: three reasons, three things to do.
DO: Click.
ISHMIIT: Back to her message. She pastes it in, and in under a second: Scam.
ISHMIIT: But a warning people don’t understand gets ignored. So Sahayak gives its reasons, in plain words. A bank won’t text from a personal number. That link only looks like SBI’s. And no bank updates KYC through a link.
ISHMIIT: Then, what to do. Don’t tap. Keep the message as proof. If money’s gone, call 1930. And one more tap warns her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“₹5 lakh” of free hospital care a year, three short cues, and Sahayak’s benefits result for a 74-year-old.
DO: Click.
ISHMIIT: And building this, something surprised us. The people scammers chase are often missing out on what’s already theirs.
ISHMIIT: At seventy-four, she’s entitled to free hospital care, up to five lakh rupees a year, whatever her income. Yet by February, fewer than one in five people over seventy had the card.
ISHMIIT: So Sahayak asks five simple questions, puts that card first, and gives her the exact sentence to say at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only QR code in the deck, and three things to try.
DO: Click.
ISHMIIT: Don’t take my word for it. Take out your phones, and scan this code. Nothing to install. No account.
DO: Wait until you see phones come up. (about 3 s)
ISHMIIT: Tap ‘Check a message’, and try the one asking five hundred rupees for an Ayushman card.
DO: Wait for the first faces to react. (about 2 s)
ISHMIIT: Scam. That card is free.
ISHMIIT: Now, my favourite part. Turn on airplane mode, and try another. It still works.
DO: Roshan holds up the demo phone.
ROSHAN: If it doesn’t open, just raise your hand. I’ll bring you this one.
DO: Stop talking and let them try it. Watch the jury, not the screen. Roshan walks the demo phone to anyone who raises a hand. (about 10 s)
ISHMIIT: The phone Roshan is holding has been in airplane mode since we walked into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Three cards with a few words each: You ask. Rules decide. A clear answer. Below: phone and counter agree, 1,841 of 1,841.
DO: Click.
ISHMIIT: Under the hood, it’s deliberately simple. She can type, speak, describe a call, or photograph a UPI QR code.
ISHMIIT: Sixty-four scam signals run right on the device, so nothing she types leaves her phone.
ISHMIIT: She gets one of four answers, and ‘safe’ isn’t one of them. No one can promise that.
ISHMIIT: And her phone answers exactly like the counter. We checked, eighteen hundred and forty-one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3B language model against Sahayak on the same 137 real messages. Roshan speaks.
DO: Click.
ISHMIIT: In round one, we said a large AI model would make these decisions. So we tested one. Roshan.
DO: Turn to Roshan and step back. Roshan steps forward.
ROSHAN: On the same hundred and thirty-seven real messages, it caught more scams than we did.
ROSHAN: But it called twenty-one of thirty-four genuine messages a scam. We did that eleven times. A warning that cries wolf gets ignored. So rules decide.
ROSHAN: The model will help where it’s strongest: the new languages, as a second opinion that can only raise a warning.
ISHMIIT: Thank you, Roshan.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“7 in 10” on 137 real messages, scored once, with the two bigger numbers greyed out on the left.
DO: Click.
ISHMIIT: We could have opened with a bigger number. Thirty-four of thirty-seven, on messages we wrote. Ninety-two of a hundred and three, against a blind red team.
ISHMIIT: But real messages are harder. On a hundred and thirty-seven that people in India actually received, scored once, it caught seven in ten.
ISHMIIT: That’s our number, because it’s the honest one. What it needs now is real users, with messages from their own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district: 20 villages, 50 counters, six months, about ₹39 lakh. The next 30 days.
DO: Click.
ISHMIIT: So, the pilot. One district. Twenty villages. Fifty counters. Six months. About thirty-nine lakh rupees, costed line by line.
ISHMIIT: And the biggest share goes to the local operator who runs each counter.
ISHMIIT: And in the next thirty days: a field morning at a CSC, real messages from real phones, and a district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“Introduce us to one district.” Above it: 6 lakh CSCs, and the 50 counters we need.
DO: Click. Stop moving. Look at the head juror.
ISHMIIT: And that’s where you come in. India has six lakh Common Services Centres. We need fifty counters.
ISHMIIT: Introduce us to one district. One morning to start, then six months. And we’ll come back with real numbers, from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Everything you saw today is public. A card lists the result file behind each number.
DO: Click. Pause. Take one step toward the jury. (about 2 s)
ISHMIIT: And, one more thing. Everything you’ve seen today is public. The code, the tests, and the file behind every number on these slides. Anyone can check our work. We’d like you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Nine at night. Now she has someone to ask. Sahayak, its two promises, and both your names.
DO: Click.
ISHMIIT: So, back to her, one last time. Nine at night. The bank is closed. The link is right there. But now, before she taps, she has someone to ask.
ISHMIIT: Sahayak. Spot the scam before the money moves. Claim what you’re owed. Thank you.
DO: Stand still. Let them applaud. (about 2 s)
ISHMIIT: Roshan and I would love to take your questions.
DO: Roshan steps to the centre for the questions. Ishmiit stays on stage, half a step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GE">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MS card"/>
          <p:cNvSpPr/>
          <p:nvPr/>
        </p:nvSpPr>
        <p:spPr>
          <a:xfrm>
            <a:off x="2194560" y="1051560"/>
            <a:ext cx="7799832" cy="3657600"/>
          </a:xfrm>
          <a:prstGeom prst="roundRect">
            <a:avLst>
              <a:gd name="adj" fmla="val 10000"/>
            </a:avLst>
          </a:prstGeom>
          <a:solidFill>
            <a:srgbClr val="1C1C1E"/>
          </a:solidFill>
          <a:ln w="12700">
            <a:solidFill>
              <a:srgbClr val="2C2C30"/>
            </a:solidFill>
            <a:prstDash val="solid"/>
          </a:ln>
        </p:spPr>
      </p:sp>
      <p:sp>
        <p:nvSpPr>
          <p:cNvPr id="3" name="SMS icon"/>
          <p:cNvSpPr/>
          <p:nvPr/>
        </p:nvSpPr>
        <p:spPr>
          <a:xfrm>
            <a:off x="2606040" y="1417320"/>
            <a:ext cx="438912" cy="438912"/>
          </a:xfrm>
          <a:prstGeom prst="roundRect">
            <a:avLst>
              <a:gd name="adj" fmla="val 25000"/>
            </a:avLst>
          </a:prstGeom>
          <a:solidFill>
            <a:srgbClr val="4FD68A"/>
          </a:solidFill>
          <a:ln/>
        </p:spPr>
      </p:sp>
      <p:sp>
        <p:nvSpPr>
          <p:cNvPr id="4" name="sender"/>
          <p:cNvSpPr txBox="1"/>
          <p:nvPr/>
        </p:nvSpPr>
        <p:spPr>
          <a:xfrm>
            <a:off x="3200400" y="1417320"/>
            <a:ext cx="4572000" cy="438912"/>
          </a:xfrm>
          <a:prstGeom prst="rect">
            <a:avLst/>
          </a:prstGeom>
          <a:noFill/>
          <a:ln/>
        </p:spPr>
        <p:txBody>
          <a:bodyPr wrap="square" lIns="0" tIns="0" rIns="0" bIns="0" rtlCol="0" anchor="ctr"/>
          <a:lstStyle/>
          <a:p>
            <a:pPr indent="0" marL="0">
              <a:buNone/>
            </a:pPr>
            <a:r>
              <a:rPr lang="en-US" sz="1900" b="1" dirty="0">
                <a:solidFill>
                  <a:srgbClr val="F5F5F7"/>
                </a:solidFill>
                <a:latin typeface="Arial" pitchFamily="34" charset="0"/>
                <a:ea typeface="Arial" pitchFamily="34" charset="-122"/>
                <a:cs typeface="Arial" pitchFamily="34" charset="-120"/>
              </a:rPr>
              <a:t>SMS</a:t>
            </a:r>
            <a:pPr indent="0" marL="0">
              <a:buNone/>
            </a:pPr>
            <a:r>
              <a:rPr lang="en-US" sz="1900" dirty="0">
                <a:solidFill>
                  <a:srgbClr val="A1A1A6"/>
                </a:solidFill>
                <a:latin typeface="Arial" pitchFamily="34" charset="0"/>
                <a:ea typeface="Arial" pitchFamily="34" charset="-122"/>
                <a:cs typeface="Arial" pitchFamily="34" charset="-120"/>
              </a:rPr>
              <a:t>   9876501234</a:t>
            </a:r>
            <a:endParaRPr lang="en-US" sz="1900" dirty="0"/>
          </a:p>
        </p:txBody>
      </p:sp>
      <p:sp>
        <p:nvSpPr>
          <p:cNvPr id="5" name="time"/>
          <p:cNvSpPr txBox="1"/>
          <p:nvPr/>
        </p:nvSpPr>
        <p:spPr>
          <a:xfrm>
            <a:off x="7863840" y="1417320"/>
            <a:ext cx="1737360" cy="438912"/>
          </a:xfrm>
          <a:prstGeom prst="rect">
            <a:avLst/>
          </a:prstGeom>
          <a:noFill/>
          <a:ln/>
        </p:spPr>
        <p:txBody>
          <a:bodyPr wrap="square" lIns="0" tIns="0" rIns="0" bIns="0" rtlCol="0" anchor="ctr"/>
          <a:lstStyle/>
          <a:p>
            <a:pPr algn="r" indent="0" marL="0">
              <a:buNone/>
            </a:pPr>
            <a:r>
              <a:rPr lang="en-US" sz="1700" dirty="0">
                <a:solidFill>
                  <a:srgbClr val="A1A1A6"/>
                </a:solidFill>
                <a:latin typeface="Arial" pitchFamily="34" charset="0"/>
                <a:ea typeface="Arial" pitchFamily="34" charset="-122"/>
                <a:cs typeface="Arial" pitchFamily="34" charset="-120"/>
              </a:rPr>
              <a:t>9:02 PM</a:t>
            </a:r>
            <a:endParaRPr lang="en-US" sz="1700" dirty="0"/>
          </a:p>
        </p:txBody>
      </p:sp>
      <p:sp>
        <p:nvSpPr>
          <p:cNvPr id="6" name="the SMS, in Hindi"/>
          <p:cNvSpPr txBox="1"/>
          <p:nvPr/>
        </p:nvSpPr>
        <p:spPr>
          <a:xfrm>
            <a:off x="2606040" y="2103120"/>
            <a:ext cx="6995160" cy="1691640"/>
          </a:xfrm>
          <a:prstGeom prst="rect">
            <a:avLst/>
          </a:prstGeom>
          <a:noFill/>
          <a:ln/>
        </p:spPr>
        <p:txBody>
          <a:bodyPr wrap="square" lIns="0" tIns="0" rIns="0" bIns="0" rtlCol="0" anchor="t"/>
          <a:lstStyle/>
          <a:p>
            <a:pPr indent="0" marL="0">
              <a:buNone/>
            </a:pPr>
            <a:r>
              <a:rPr lang="en-US" sz="2800" dirty="0">
                <a:solidFill>
                  <a:srgbClr val="F5F5F7"/>
                </a:solidFill>
                <a:latin typeface="Nirmala UI" pitchFamily="34" charset="0"/>
                <a:ea typeface="Nirmala UI" pitchFamily="34" charset="-122"/>
                <a:cs typeface="Nirmala UI" pitchFamily="34" charset="-120"/>
              </a:rPr>
              <a:t>प्रिय ग्राहक, आपके SBI खाते का KYC खत्म हो गया है। तुरंत अपडेट करें, नहीं तो आज रात खाता बंद हो जाएगा।</a:t>
            </a:r>
            <a:endParaRPr lang="en-US" sz="2800" dirty="0"/>
          </a:p>
        </p:txBody>
      </p:sp>
      <p:sp>
        <p:nvSpPr>
          <p:cNvPr id="7" name="the link"/>
          <p:cNvSpPr txBox="1"/>
          <p:nvPr/>
        </p:nvSpPr>
        <p:spPr>
          <a:xfrm>
            <a:off x="2606040" y="3886200"/>
            <a:ext cx="6995160" cy="457200"/>
          </a:xfrm>
          <a:prstGeom prst="rect">
            <a:avLst/>
          </a:prstGeom>
          <a:noFill/>
          <a:ln/>
        </p:spPr>
        <p:txBody>
          <a:bodyPr wrap="square" lIns="0" tIns="0" rIns="0" bIns="0" rtlCol="0" anchor="t"/>
          <a:lstStyle/>
          <a:p>
            <a:pPr indent="0" marL="0">
              <a:buNone/>
            </a:pPr>
            <a:r>
              <a:rPr lang="en-US" sz="2000" dirty="0">
                <a:solidFill>
                  <a:srgbClr val="6FA8FF"/>
                </a:solidFill>
                <a:latin typeface="Nirmala UI" pitchFamily="34" charset="0"/>
                <a:ea typeface="Nirmala UI" pitchFamily="34" charset="-122"/>
                <a:cs typeface="Nirmala UI" pitchFamily="34" charset="-120"/>
              </a:rPr>
              <a:t>लिंक: http://sbi-kyc-update.xyz</a:t>
            </a:r>
            <a:endParaRPr lang="en-US" sz="2000" dirty="0"/>
          </a:p>
        </p:txBody>
      </p:sp>
      <p:sp>
        <p:nvSpPr>
          <p:cNvPr id="8" name="English"/>
          <p:cNvSpPr txBox="1"/>
          <p:nvPr/>
        </p:nvSpPr>
        <p:spPr>
          <a:xfrm>
            <a:off x="1280160" y="5074920"/>
            <a:ext cx="9628632" cy="457200"/>
          </a:xfrm>
          <a:prstGeom prst="rect">
            <a:avLst/>
          </a:prstGeom>
          <a:noFill/>
          <a:ln/>
        </p:spPr>
        <p:txBody>
          <a:bodyPr wrap="square" lIns="0" tIns="0" rIns="0" bIns="0" rtlCol="0" anchor="t"/>
          <a:lstStyle/>
          <a:p>
            <a:pPr algn="ctr" indent="0" marL="0">
              <a:buNone/>
            </a:pPr>
            <a:r>
              <a:rPr lang="en-US" sz="2000" i="1" dirty="0">
                <a:solidFill>
                  <a:srgbClr val="A1A1A6"/>
                </a:solidFill>
                <a:latin typeface="Arial" pitchFamily="34" charset="0"/>
                <a:ea typeface="Arial" pitchFamily="34" charset="-122"/>
                <a:cs typeface="Arial" pitchFamily="34" charset="-120"/>
              </a:rPr>
              <a:t>“Your SBI KYC has expired. Update now, or your account will be closed tonight.”</a:t>
            </a:r>
            <a:endParaRPr lang="en-US" sz="2000" dirty="0"/>
          </a:p>
        </p:txBody>
      </p:sp>
      <p:sp>
        <p:nvSpPr>
          <p:cNvPr id="9"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A demo message, written by the team in the style of real KYC scams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1463040" y="868680"/>
            <a:ext cx="7315200" cy="310896"/>
          </a:xfrm>
          <a:prstGeom prst="rect">
            <a:avLst/>
          </a:prstGeom>
          <a:noFill/>
          <a:ln/>
        </p:spPr>
        <p:txBody>
          <a:bodyPr wrap="square" lIns="0" tIns="0" rIns="0" bIns="0" rtlCol="0" anchor="t"/>
          <a:lstStyle/>
          <a:p>
            <a:pPr indent="0" marL="0">
              <a:buNone/>
            </a:pPr>
            <a:r>
              <a:rPr lang="en-US" sz="1400" b="1" spc="300" kern="0" dirty="0">
                <a:solidFill>
                  <a:srgbClr val="6FA8FF"/>
                </a:solidFill>
                <a:latin typeface="Arial" pitchFamily="34" charset="0"/>
                <a:ea typeface="Arial" pitchFamily="34" charset="-122"/>
                <a:cs typeface="Arial" pitchFamily="34" charset="-120"/>
              </a:rPr>
              <a:t>WHO READS IT</a:t>
            </a:r>
            <a:endParaRPr lang="en-US" sz="1400" dirty="0"/>
          </a:p>
        </p:txBody>
      </p:sp>
      <p:sp>
        <p:nvSpPr>
          <p:cNvPr id="3" name="line 1"/>
          <p:cNvSpPr txBox="1"/>
          <p:nvPr/>
        </p:nvSpPr>
        <p:spPr>
          <a:xfrm>
            <a:off x="1463040" y="1325880"/>
            <a:ext cx="9144000" cy="914400"/>
          </a:xfrm>
          <a:prstGeom prst="rect">
            <a:avLst/>
          </a:prstGeom>
          <a:noFill/>
          <a:ln/>
        </p:spPr>
        <p:txBody>
          <a:bodyPr wrap="square" lIns="0" tIns="0" rIns="0" bIns="0" rtlCol="0" anchor="ctr"/>
          <a:lstStyle/>
          <a:p>
            <a:pPr indent="0" marL="0">
              <a:buNone/>
            </a:pPr>
            <a:r>
              <a:rPr lang="en-US" sz="6000" b="1" dirty="0">
                <a:solidFill>
                  <a:srgbClr val="F5F5F7"/>
                </a:solidFill>
                <a:latin typeface="Arial" pitchFamily="34" charset="0"/>
                <a:ea typeface="Arial" pitchFamily="34" charset="-122"/>
                <a:cs typeface="Arial" pitchFamily="34" charset="-120"/>
              </a:rPr>
              <a:t>74.</a:t>
            </a:r>
            <a:endParaRPr lang="en-US" sz="6000" dirty="0"/>
          </a:p>
        </p:txBody>
      </p:sp>
      <p:sp>
        <p:nvSpPr>
          <p:cNvPr id="4" name="line 2"/>
          <p:cNvSpPr txBox="1"/>
          <p:nvPr/>
        </p:nvSpPr>
        <p:spPr>
          <a:xfrm>
            <a:off x="1463040" y="2350008"/>
            <a:ext cx="9144000" cy="914400"/>
          </a:xfrm>
          <a:prstGeom prst="rect">
            <a:avLst/>
          </a:prstGeom>
          <a:noFill/>
          <a:ln/>
        </p:spPr>
        <p:txBody>
          <a:bodyPr wrap="square" lIns="0" tIns="0" rIns="0" bIns="0" rtlCol="0" anchor="ctr"/>
          <a:lstStyle/>
          <a:p>
            <a:pPr indent="0" marL="0">
              <a:buNone/>
            </a:pPr>
            <a:r>
              <a:rPr lang="en-US" sz="6000" b="1" dirty="0">
                <a:solidFill>
                  <a:srgbClr val="F5F5F7"/>
                </a:solidFill>
                <a:latin typeface="Arial" pitchFamily="34" charset="0"/>
                <a:ea typeface="Arial" pitchFamily="34" charset="-122"/>
                <a:cs typeface="Arial" pitchFamily="34" charset="-120"/>
              </a:rPr>
              <a:t>9 PM.</a:t>
            </a:r>
            <a:endParaRPr lang="en-US" sz="6000" dirty="0"/>
          </a:p>
        </p:txBody>
      </p:sp>
      <p:sp>
        <p:nvSpPr>
          <p:cNvPr id="5" name="line 3"/>
          <p:cNvSpPr txBox="1"/>
          <p:nvPr/>
        </p:nvSpPr>
        <p:spPr>
          <a:xfrm>
            <a:off x="1463040" y="3374136"/>
            <a:ext cx="9144000" cy="914400"/>
          </a:xfrm>
          <a:prstGeom prst="rect">
            <a:avLst/>
          </a:prstGeom>
          <a:noFill/>
          <a:ln/>
        </p:spPr>
        <p:txBody>
          <a:bodyPr wrap="square" lIns="0" tIns="0" rIns="0" bIns="0" rtlCol="0" anchor="ctr"/>
          <a:lstStyle/>
          <a:p>
            <a:pPr indent="0" marL="0">
              <a:buNone/>
            </a:pPr>
            <a:r>
              <a:rPr lang="en-US" sz="6000" b="1" dirty="0">
                <a:solidFill>
                  <a:srgbClr val="F5F5F7"/>
                </a:solidFill>
                <a:latin typeface="Arial" pitchFamily="34" charset="0"/>
                <a:ea typeface="Arial" pitchFamily="34" charset="-122"/>
                <a:cs typeface="Arial" pitchFamily="34" charset="-120"/>
              </a:rPr>
              <a:t>Bank closed.</a:t>
            </a:r>
            <a:endParaRPr lang="en-US" sz="6000" dirty="0"/>
          </a:p>
        </p:txBody>
      </p:sp>
      <p:sp>
        <p:nvSpPr>
          <p:cNvPr id="6" name="line 4"/>
          <p:cNvSpPr txBox="1"/>
          <p:nvPr/>
        </p:nvSpPr>
        <p:spPr>
          <a:xfrm>
            <a:off x="1463040" y="4398264"/>
            <a:ext cx="9144000" cy="914400"/>
          </a:xfrm>
          <a:prstGeom prst="rect">
            <a:avLst/>
          </a:prstGeom>
          <a:noFill/>
          <a:ln/>
        </p:spPr>
        <p:txBody>
          <a:bodyPr wrap="square" lIns="0" tIns="0" rIns="0" bIns="0" rtlCol="0" anchor="ctr"/>
          <a:lstStyle/>
          <a:p>
            <a:pPr indent="0" marL="0">
              <a:buNone/>
            </a:pPr>
            <a:r>
              <a:rPr lang="en-US" sz="6000" b="1" dirty="0">
                <a:solidFill>
                  <a:srgbClr val="E2C28A"/>
                </a:solidFill>
                <a:latin typeface="Arial" pitchFamily="34" charset="0"/>
                <a:ea typeface="Arial" pitchFamily="34" charset="-122"/>
                <a:cs typeface="Arial" pitchFamily="34" charset="-120"/>
              </a:rPr>
              <a:t>Alone.</a:t>
            </a:r>
            <a:endParaRPr lang="en-US" sz="6000" dirty="0"/>
          </a:p>
        </p:txBody>
      </p:sp>
      <p:sp>
        <p:nvSpPr>
          <p:cNvPr id="7"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A demo persona, not a real person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he number"/>
          <p:cNvSpPr txBox="1"/>
          <p:nvPr/>
        </p:nvSpPr>
        <p:spPr>
          <a:xfrm>
            <a:off x="822960" y="868680"/>
            <a:ext cx="10515600" cy="2286000"/>
          </a:xfrm>
          <a:prstGeom prst="rect">
            <a:avLst/>
          </a:prstGeom>
          <a:noFill/>
          <a:ln/>
        </p:spPr>
        <p:txBody>
          <a:bodyPr wrap="square" lIns="0" tIns="0" rIns="0" bIns="0" rtlCol="0" anchor="ctr"/>
          <a:lstStyle/>
          <a:p>
            <a:pPr indent="0" marL="0">
              <a:buNone/>
            </a:pPr>
            <a:r>
              <a:rPr lang="en-US" sz="16000" b="1" dirty="0">
                <a:solidFill>
                  <a:srgbClr val="E2C28A"/>
                </a:solidFill>
                <a:latin typeface="Arial" pitchFamily="34" charset="0"/>
                <a:ea typeface="Arial" pitchFamily="34" charset="-122"/>
                <a:cs typeface="Arial" pitchFamily="34" charset="-120"/>
              </a:rPr>
              <a:t>₹4 lakh</a:t>
            </a:r>
            <a:endParaRPr lang="en-US" sz="16000" dirty="0"/>
          </a:p>
        </p:txBody>
      </p:sp>
      <p:sp>
        <p:nvSpPr>
          <p:cNvPr id="3" name="what it means"/>
          <p:cNvSpPr txBox="1"/>
          <p:nvPr/>
        </p:nvSpPr>
        <p:spPr>
          <a:xfrm>
            <a:off x="896112" y="3246120"/>
            <a:ext cx="10515600" cy="640080"/>
          </a:xfrm>
          <a:prstGeom prst="rect">
            <a:avLst/>
          </a:prstGeom>
          <a:noFill/>
          <a:ln/>
        </p:spPr>
        <p:txBody>
          <a:bodyPr wrap="square" lIns="0" tIns="0" rIns="0" bIns="0" rtlCol="0" anchor="t"/>
          <a:lstStyle/>
          <a:p>
            <a:pPr indent="0" marL="0">
              <a:buNone/>
            </a:pPr>
            <a:r>
              <a:rPr lang="en-US" sz="3000" dirty="0">
                <a:solidFill>
                  <a:srgbClr val="F5F5F7"/>
                </a:solidFill>
                <a:latin typeface="Arial" pitchFamily="34" charset="0"/>
                <a:ea typeface="Arial" pitchFamily="34" charset="-122"/>
                <a:cs typeface="Arial" pitchFamily="34" charset="-120"/>
              </a:rPr>
              <a:t>lost to cyber fraud in India, every minute, on average.</a:t>
            </a:r>
            <a:endParaRPr lang="en-US" sz="3000" dirty="0"/>
          </a:p>
        </p:txBody>
      </p:sp>
      <p:sp>
        <p:nvSpPr>
          <p:cNvPr id="4" name="stat 1 rule"/>
          <p:cNvSpPr/>
          <p:nvPr/>
        </p:nvSpPr>
        <p:spPr>
          <a:xfrm>
            <a:off x="896112" y="4434840"/>
            <a:ext cx="4572000" cy="0"/>
          </a:xfrm>
          <a:prstGeom prst="line">
            <a:avLst/>
          </a:prstGeom>
          <a:noFill/>
          <a:ln w="9525">
            <a:solidFill>
              <a:srgbClr val="3A3A3E"/>
            </a:solidFill>
            <a:prstDash val="solid"/>
          </a:ln>
        </p:spPr>
      </p:sp>
      <p:sp>
        <p:nvSpPr>
          <p:cNvPr id="5" name="stat 1"/>
          <p:cNvSpPr txBox="1"/>
          <p:nvPr/>
        </p:nvSpPr>
        <p:spPr>
          <a:xfrm>
            <a:off x="896112" y="4572000"/>
            <a:ext cx="4572000" cy="594360"/>
          </a:xfrm>
          <a:prstGeom prst="rect">
            <a:avLst/>
          </a:prstGeom>
          <a:noFill/>
          <a:ln/>
        </p:spPr>
        <p:txBody>
          <a:bodyPr wrap="square" lIns="0" tIns="0" rIns="0" bIns="0" rtlCol="0" anchor="t"/>
          <a:lstStyle/>
          <a:p>
            <a:pPr indent="0" marL="0">
              <a:buNone/>
            </a:pPr>
            <a:r>
              <a:rPr lang="en-US" sz="3200" b="1" dirty="0">
                <a:solidFill>
                  <a:srgbClr val="F5F5F7"/>
                </a:solidFill>
                <a:latin typeface="Arial" pitchFamily="34" charset="0"/>
                <a:ea typeface="Arial" pitchFamily="34" charset="-122"/>
                <a:cs typeface="Arial" pitchFamily="34" charset="-120"/>
              </a:rPr>
              <a:t>₹22,495 crore</a:t>
            </a:r>
            <a:endParaRPr lang="en-US" sz="3200" dirty="0"/>
          </a:p>
        </p:txBody>
      </p:sp>
      <p:sp>
        <p:nvSpPr>
          <p:cNvPr id="6" name="stat 1 label"/>
          <p:cNvSpPr txBox="1"/>
          <p:nvPr/>
        </p:nvSpPr>
        <p:spPr>
          <a:xfrm>
            <a:off x="896112" y="5166360"/>
            <a:ext cx="4572000" cy="365760"/>
          </a:xfrm>
          <a:prstGeom prst="rect">
            <a:avLst/>
          </a:prstGeom>
          <a:noFill/>
          <a:ln/>
        </p:spPr>
        <p:txBody>
          <a:bodyPr wrap="square" lIns="0" tIns="0" rIns="0" bIns="0" rtlCol="0" anchor="t"/>
          <a:lstStyle/>
          <a:p>
            <a:pPr indent="0" marL="0">
              <a:buNone/>
            </a:pPr>
            <a:r>
              <a:rPr lang="en-US" sz="1700" dirty="0">
                <a:solidFill>
                  <a:srgbClr val="A1A1A6"/>
                </a:solidFill>
                <a:latin typeface="Arial" pitchFamily="34" charset="0"/>
                <a:ea typeface="Arial" pitchFamily="34" charset="-122"/>
                <a:cs typeface="Arial" pitchFamily="34" charset="-120"/>
              </a:rPr>
              <a:t>lost in 2025, across 24 lakh complaints</a:t>
            </a:r>
            <a:endParaRPr lang="en-US" sz="1700" dirty="0"/>
          </a:p>
        </p:txBody>
      </p:sp>
      <p:sp>
        <p:nvSpPr>
          <p:cNvPr id="7" name="stat 2 rule"/>
          <p:cNvSpPr/>
          <p:nvPr/>
        </p:nvSpPr>
        <p:spPr>
          <a:xfrm>
            <a:off x="6016752" y="4434840"/>
            <a:ext cx="4572000" cy="0"/>
          </a:xfrm>
          <a:prstGeom prst="line">
            <a:avLst/>
          </a:prstGeom>
          <a:noFill/>
          <a:ln w="9525">
            <a:solidFill>
              <a:srgbClr val="3A3A3E"/>
            </a:solidFill>
            <a:prstDash val="solid"/>
          </a:ln>
        </p:spPr>
      </p:sp>
      <p:sp>
        <p:nvSpPr>
          <p:cNvPr id="8" name="stat 2"/>
          <p:cNvSpPr txBox="1"/>
          <p:nvPr/>
        </p:nvSpPr>
        <p:spPr>
          <a:xfrm>
            <a:off x="6016752" y="4572000"/>
            <a:ext cx="4572000" cy="594360"/>
          </a:xfrm>
          <a:prstGeom prst="rect">
            <a:avLst/>
          </a:prstGeom>
          <a:noFill/>
          <a:ln/>
        </p:spPr>
        <p:txBody>
          <a:bodyPr wrap="square" lIns="0" tIns="0" rIns="0" bIns="0" rtlCol="0" anchor="t"/>
          <a:lstStyle/>
          <a:p>
            <a:pPr indent="0" marL="0">
              <a:buNone/>
            </a:pPr>
            <a:r>
              <a:rPr lang="en-US" sz="3200" b="1" dirty="0">
                <a:solidFill>
                  <a:srgbClr val="F5F5F7"/>
                </a:solidFill>
                <a:latin typeface="Arial" pitchFamily="34" charset="0"/>
                <a:ea typeface="Arial" pitchFamily="34" charset="-122"/>
                <a:cs typeface="Arial" pitchFamily="34" charset="-120"/>
              </a:rPr>
              <a:t>₹4,005 crore</a:t>
            </a:r>
            <a:endParaRPr lang="en-US" sz="3200" dirty="0"/>
          </a:p>
        </p:txBody>
      </p:sp>
      <p:sp>
        <p:nvSpPr>
          <p:cNvPr id="9" name="stat 2 label"/>
          <p:cNvSpPr txBox="1"/>
          <p:nvPr/>
        </p:nvSpPr>
        <p:spPr>
          <a:xfrm>
            <a:off x="6016752" y="5166360"/>
            <a:ext cx="4572000" cy="365760"/>
          </a:xfrm>
          <a:prstGeom prst="rect">
            <a:avLst/>
          </a:prstGeom>
          <a:noFill/>
          <a:ln/>
        </p:spPr>
        <p:txBody>
          <a:bodyPr wrap="square" lIns="0" tIns="0" rIns="0" bIns="0" rtlCol="0" anchor="t"/>
          <a:lstStyle/>
          <a:p>
            <a:pPr indent="0" marL="0">
              <a:buNone/>
            </a:pPr>
            <a:r>
              <a:rPr lang="en-US" sz="1700" dirty="0">
                <a:solidFill>
                  <a:srgbClr val="A1A1A6"/>
                </a:solidFill>
                <a:latin typeface="Arial" pitchFamily="34" charset="0"/>
                <a:ea typeface="Arial" pitchFamily="34" charset="-122"/>
                <a:cs typeface="Arial" pitchFamily="34" charset="-120"/>
              </a:rPr>
              <a:t>of it, from senior citizens</a:t>
            </a:r>
            <a:endParaRPr lang="en-US" sz="1700" dirty="0"/>
          </a:p>
        </p:txBody>
      </p:sp>
      <p:sp>
        <p:nvSpPr>
          <p:cNvPr id="10"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MHA / I4C, Rajya Sabha, Feb 2026; seniors: MHA, Rajya Sabha, 5 Aug 2026. Spread evenly over the year, ₹22,495 crore is about ₹7,133 a second.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822960" y="868680"/>
            <a:ext cx="7315200" cy="310896"/>
          </a:xfrm>
          <a:prstGeom prst="rect">
            <a:avLst/>
          </a:prstGeom>
          <a:noFill/>
          <a:ln/>
        </p:spPr>
        <p:txBody>
          <a:bodyPr wrap="square" lIns="0" tIns="0" rIns="0" bIns="0" rtlCol="0" anchor="t"/>
          <a:lstStyle/>
          <a:p>
            <a:pPr indent="0" marL="0">
              <a:buNone/>
            </a:pPr>
            <a:r>
              <a:rPr lang="en-US" sz="1400" b="1" spc="300" kern="0" dirty="0">
                <a:solidFill>
                  <a:srgbClr val="6FA8FF"/>
                </a:solidFill>
                <a:latin typeface="Arial" pitchFamily="34" charset="0"/>
                <a:ea typeface="Arial" pitchFamily="34" charset="-122"/>
                <a:cs typeface="Arial" pitchFamily="34" charset="-120"/>
              </a:rPr>
              <a:t>INTRODUCING</a:t>
            </a:r>
            <a:endParaRPr lang="en-US" sz="1400" dirty="0"/>
          </a:p>
        </p:txBody>
      </p:sp>
      <p:sp>
        <p:nvSpPr>
          <p:cNvPr id="3" name="name"/>
          <p:cNvSpPr txBox="1"/>
          <p:nvPr/>
        </p:nvSpPr>
        <p:spPr>
          <a:xfrm>
            <a:off x="822960" y="1188720"/>
            <a:ext cx="7772400" cy="1234440"/>
          </a:xfrm>
          <a:prstGeom prst="rect">
            <a:avLst/>
          </a:prstGeom>
          <a:noFill/>
          <a:ln/>
        </p:spPr>
        <p:txBody>
          <a:bodyPr wrap="square" lIns="0" tIns="0" rIns="0" bIns="0" rtlCol="0" anchor="ctr"/>
          <a:lstStyle/>
          <a:p>
            <a:pPr indent="0" marL="0">
              <a:buNone/>
            </a:pPr>
            <a:r>
              <a:rPr lang="en-US" sz="8800" b="1" dirty="0">
                <a:solidFill>
                  <a:srgbClr val="F5F5F7"/>
                </a:solidFill>
                <a:latin typeface="Arial" pitchFamily="34" charset="0"/>
                <a:ea typeface="Arial" pitchFamily="34" charset="-122"/>
                <a:cs typeface="Arial" pitchFamily="34" charset="-120"/>
              </a:rPr>
              <a:t>Sahayak</a:t>
            </a:r>
            <a:pPr indent="0" marL="0">
              <a:buNone/>
            </a:pPr>
            <a:r>
              <a:rPr lang="en-US" sz="4800" b="1" dirty="0">
                <a:solidFill>
                  <a:srgbClr val="6FA8FF"/>
                </a:solidFill>
                <a:latin typeface="Nirmala UI" pitchFamily="34" charset="0"/>
                <a:ea typeface="Nirmala UI" pitchFamily="34" charset="-122"/>
                <a:cs typeface="Nirmala UI" pitchFamily="34" charset="-120"/>
              </a:rPr>
              <a:t>  सहायक</a:t>
            </a:r>
            <a:endParaRPr lang="en-US" sz="8800" dirty="0"/>
          </a:p>
        </p:txBody>
      </p:sp>
      <p:sp>
        <p:nvSpPr>
          <p:cNvPr id="4" name="tagline"/>
          <p:cNvSpPr txBox="1"/>
          <p:nvPr/>
        </p:nvSpPr>
        <p:spPr>
          <a:xfrm>
            <a:off x="822960" y="2514600"/>
            <a:ext cx="7315200" cy="457200"/>
          </a:xfrm>
          <a:prstGeom prst="rect">
            <a:avLst/>
          </a:prstGeom>
          <a:noFill/>
          <a:ln/>
        </p:spPr>
        <p:txBody>
          <a:bodyPr wrap="square" lIns="0" tIns="0" rIns="0" bIns="0" rtlCol="0" anchor="t"/>
          <a:lstStyle/>
          <a:p>
            <a:pPr indent="0" marL="0">
              <a:buNone/>
            </a:pPr>
            <a:r>
              <a:rPr lang="en-US" sz="2400" i="1" dirty="0">
                <a:solidFill>
                  <a:srgbClr val="A1A1A6"/>
                </a:solidFill>
                <a:latin typeface="Arial" pitchFamily="34" charset="0"/>
                <a:ea typeface="Arial" pitchFamily="34" charset="-122"/>
                <a:cs typeface="Arial" pitchFamily="34" charset="-120"/>
              </a:rPr>
              <a:t>Someone to ask, before you tap.</a:t>
            </a:r>
            <a:endParaRPr lang="en-US" sz="2400" dirty="0"/>
          </a:p>
        </p:txBody>
      </p:sp>
      <p:sp>
        <p:nvSpPr>
          <p:cNvPr id="5" name="point 1 rule"/>
          <p:cNvSpPr/>
          <p:nvPr/>
        </p:nvSpPr>
        <p:spPr>
          <a:xfrm>
            <a:off x="822960" y="3246120"/>
            <a:ext cx="6949440" cy="0"/>
          </a:xfrm>
          <a:prstGeom prst="line">
            <a:avLst/>
          </a:prstGeom>
          <a:noFill/>
          <a:ln w="9525">
            <a:solidFill>
              <a:srgbClr val="3A3A3E"/>
            </a:solidFill>
            <a:prstDash val="solid"/>
          </a:ln>
        </p:spPr>
      </p:sp>
      <p:sp>
        <p:nvSpPr>
          <p:cNvPr id="6" name="point 1"/>
          <p:cNvSpPr txBox="1"/>
          <p:nvPr/>
        </p:nvSpPr>
        <p:spPr>
          <a:xfrm>
            <a:off x="822960" y="3346704"/>
            <a:ext cx="6949440" cy="530352"/>
          </a:xfrm>
          <a:prstGeom prst="rect">
            <a:avLst/>
          </a:prstGeom>
          <a:noFill/>
          <a:ln/>
        </p:spPr>
        <p:txBody>
          <a:bodyPr wrap="square" lIns="0" tIns="0" rIns="0" bIns="0" rtlCol="0" anchor="t"/>
          <a:lstStyle/>
          <a:p>
            <a:pPr indent="0" marL="0">
              <a:buNone/>
            </a:pPr>
            <a:r>
              <a:rPr lang="en-US" sz="2600" b="1" dirty="0">
                <a:solidFill>
                  <a:srgbClr val="F5F5F7"/>
                </a:solidFill>
                <a:latin typeface="Arial" pitchFamily="34" charset="0"/>
                <a:ea typeface="Arial" pitchFamily="34" charset="-122"/>
                <a:cs typeface="Arial" pitchFamily="34" charset="-120"/>
              </a:rPr>
              <a:t>Spot a scam before the money moves.</a:t>
            </a:r>
            <a:endParaRPr lang="en-US" sz="2600" dirty="0"/>
          </a:p>
        </p:txBody>
      </p:sp>
      <p:sp>
        <p:nvSpPr>
          <p:cNvPr id="7" name="point 2 rule"/>
          <p:cNvSpPr/>
          <p:nvPr/>
        </p:nvSpPr>
        <p:spPr>
          <a:xfrm>
            <a:off x="822960" y="3904488"/>
            <a:ext cx="6949440" cy="0"/>
          </a:xfrm>
          <a:prstGeom prst="line">
            <a:avLst/>
          </a:prstGeom>
          <a:noFill/>
          <a:ln w="9525">
            <a:solidFill>
              <a:srgbClr val="3A3A3E"/>
            </a:solidFill>
            <a:prstDash val="solid"/>
          </a:ln>
        </p:spPr>
      </p:sp>
      <p:sp>
        <p:nvSpPr>
          <p:cNvPr id="8" name="point 2"/>
          <p:cNvSpPr txBox="1"/>
          <p:nvPr/>
        </p:nvSpPr>
        <p:spPr>
          <a:xfrm>
            <a:off x="822960" y="4005072"/>
            <a:ext cx="6949440" cy="530352"/>
          </a:xfrm>
          <a:prstGeom prst="rect">
            <a:avLst/>
          </a:prstGeom>
          <a:noFill/>
          <a:ln/>
        </p:spPr>
        <p:txBody>
          <a:bodyPr wrap="square" lIns="0" tIns="0" rIns="0" bIns="0" rtlCol="0" anchor="t"/>
          <a:lstStyle/>
          <a:p>
            <a:pPr indent="0" marL="0">
              <a:buNone/>
            </a:pPr>
            <a:r>
              <a:rPr lang="en-US" sz="2600" b="1" dirty="0">
                <a:solidFill>
                  <a:srgbClr val="6FA8FF"/>
                </a:solidFill>
                <a:latin typeface="Arial" pitchFamily="34" charset="0"/>
                <a:ea typeface="Arial" pitchFamily="34" charset="-122"/>
                <a:cs typeface="Arial" pitchFamily="34" charset="-120"/>
              </a:rPr>
              <a:t>Claim what you’re owed.</a:t>
            </a:r>
            <a:endParaRPr lang="en-US" sz="2600" dirty="0"/>
          </a:p>
        </p:txBody>
      </p:sp>
      <p:sp>
        <p:nvSpPr>
          <p:cNvPr id="9" name="pill: CSC counter + your phone"/>
          <p:cNvSpPr/>
          <p:nvPr/>
        </p:nvSpPr>
        <p:spPr>
          <a:xfrm>
            <a:off x="822960" y="4754880"/>
            <a:ext cx="2423160" cy="475488"/>
          </a:xfrm>
          <a:prstGeom prst="roundRect">
            <a:avLst>
              <a:gd name="adj" fmla="val 50000"/>
            </a:avLst>
          </a:prstGeom>
          <a:solidFill>
            <a:srgbClr val="1C1C1E"/>
          </a:solidFill>
          <a:ln w="9525">
            <a:solidFill>
              <a:srgbClr val="2C2C30"/>
            </a:solidFill>
            <a:prstDash val="solid"/>
          </a:ln>
        </p:spPr>
      </p:sp>
      <p:sp>
        <p:nvSpPr>
          <p:cNvPr id="10" name="pill text: CSC counter + your phone"/>
          <p:cNvSpPr txBox="1"/>
          <p:nvPr/>
        </p:nvSpPr>
        <p:spPr>
          <a:xfrm>
            <a:off x="822960" y="4754880"/>
            <a:ext cx="2423160" cy="475488"/>
          </a:xfrm>
          <a:prstGeom prst="rect">
            <a:avLst/>
          </a:prstGeom>
          <a:noFill/>
          <a:ln/>
        </p:spPr>
        <p:txBody>
          <a:bodyPr wrap="square" lIns="0" tIns="0" rIns="0" bIns="0" rtlCol="0" anchor="ctr"/>
          <a:lstStyle/>
          <a:p>
            <a:pPr algn="ctr" indent="0" marL="0">
              <a:buNone/>
            </a:pPr>
            <a:r>
              <a:rPr lang="en-US" sz="1500" dirty="0">
                <a:solidFill>
                  <a:srgbClr val="F5F5F7"/>
                </a:solidFill>
                <a:latin typeface="Arial" pitchFamily="34" charset="0"/>
                <a:ea typeface="Arial" pitchFamily="34" charset="-122"/>
                <a:cs typeface="Arial" pitchFamily="34" charset="-120"/>
              </a:rPr>
              <a:t>CSC counter + your phone</a:t>
            </a:r>
            <a:endParaRPr lang="en-US" sz="1500" dirty="0"/>
          </a:p>
        </p:txBody>
      </p:sp>
      <p:sp>
        <p:nvSpPr>
          <p:cNvPr id="11" name="pill: Works offline"/>
          <p:cNvSpPr/>
          <p:nvPr/>
        </p:nvSpPr>
        <p:spPr>
          <a:xfrm>
            <a:off x="3410712" y="4754880"/>
            <a:ext cx="1508760" cy="475488"/>
          </a:xfrm>
          <a:prstGeom prst="roundRect">
            <a:avLst>
              <a:gd name="adj" fmla="val 50000"/>
            </a:avLst>
          </a:prstGeom>
          <a:solidFill>
            <a:srgbClr val="1C1C1E"/>
          </a:solidFill>
          <a:ln w="9525">
            <a:solidFill>
              <a:srgbClr val="2C2C30"/>
            </a:solidFill>
            <a:prstDash val="solid"/>
          </a:ln>
        </p:spPr>
      </p:sp>
      <p:sp>
        <p:nvSpPr>
          <p:cNvPr id="12" name="pill text: Works offline"/>
          <p:cNvSpPr txBox="1"/>
          <p:nvPr/>
        </p:nvSpPr>
        <p:spPr>
          <a:xfrm>
            <a:off x="3410712" y="4754880"/>
            <a:ext cx="1508760" cy="475488"/>
          </a:xfrm>
          <a:prstGeom prst="rect">
            <a:avLst/>
          </a:prstGeom>
          <a:noFill/>
          <a:ln/>
        </p:spPr>
        <p:txBody>
          <a:bodyPr wrap="square" lIns="0" tIns="0" rIns="0" bIns="0" rtlCol="0" anchor="ctr"/>
          <a:lstStyle/>
          <a:p>
            <a:pPr algn="ctr" indent="0" marL="0">
              <a:buNone/>
            </a:pPr>
            <a:r>
              <a:rPr lang="en-US" sz="1500" dirty="0">
                <a:solidFill>
                  <a:srgbClr val="F5F5F7"/>
                </a:solidFill>
                <a:latin typeface="Arial" pitchFamily="34" charset="0"/>
                <a:ea typeface="Arial" pitchFamily="34" charset="-122"/>
                <a:cs typeface="Arial" pitchFamily="34" charset="-120"/>
              </a:rPr>
              <a:t>Works offline</a:t>
            </a:r>
            <a:endParaRPr lang="en-US" sz="1500" dirty="0"/>
          </a:p>
        </p:txBody>
      </p:sp>
      <p:sp>
        <p:nvSpPr>
          <p:cNvPr id="13" name="pill: English · Hindi · regional next"/>
          <p:cNvSpPr/>
          <p:nvPr/>
        </p:nvSpPr>
        <p:spPr>
          <a:xfrm>
            <a:off x="5084064" y="4754880"/>
            <a:ext cx="2971800" cy="475488"/>
          </a:xfrm>
          <a:prstGeom prst="roundRect">
            <a:avLst>
              <a:gd name="adj" fmla="val 50000"/>
            </a:avLst>
          </a:prstGeom>
          <a:solidFill>
            <a:srgbClr val="1C1C1E"/>
          </a:solidFill>
          <a:ln w="9525">
            <a:solidFill>
              <a:srgbClr val="2C2C30"/>
            </a:solidFill>
            <a:prstDash val="solid"/>
          </a:ln>
        </p:spPr>
      </p:sp>
      <p:sp>
        <p:nvSpPr>
          <p:cNvPr id="14" name="pill text: English · Hindi · regional next"/>
          <p:cNvSpPr txBox="1"/>
          <p:nvPr/>
        </p:nvSpPr>
        <p:spPr>
          <a:xfrm>
            <a:off x="5084064" y="4754880"/>
            <a:ext cx="2971800" cy="475488"/>
          </a:xfrm>
          <a:prstGeom prst="rect">
            <a:avLst/>
          </a:prstGeom>
          <a:noFill/>
          <a:ln/>
        </p:spPr>
        <p:txBody>
          <a:bodyPr wrap="square" lIns="0" tIns="0" rIns="0" bIns="0" rtlCol="0" anchor="ctr"/>
          <a:lstStyle/>
          <a:p>
            <a:pPr algn="ctr" indent="0" marL="0">
              <a:buNone/>
            </a:pPr>
            <a:r>
              <a:rPr lang="en-US" sz="1500" dirty="0">
                <a:solidFill>
                  <a:srgbClr val="F5F5F7"/>
                </a:solidFill>
                <a:latin typeface="Arial" pitchFamily="34" charset="0"/>
                <a:ea typeface="Arial" pitchFamily="34" charset="-122"/>
                <a:cs typeface="Arial" pitchFamily="34" charset="-120"/>
              </a:rPr>
              <a:t>English · Hindi · regional next</a:t>
            </a:r>
            <a:endParaRPr lang="en-US" sz="1500" dirty="0"/>
          </a:p>
        </p:txBody>
      </p:sp>
      <p:sp>
        <p:nvSpPr>
          <p:cNvPr id="15" name="team"/>
          <p:cNvSpPr txBox="1"/>
          <p:nvPr/>
        </p:nvSpPr>
        <p:spPr>
          <a:xfrm>
            <a:off x="822960" y="6080760"/>
            <a:ext cx="6400800" cy="320040"/>
          </a:xfrm>
          <a:prstGeom prst="rect">
            <a:avLst/>
          </a:prstGeom>
          <a:noFill/>
          <a:ln/>
        </p:spPr>
        <p:txBody>
          <a:bodyPr wrap="square" lIns="0" tIns="0" rIns="0" bIns="0" rtlCol="0" anchor="t"/>
          <a:lstStyle/>
          <a:p>
            <a:pPr indent="0" marL="0">
              <a:buNone/>
            </a:pPr>
            <a:r>
              <a:rPr lang="en-US" sz="1500" dirty="0">
                <a:solidFill>
                  <a:srgbClr val="6E6E73"/>
                </a:solidFill>
                <a:latin typeface="Arial" pitchFamily="34" charset="0"/>
                <a:ea typeface="Arial" pitchFamily="34" charset="-122"/>
                <a:cs typeface="Arial" pitchFamily="34" charset="-120"/>
              </a:rPr>
              <a:t>Ishmiit Singh  ·  Roshan Raj</a:t>
            </a:r>
            <a:endParaRPr lang="en-US" sz="1500" dirty="0"/>
          </a:p>
        </p:txBody>
      </p:sp>
      <p:pic>
        <p:nvPicPr>
          <p:cNvPr id="16" name="Sahayak home screen" descr="Screenshot: Sahayak home screen">    </p:cNvPr>
          <p:cNvPicPr>
            <a:picLocks noChangeAspect="1"/>
          </p:cNvPicPr>
          <p:nvPr/>
        </p:nvPicPr>
        <p:blipFill>
          <a:blip r:embed="rId1"/>
          <a:stretch>
            <a:fillRect/>
          </a:stretch>
        </p:blipFill>
        <p:spPr>
          <a:xfrm>
            <a:off x="8686800" y="594360"/>
            <a:ext cx="2715748" cy="5669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ahayak's answer to the KYC SMS" descr="Screenshot: Sahayak's answer to the KYC SMS">    </p:cNvPr>
          <p:cNvPicPr>
            <a:picLocks noChangeAspect="1"/>
          </p:cNvPicPr>
          <p:nvPr/>
        </p:nvPicPr>
        <p:blipFill>
          <a:blip r:embed="rId1"/>
          <a:stretch>
            <a:fillRect/>
          </a:stretch>
        </p:blipFill>
        <p:spPr>
          <a:xfrm>
            <a:off x="914400" y="594360"/>
            <a:ext cx="2715748" cy="5669280"/>
          </a:xfrm>
          <a:prstGeom prst="rect">
            <a:avLst/>
          </a:prstGeom>
        </p:spPr>
      </p:pic>
      <p:sp>
        <p:nvSpPr>
          <p:cNvPr id="3" name="eyebrow"/>
          <p:cNvSpPr txBox="1"/>
          <p:nvPr/>
        </p:nvSpPr>
        <p:spPr>
          <a:xfrm>
            <a:off x="4526280" y="777240"/>
            <a:ext cx="7315200" cy="310896"/>
          </a:xfrm>
          <a:prstGeom prst="rect">
            <a:avLst/>
          </a:prstGeom>
          <a:noFill/>
          <a:ln/>
        </p:spPr>
        <p:txBody>
          <a:bodyPr wrap="square" lIns="0" tIns="0" rIns="0" bIns="0" rtlCol="0" anchor="t"/>
          <a:lstStyle/>
          <a:p>
            <a:pPr indent="0" marL="0">
              <a:buNone/>
            </a:pPr>
            <a:r>
              <a:rPr lang="en-US" sz="1400" b="1" spc="300" kern="0" dirty="0">
                <a:solidFill>
                  <a:srgbClr val="6FA8FF"/>
                </a:solidFill>
                <a:latin typeface="Arial" pitchFamily="34" charset="0"/>
                <a:ea typeface="Arial" pitchFamily="34" charset="-122"/>
                <a:cs typeface="Arial" pitchFamily="34" charset="-120"/>
              </a:rPr>
              <a:t>BACK TO HER MESSAGE</a:t>
            </a:r>
            <a:endParaRPr lang="en-US" sz="1400" dirty="0"/>
          </a:p>
        </p:txBody>
      </p:sp>
      <p:sp>
        <p:nvSpPr>
          <p:cNvPr id="4" name="verdict"/>
          <p:cNvSpPr txBox="1"/>
          <p:nvPr/>
        </p:nvSpPr>
        <p:spPr>
          <a:xfrm>
            <a:off x="4526280" y="1097280"/>
            <a:ext cx="6858000" cy="960120"/>
          </a:xfrm>
          <a:prstGeom prst="rect">
            <a:avLst/>
          </a:prstGeom>
          <a:noFill/>
          <a:ln/>
        </p:spPr>
        <p:txBody>
          <a:bodyPr wrap="square" lIns="0" tIns="0" rIns="0" bIns="0" rtlCol="0" anchor="ctr"/>
          <a:lstStyle/>
          <a:p>
            <a:pPr indent="0" marL="0">
              <a:buNone/>
            </a:pPr>
            <a:r>
              <a:rPr lang="en-US" sz="7000" b="1" dirty="0">
                <a:solidFill>
                  <a:srgbClr val="FF5A52"/>
                </a:solidFill>
                <a:latin typeface="Arial" pitchFamily="34" charset="0"/>
                <a:ea typeface="Arial" pitchFamily="34" charset="-122"/>
                <a:cs typeface="Arial" pitchFamily="34" charset="-120"/>
              </a:rPr>
              <a:t>Scam.</a:t>
            </a:r>
            <a:endParaRPr lang="en-US" sz="7000" dirty="0"/>
          </a:p>
        </p:txBody>
      </p:sp>
      <p:sp>
        <p:nvSpPr>
          <p:cNvPr id="5" name="eyebrow"/>
          <p:cNvSpPr txBox="1"/>
          <p:nvPr/>
        </p:nvSpPr>
        <p:spPr>
          <a:xfrm>
            <a:off x="4526280" y="2286000"/>
            <a:ext cx="7315200" cy="310896"/>
          </a:xfrm>
          <a:prstGeom prst="rect">
            <a:avLst/>
          </a:prstGeom>
          <a:noFill/>
          <a:ln/>
        </p:spPr>
        <p:txBody>
          <a:bodyPr wrap="square" lIns="0" tIns="0" rIns="0" bIns="0" rtlCol="0" anchor="t"/>
          <a:lstStyle/>
          <a:p>
            <a:pPr indent="0" marL="0">
              <a:buNone/>
            </a:pPr>
            <a:r>
              <a:rPr lang="en-US" sz="1400" b="1" spc="300" kern="0" dirty="0">
                <a:solidFill>
                  <a:srgbClr val="6E6E73"/>
                </a:solidFill>
                <a:latin typeface="Arial" pitchFamily="34" charset="0"/>
                <a:ea typeface="Arial" pitchFamily="34" charset="-122"/>
                <a:cs typeface="Arial" pitchFamily="34" charset="-120"/>
              </a:rPr>
              <a:t>WHY</a:t>
            </a:r>
            <a:endParaRPr lang="en-US" sz="1400" dirty="0"/>
          </a:p>
        </p:txBody>
      </p:sp>
      <p:sp>
        <p:nvSpPr>
          <p:cNvPr id="6" name="point 1 rule"/>
          <p:cNvSpPr/>
          <p:nvPr/>
        </p:nvSpPr>
        <p:spPr>
          <a:xfrm>
            <a:off x="4526280" y="2606040"/>
            <a:ext cx="6858000" cy="0"/>
          </a:xfrm>
          <a:prstGeom prst="line">
            <a:avLst/>
          </a:prstGeom>
          <a:noFill/>
          <a:ln w="9525">
            <a:solidFill>
              <a:srgbClr val="3A3A3E"/>
            </a:solidFill>
            <a:prstDash val="solid"/>
          </a:ln>
        </p:spPr>
      </p:sp>
      <p:sp>
        <p:nvSpPr>
          <p:cNvPr id="7" name="point 1"/>
          <p:cNvSpPr txBox="1"/>
          <p:nvPr/>
        </p:nvSpPr>
        <p:spPr>
          <a:xfrm>
            <a:off x="4526280" y="2706624"/>
            <a:ext cx="6858000" cy="374904"/>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Personal number</a:t>
            </a:r>
            <a:endParaRPr lang="en-US" sz="2100" dirty="0"/>
          </a:p>
        </p:txBody>
      </p:sp>
      <p:sp>
        <p:nvSpPr>
          <p:cNvPr id="8" name="point 2 rule"/>
          <p:cNvSpPr/>
          <p:nvPr/>
        </p:nvSpPr>
        <p:spPr>
          <a:xfrm>
            <a:off x="4526280" y="3108960"/>
            <a:ext cx="6858000" cy="0"/>
          </a:xfrm>
          <a:prstGeom prst="line">
            <a:avLst/>
          </a:prstGeom>
          <a:noFill/>
          <a:ln w="9525">
            <a:solidFill>
              <a:srgbClr val="3A3A3E"/>
            </a:solidFill>
            <a:prstDash val="solid"/>
          </a:ln>
        </p:spPr>
      </p:sp>
      <p:sp>
        <p:nvSpPr>
          <p:cNvPr id="9" name="point 2"/>
          <p:cNvSpPr txBox="1"/>
          <p:nvPr/>
        </p:nvSpPr>
        <p:spPr>
          <a:xfrm>
            <a:off x="4526280" y="3209544"/>
            <a:ext cx="6858000" cy="374904"/>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Fake SBI link</a:t>
            </a:r>
            <a:endParaRPr lang="en-US" sz="2100" dirty="0"/>
          </a:p>
        </p:txBody>
      </p:sp>
      <p:sp>
        <p:nvSpPr>
          <p:cNvPr id="10" name="point 3 rule"/>
          <p:cNvSpPr/>
          <p:nvPr/>
        </p:nvSpPr>
        <p:spPr>
          <a:xfrm>
            <a:off x="4526280" y="3611880"/>
            <a:ext cx="6858000" cy="0"/>
          </a:xfrm>
          <a:prstGeom prst="line">
            <a:avLst/>
          </a:prstGeom>
          <a:noFill/>
          <a:ln w="9525">
            <a:solidFill>
              <a:srgbClr val="3A3A3E"/>
            </a:solidFill>
            <a:prstDash val="solid"/>
          </a:ln>
        </p:spPr>
      </p:sp>
      <p:sp>
        <p:nvSpPr>
          <p:cNvPr id="11" name="point 3"/>
          <p:cNvSpPr txBox="1"/>
          <p:nvPr/>
        </p:nvSpPr>
        <p:spPr>
          <a:xfrm>
            <a:off x="4526280" y="3712464"/>
            <a:ext cx="6858000" cy="374904"/>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KYC never by link</a:t>
            </a:r>
            <a:endParaRPr lang="en-US" sz="2100" dirty="0"/>
          </a:p>
        </p:txBody>
      </p:sp>
      <p:sp>
        <p:nvSpPr>
          <p:cNvPr id="12" name="eyebrow"/>
          <p:cNvSpPr txBox="1"/>
          <p:nvPr/>
        </p:nvSpPr>
        <p:spPr>
          <a:xfrm>
            <a:off x="4526280" y="4251960"/>
            <a:ext cx="7315200" cy="310896"/>
          </a:xfrm>
          <a:prstGeom prst="rect">
            <a:avLst/>
          </a:prstGeom>
          <a:noFill/>
          <a:ln/>
        </p:spPr>
        <p:txBody>
          <a:bodyPr wrap="square" lIns="0" tIns="0" rIns="0" bIns="0" rtlCol="0" anchor="t"/>
          <a:lstStyle/>
          <a:p>
            <a:pPr indent="0" marL="0">
              <a:buNone/>
            </a:pPr>
            <a:r>
              <a:rPr lang="en-US" sz="1400" b="1" spc="300" kern="0" dirty="0">
                <a:solidFill>
                  <a:srgbClr val="6E6E73"/>
                </a:solidFill>
                <a:latin typeface="Arial" pitchFamily="34" charset="0"/>
                <a:ea typeface="Arial" pitchFamily="34" charset="-122"/>
                <a:cs typeface="Arial" pitchFamily="34" charset="-120"/>
              </a:rPr>
              <a:t>WHAT TO DO</a:t>
            </a:r>
            <a:endParaRPr lang="en-US" sz="1400" dirty="0"/>
          </a:p>
        </p:txBody>
      </p:sp>
      <p:sp>
        <p:nvSpPr>
          <p:cNvPr id="13" name="point 1 rule"/>
          <p:cNvSpPr/>
          <p:nvPr/>
        </p:nvSpPr>
        <p:spPr>
          <a:xfrm>
            <a:off x="4526280" y="4572000"/>
            <a:ext cx="6858000" cy="0"/>
          </a:xfrm>
          <a:prstGeom prst="line">
            <a:avLst/>
          </a:prstGeom>
          <a:noFill/>
          <a:ln w="9525">
            <a:solidFill>
              <a:srgbClr val="3A3A3E"/>
            </a:solidFill>
            <a:prstDash val="solid"/>
          </a:ln>
        </p:spPr>
      </p:sp>
      <p:sp>
        <p:nvSpPr>
          <p:cNvPr id="14" name="point 1"/>
          <p:cNvSpPr txBox="1"/>
          <p:nvPr/>
        </p:nvSpPr>
        <p:spPr>
          <a:xfrm>
            <a:off x="4526280" y="4672584"/>
            <a:ext cx="6858000" cy="374904"/>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Don’t tap · keep the proof</a:t>
            </a:r>
            <a:endParaRPr lang="en-US" sz="2100" dirty="0"/>
          </a:p>
        </p:txBody>
      </p:sp>
      <p:sp>
        <p:nvSpPr>
          <p:cNvPr id="15" name="point 2 rule"/>
          <p:cNvSpPr/>
          <p:nvPr/>
        </p:nvSpPr>
        <p:spPr>
          <a:xfrm>
            <a:off x="4526280" y="5074920"/>
            <a:ext cx="6858000" cy="0"/>
          </a:xfrm>
          <a:prstGeom prst="line">
            <a:avLst/>
          </a:prstGeom>
          <a:noFill/>
          <a:ln w="9525">
            <a:solidFill>
              <a:srgbClr val="3A3A3E"/>
            </a:solidFill>
            <a:prstDash val="solid"/>
          </a:ln>
        </p:spPr>
      </p:sp>
      <p:sp>
        <p:nvSpPr>
          <p:cNvPr id="16" name="point 2"/>
          <p:cNvSpPr txBox="1"/>
          <p:nvPr/>
        </p:nvSpPr>
        <p:spPr>
          <a:xfrm>
            <a:off x="4526280" y="5175504"/>
            <a:ext cx="6858000" cy="374904"/>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Money gone? 1930</a:t>
            </a:r>
            <a:endParaRPr lang="en-US" sz="2100" dirty="0"/>
          </a:p>
        </p:txBody>
      </p:sp>
      <p:sp>
        <p:nvSpPr>
          <p:cNvPr id="17" name="point 3 rule"/>
          <p:cNvSpPr/>
          <p:nvPr/>
        </p:nvSpPr>
        <p:spPr>
          <a:xfrm>
            <a:off x="4526280" y="5577840"/>
            <a:ext cx="6858000" cy="0"/>
          </a:xfrm>
          <a:prstGeom prst="line">
            <a:avLst/>
          </a:prstGeom>
          <a:noFill/>
          <a:ln w="9525">
            <a:solidFill>
              <a:srgbClr val="3A3A3E"/>
            </a:solidFill>
            <a:prstDash val="solid"/>
          </a:ln>
        </p:spPr>
      </p:sp>
      <p:sp>
        <p:nvSpPr>
          <p:cNvPr id="18" name="point 3"/>
          <p:cNvSpPr txBox="1"/>
          <p:nvPr/>
        </p:nvSpPr>
        <p:spPr>
          <a:xfrm>
            <a:off x="4526280" y="5678424"/>
            <a:ext cx="6858000" cy="374904"/>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Warn the family</a:t>
            </a:r>
            <a:endParaRPr lang="en-US" sz="2100" dirty="0"/>
          </a:p>
        </p:txBody>
      </p:sp>
      <p:sp>
        <p:nvSpPr>
          <p:cNvPr id="19"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Demo persona and SMS written by the team · the app’s answer, on a phone, 14 Oct 2026</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822960" y="777240"/>
            <a:ext cx="7315200" cy="310896"/>
          </a:xfrm>
          <a:prstGeom prst="rect">
            <a:avLst/>
          </a:prstGeom>
          <a:noFill/>
          <a:ln/>
        </p:spPr>
        <p:txBody>
          <a:bodyPr wrap="square" lIns="0" tIns="0" rIns="0" bIns="0" rtlCol="0" anchor="t"/>
          <a:lstStyle/>
          <a:p>
            <a:pPr indent="0" marL="0">
              <a:buNone/>
            </a:pPr>
            <a:r>
              <a:rPr lang="en-US" sz="1400" b="1" spc="300" kern="0" dirty="0">
                <a:solidFill>
                  <a:srgbClr val="E2C28A"/>
                </a:solidFill>
                <a:latin typeface="Arial" pitchFamily="34" charset="0"/>
                <a:ea typeface="Arial" pitchFamily="34" charset="-122"/>
                <a:cs typeface="Arial" pitchFamily="34" charset="-120"/>
              </a:rPr>
              <a:t>WHAT SHE’S OWED</a:t>
            </a:r>
            <a:endParaRPr lang="en-US" sz="1400" dirty="0"/>
          </a:p>
        </p:txBody>
      </p:sp>
      <p:sp>
        <p:nvSpPr>
          <p:cNvPr id="3" name="cover"/>
          <p:cNvSpPr txBox="1"/>
          <p:nvPr/>
        </p:nvSpPr>
        <p:spPr>
          <a:xfrm>
            <a:off x="822960" y="1097280"/>
            <a:ext cx="7132320" cy="1325880"/>
          </a:xfrm>
          <a:prstGeom prst="rect">
            <a:avLst/>
          </a:prstGeom>
          <a:noFill/>
          <a:ln/>
        </p:spPr>
        <p:txBody>
          <a:bodyPr wrap="square" lIns="0" tIns="0" rIns="0" bIns="0" rtlCol="0" anchor="ctr"/>
          <a:lstStyle/>
          <a:p>
            <a:pPr indent="0" marL="0">
              <a:buNone/>
            </a:pPr>
            <a:r>
              <a:rPr lang="en-US" sz="10000" b="1" dirty="0">
                <a:solidFill>
                  <a:srgbClr val="6FA8FF"/>
                </a:solidFill>
                <a:latin typeface="Arial" pitchFamily="34" charset="0"/>
                <a:ea typeface="Arial" pitchFamily="34" charset="-122"/>
                <a:cs typeface="Arial" pitchFamily="34" charset="-120"/>
              </a:rPr>
              <a:t>₹5 lakh</a:t>
            </a:r>
            <a:endParaRPr lang="en-US" sz="10000" dirty="0"/>
          </a:p>
        </p:txBody>
      </p:sp>
      <p:sp>
        <p:nvSpPr>
          <p:cNvPr id="4" name="what it is"/>
          <p:cNvSpPr txBox="1"/>
          <p:nvPr/>
        </p:nvSpPr>
        <p:spPr>
          <a:xfrm>
            <a:off x="822960" y="2514600"/>
            <a:ext cx="7132320" cy="502920"/>
          </a:xfrm>
          <a:prstGeom prst="rect">
            <a:avLst/>
          </a:prstGeom>
          <a:noFill/>
          <a:ln/>
        </p:spPr>
        <p:txBody>
          <a:bodyPr wrap="square" lIns="0" tIns="0" rIns="0" bIns="0" rtlCol="0" anchor="t"/>
          <a:lstStyle/>
          <a:p>
            <a:pPr indent="0" marL="0">
              <a:buNone/>
            </a:pPr>
            <a:r>
              <a:rPr lang="en-US" sz="2800" b="1" dirty="0">
                <a:solidFill>
                  <a:srgbClr val="F5F5F7"/>
                </a:solidFill>
                <a:latin typeface="Arial" pitchFamily="34" charset="0"/>
                <a:ea typeface="Arial" pitchFamily="34" charset="-122"/>
                <a:cs typeface="Arial" pitchFamily="34" charset="-120"/>
              </a:rPr>
              <a:t>of free hospital care, every year.</a:t>
            </a:r>
            <a:endParaRPr lang="en-US" sz="2800" dirty="0"/>
          </a:p>
        </p:txBody>
      </p:sp>
      <p:sp>
        <p:nvSpPr>
          <p:cNvPr id="5" name="point 1 rule"/>
          <p:cNvSpPr/>
          <p:nvPr/>
        </p:nvSpPr>
        <p:spPr>
          <a:xfrm>
            <a:off x="822960" y="3337560"/>
            <a:ext cx="6949440" cy="0"/>
          </a:xfrm>
          <a:prstGeom prst="line">
            <a:avLst/>
          </a:prstGeom>
          <a:noFill/>
          <a:ln w="9525">
            <a:solidFill>
              <a:srgbClr val="3A3A3E"/>
            </a:solidFill>
            <a:prstDash val="solid"/>
          </a:ln>
        </p:spPr>
      </p:sp>
      <p:sp>
        <p:nvSpPr>
          <p:cNvPr id="6" name="point 1"/>
          <p:cNvSpPr txBox="1"/>
          <p:nvPr/>
        </p:nvSpPr>
        <p:spPr>
          <a:xfrm>
            <a:off x="822960" y="3438144"/>
            <a:ext cx="6949440" cy="438912"/>
          </a:xfrm>
          <a:prstGeom prst="rect">
            <a:avLst/>
          </a:prstGeom>
          <a:noFill/>
          <a:ln/>
        </p:spPr>
        <p:txBody>
          <a:bodyPr wrap="square" lIns="0" tIns="0" rIns="0" bIns="0" rtlCol="0" anchor="t"/>
          <a:lstStyle/>
          <a:p>
            <a:pPr indent="0" marL="0">
              <a:buNone/>
            </a:pPr>
            <a:r>
              <a:rPr lang="en-US" sz="2000" b="1" dirty="0">
                <a:solidFill>
                  <a:srgbClr val="F5F5F7"/>
                </a:solidFill>
                <a:latin typeface="Arial" pitchFamily="34" charset="0"/>
                <a:ea typeface="Arial" pitchFamily="34" charset="-122"/>
                <a:cs typeface="Arial" pitchFamily="34" charset="-120"/>
              </a:rPr>
              <a:t>Vay Vandana card</a:t>
            </a:r>
            <a:pPr indent="0" marL="0">
              <a:buNone/>
            </a:pPr>
            <a:r>
              <a:rPr lang="en-US" sz="2000" dirty="0">
                <a:solidFill>
                  <a:srgbClr val="A1A1A6"/>
                </a:solidFill>
                <a:latin typeface="Arial" pitchFamily="34" charset="0"/>
                <a:ea typeface="Arial" pitchFamily="34" charset="-122"/>
                <a:cs typeface="Arial" pitchFamily="34" charset="-120"/>
              </a:rPr>
              <a:t> · every Indian 70+</a:t>
            </a:r>
            <a:endParaRPr lang="en-US" sz="2000" dirty="0"/>
          </a:p>
        </p:txBody>
      </p:sp>
      <p:sp>
        <p:nvSpPr>
          <p:cNvPr id="7" name="point 2 rule"/>
          <p:cNvSpPr/>
          <p:nvPr/>
        </p:nvSpPr>
        <p:spPr>
          <a:xfrm>
            <a:off x="822960" y="3904488"/>
            <a:ext cx="6949440" cy="0"/>
          </a:xfrm>
          <a:prstGeom prst="line">
            <a:avLst/>
          </a:prstGeom>
          <a:noFill/>
          <a:ln w="9525">
            <a:solidFill>
              <a:srgbClr val="3A3A3E"/>
            </a:solidFill>
            <a:prstDash val="solid"/>
          </a:ln>
        </p:spPr>
      </p:sp>
      <p:sp>
        <p:nvSpPr>
          <p:cNvPr id="8" name="point 2"/>
          <p:cNvSpPr txBox="1"/>
          <p:nvPr/>
        </p:nvSpPr>
        <p:spPr>
          <a:xfrm>
            <a:off x="822960" y="4005072"/>
            <a:ext cx="6949440" cy="438912"/>
          </a:xfrm>
          <a:prstGeom prst="rect">
            <a:avLst/>
          </a:prstGeom>
          <a:noFill/>
          <a:ln/>
        </p:spPr>
        <p:txBody>
          <a:bodyPr wrap="square" lIns="0" tIns="0" rIns="0" bIns="0" rtlCol="0" anchor="t"/>
          <a:lstStyle/>
          <a:p>
            <a:pPr indent="0" marL="0">
              <a:buNone/>
            </a:pPr>
            <a:r>
              <a:rPr lang="en-US" sz="2000" b="1" dirty="0">
                <a:solidFill>
                  <a:srgbClr val="E2C28A"/>
                </a:solidFill>
                <a:latin typeface="Arial" pitchFamily="34" charset="0"/>
                <a:ea typeface="Arial" pitchFamily="34" charset="-122"/>
                <a:cs typeface="Arial" pitchFamily="34" charset="-120"/>
              </a:rPr>
              <a:t>Fewer than 1 in 5</a:t>
            </a:r>
            <a:pPr indent="0" marL="0">
              <a:buNone/>
            </a:pPr>
            <a:r>
              <a:rPr lang="en-US" sz="2000" dirty="0">
                <a:solidFill>
                  <a:srgbClr val="A1A1A6"/>
                </a:solidFill>
                <a:latin typeface="Arial" pitchFamily="34" charset="0"/>
                <a:ea typeface="Arial" pitchFamily="34" charset="-122"/>
                <a:cs typeface="Arial" pitchFamily="34" charset="-120"/>
              </a:rPr>
              <a:t> · had it by Feb 2026</a:t>
            </a:r>
            <a:endParaRPr lang="en-US" sz="2000" dirty="0"/>
          </a:p>
        </p:txBody>
      </p:sp>
      <p:sp>
        <p:nvSpPr>
          <p:cNvPr id="9" name="point 3 rule"/>
          <p:cNvSpPr/>
          <p:nvPr/>
        </p:nvSpPr>
        <p:spPr>
          <a:xfrm>
            <a:off x="822960" y="4471416"/>
            <a:ext cx="6949440" cy="0"/>
          </a:xfrm>
          <a:prstGeom prst="line">
            <a:avLst/>
          </a:prstGeom>
          <a:noFill/>
          <a:ln w="9525">
            <a:solidFill>
              <a:srgbClr val="3A3A3E"/>
            </a:solidFill>
            <a:prstDash val="solid"/>
          </a:ln>
        </p:spPr>
      </p:sp>
      <p:sp>
        <p:nvSpPr>
          <p:cNvPr id="10" name="point 3"/>
          <p:cNvSpPr txBox="1"/>
          <p:nvPr/>
        </p:nvSpPr>
        <p:spPr>
          <a:xfrm>
            <a:off x="822960" y="4572000"/>
            <a:ext cx="6949440" cy="438912"/>
          </a:xfrm>
          <a:prstGeom prst="rect">
            <a:avLst/>
          </a:prstGeom>
          <a:noFill/>
          <a:ln/>
        </p:spPr>
        <p:txBody>
          <a:bodyPr wrap="square" lIns="0" tIns="0" rIns="0" bIns="0" rtlCol="0" anchor="t"/>
          <a:lstStyle/>
          <a:p>
            <a:pPr indent="0" marL="0">
              <a:buNone/>
            </a:pPr>
            <a:r>
              <a:rPr lang="en-US" sz="2000" b="1" dirty="0">
                <a:solidFill>
                  <a:srgbClr val="F5F5F7"/>
                </a:solidFill>
                <a:latin typeface="Arial" pitchFamily="34" charset="0"/>
                <a:ea typeface="Arial" pitchFamily="34" charset="-122"/>
                <a:cs typeface="Arial" pitchFamily="34" charset="-120"/>
              </a:rPr>
              <a:t>5 questions</a:t>
            </a:r>
            <a:pPr indent="0" marL="0">
              <a:buNone/>
            </a:pPr>
            <a:r>
              <a:rPr lang="en-US" sz="2000" dirty="0">
                <a:solidFill>
                  <a:srgbClr val="A1A1A6"/>
                </a:solidFill>
                <a:latin typeface="Arial" pitchFamily="34" charset="0"/>
                <a:ea typeface="Arial" pitchFamily="34" charset="-122"/>
                <a:cs typeface="Arial" pitchFamily="34" charset="-120"/>
              </a:rPr>
              <a:t> · the words to say</a:t>
            </a:r>
            <a:endParaRPr lang="en-US" sz="2000" dirty="0"/>
          </a:p>
        </p:txBody>
      </p:sp>
      <p:sp>
        <p:nvSpPr>
          <p:cNvPr id="11" name="both"/>
          <p:cNvSpPr txBox="1"/>
          <p:nvPr/>
        </p:nvSpPr>
        <p:spPr>
          <a:xfrm>
            <a:off x="822960" y="5257800"/>
            <a:ext cx="7132320" cy="457200"/>
          </a:xfrm>
          <a:prstGeom prst="rect">
            <a:avLst/>
          </a:prstGeom>
          <a:noFill/>
          <a:ln/>
        </p:spPr>
        <p:txBody>
          <a:bodyPr wrap="square" lIns="0" tIns="0" rIns="0" bIns="0" rtlCol="0" anchor="t"/>
          <a:lstStyle/>
          <a:p>
            <a:pPr indent="0" marL="0">
              <a:buNone/>
            </a:pPr>
            <a:r>
              <a:rPr lang="en-US" sz="2400" b="1" dirty="0">
                <a:solidFill>
                  <a:srgbClr val="F5F5F7"/>
                </a:solidFill>
                <a:latin typeface="Arial" pitchFamily="34" charset="0"/>
                <a:ea typeface="Arial" pitchFamily="34" charset="-122"/>
                <a:cs typeface="Arial" pitchFamily="34" charset="-120"/>
              </a:rPr>
              <a:t>Stop the scam. </a:t>
            </a:r>
            <a:pPr indent="0" marL="0">
              <a:buNone/>
            </a:pPr>
            <a:r>
              <a:rPr lang="en-US" sz="2400" b="1" dirty="0">
                <a:solidFill>
                  <a:srgbClr val="6FA8FF"/>
                </a:solidFill>
                <a:latin typeface="Arial" pitchFamily="34" charset="0"/>
                <a:ea typeface="Arial" pitchFamily="34" charset="-122"/>
                <a:cs typeface="Arial" pitchFamily="34" charset="-120"/>
              </a:rPr>
              <a:t>Claim what you’re owed.</a:t>
            </a:r>
            <a:endParaRPr lang="en-US" sz="2400" dirty="0"/>
          </a:p>
        </p:txBody>
      </p:sp>
      <p:sp>
        <p:nvSpPr>
          <p:cNvPr id="12"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1.1 of ~6 crore aged 70+ had the card (MoHFW, Feb 2026) · shared with a spouse also 70+; hospital care only · screenshot: result for a 74-year-old</a:t>
            </a:r>
            <a:endParaRPr lang="en-US" sz="1050" dirty="0"/>
          </a:p>
        </p:txBody>
      </p:sp>
      <p:pic>
        <p:nvPicPr>
          <p:cNvPr id="13" name="Sahayak's benefits result for a 74-year-old" descr="Screenshot: Sahayak's benefits result for a 74-year-old">    </p:cNvPr>
          <p:cNvPicPr>
            <a:picLocks noChangeAspect="1"/>
          </p:cNvPicPr>
          <p:nvPr/>
        </p:nvPicPr>
        <p:blipFill>
          <a:blip r:embed="rId1"/>
          <a:stretch>
            <a:fillRect/>
          </a:stretch>
        </p:blipFill>
        <p:spPr>
          <a:xfrm>
            <a:off x="8686800" y="594360"/>
            <a:ext cx="2715748" cy="5669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QR card"/>
          <p:cNvSpPr/>
          <p:nvPr/>
        </p:nvSpPr>
        <p:spPr>
          <a:xfrm>
            <a:off x="914400" y="1143000"/>
            <a:ext cx="4343400" cy="4343400"/>
          </a:xfrm>
          <a:prstGeom prst="roundRect">
            <a:avLst>
              <a:gd name="adj" fmla="val 5263"/>
            </a:avLst>
          </a:prstGeom>
          <a:solidFill>
            <a:srgbClr val="FFFFFF"/>
          </a:solidFill>
          <a:ln/>
        </p:spPr>
      </p:sp>
      <p:pic>
        <p:nvPicPr>
          <p:cNvPr id="3" name="QR code" descr="QR code for https://ishmiit.github.io/Sahayak/">    </p:cNvPr>
          <p:cNvPicPr>
            <a:picLocks noChangeAspect="1"/>
          </p:cNvPicPr>
          <p:nvPr/>
        </p:nvPicPr>
        <p:blipFill>
          <a:blip r:embed="rId1"/>
          <a:stretch>
            <a:fillRect/>
          </a:stretch>
        </p:blipFill>
        <p:spPr>
          <a:xfrm>
            <a:off x="1097280" y="1325880"/>
            <a:ext cx="3977640" cy="3977640"/>
          </a:xfrm>
          <a:prstGeom prst="rect">
            <a:avLst/>
          </a:prstGeom>
        </p:spPr>
      </p:pic>
      <p:sp>
        <p:nvSpPr>
          <p:cNvPr id="4" name="address"/>
          <p:cNvSpPr txBox="1"/>
          <p:nvPr/>
        </p:nvSpPr>
        <p:spPr>
          <a:xfrm>
            <a:off x="640080" y="5715000"/>
            <a:ext cx="4892040" cy="365760"/>
          </a:xfrm>
          <a:prstGeom prst="rect">
            <a:avLst/>
          </a:prstGeom>
          <a:noFill/>
          <a:ln/>
        </p:spPr>
        <p:txBody>
          <a:bodyPr wrap="square" lIns="0" tIns="0" rIns="0" bIns="0" rtlCol="0" anchor="t"/>
          <a:lstStyle/>
          <a:p>
            <a:pPr algn="ctr" indent="0" marL="0">
              <a:buNone/>
            </a:pPr>
            <a:r>
              <a:rPr lang="en-US" sz="1700" b="1" dirty="0">
                <a:solidFill>
                  <a:srgbClr val="6FA8FF"/>
                </a:solidFill>
                <a:latin typeface="Arial" pitchFamily="34" charset="0"/>
                <a:ea typeface="Arial" pitchFamily="34" charset="-122"/>
                <a:cs typeface="Arial" pitchFamily="34" charset="-120"/>
              </a:rPr>
              <a:t>ishmiit.github.io/Sahayak</a:t>
            </a:r>
            <a:endParaRPr lang="en-US" sz="1700" dirty="0"/>
          </a:p>
        </p:txBody>
      </p:sp>
      <p:sp>
        <p:nvSpPr>
          <p:cNvPr id="5" name="title"/>
          <p:cNvSpPr txBox="1"/>
          <p:nvPr/>
        </p:nvSpPr>
        <p:spPr>
          <a:xfrm>
            <a:off x="6035040" y="1097280"/>
            <a:ext cx="5486400" cy="822960"/>
          </a:xfrm>
          <a:prstGeom prst="rect">
            <a:avLst/>
          </a:prstGeom>
          <a:noFill/>
          <a:ln/>
        </p:spPr>
        <p:txBody>
          <a:bodyPr wrap="square" lIns="0" tIns="0" rIns="0" bIns="0" rtlCol="0" anchor="t"/>
          <a:lstStyle/>
          <a:p>
            <a:pPr indent="0" marL="0">
              <a:buNone/>
            </a:pPr>
            <a:r>
              <a:rPr lang="en-US" sz="5600" b="1" dirty="0">
                <a:solidFill>
                  <a:srgbClr val="F5F5F7"/>
                </a:solidFill>
                <a:latin typeface="Arial" pitchFamily="34" charset="0"/>
                <a:ea typeface="Arial" pitchFamily="34" charset="-122"/>
                <a:cs typeface="Arial" pitchFamily="34" charset="-120"/>
              </a:rPr>
              <a:t>Try it.</a:t>
            </a:r>
            <a:endParaRPr lang="en-US" sz="5600" dirty="0"/>
          </a:p>
        </p:txBody>
      </p:sp>
      <p:sp>
        <p:nvSpPr>
          <p:cNvPr id="6" name="subtitle"/>
          <p:cNvSpPr txBox="1"/>
          <p:nvPr/>
        </p:nvSpPr>
        <p:spPr>
          <a:xfrm>
            <a:off x="6035040" y="1965960"/>
            <a:ext cx="5486400" cy="457200"/>
          </a:xfrm>
          <a:prstGeom prst="rect">
            <a:avLst/>
          </a:prstGeom>
          <a:noFill/>
          <a:ln/>
        </p:spPr>
        <p:txBody>
          <a:bodyPr wrap="square" lIns="0" tIns="0" rIns="0" bIns="0" rtlCol="0" anchor="t"/>
          <a:lstStyle/>
          <a:p>
            <a:pPr indent="0" marL="0">
              <a:buNone/>
            </a:pPr>
            <a:r>
              <a:rPr lang="en-US" sz="2400" dirty="0">
                <a:solidFill>
                  <a:srgbClr val="A1A1A6"/>
                </a:solidFill>
                <a:latin typeface="Arial" pitchFamily="34" charset="0"/>
                <a:ea typeface="Arial" pitchFamily="34" charset="-122"/>
                <a:cs typeface="Arial" pitchFamily="34" charset="-120"/>
              </a:rPr>
              <a:t>Right now, on your phone.</a:t>
            </a:r>
            <a:endParaRPr lang="en-US" sz="2400" dirty="0"/>
          </a:p>
        </p:txBody>
      </p:sp>
      <p:sp>
        <p:nvSpPr>
          <p:cNvPr id="7" name="number 1"/>
          <p:cNvSpPr/>
          <p:nvPr/>
        </p:nvSpPr>
        <p:spPr>
          <a:xfrm>
            <a:off x="6035040" y="2862072"/>
            <a:ext cx="457200" cy="457200"/>
          </a:xfrm>
          <a:prstGeom prst="ellipse">
            <a:avLst/>
          </a:prstGeom>
          <a:solidFill>
            <a:srgbClr val="6FA8FF"/>
          </a:solidFill>
          <a:ln/>
        </p:spPr>
      </p:sp>
      <p:sp>
        <p:nvSpPr>
          <p:cNvPr id="8" name="number 1 label"/>
          <p:cNvSpPr txBox="1"/>
          <p:nvPr/>
        </p:nvSpPr>
        <p:spPr>
          <a:xfrm>
            <a:off x="6035040" y="2862072"/>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1</a:t>
            </a:r>
            <a:endParaRPr lang="en-US" sz="1800" dirty="0"/>
          </a:p>
        </p:txBody>
      </p:sp>
      <p:sp>
        <p:nvSpPr>
          <p:cNvPr id="9" name="step 1"/>
          <p:cNvSpPr txBox="1"/>
          <p:nvPr/>
        </p:nvSpPr>
        <p:spPr>
          <a:xfrm>
            <a:off x="6720840" y="2834640"/>
            <a:ext cx="4937760" cy="411480"/>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Scan the code.</a:t>
            </a:r>
            <a:endParaRPr lang="en-US" sz="2100" dirty="0"/>
          </a:p>
        </p:txBody>
      </p:sp>
      <p:sp>
        <p:nvSpPr>
          <p:cNvPr id="10" name="step 1 detail"/>
          <p:cNvSpPr txBox="1"/>
          <p:nvPr/>
        </p:nvSpPr>
        <p:spPr>
          <a:xfrm>
            <a:off x="6720840" y="3264408"/>
            <a:ext cx="4937760" cy="384048"/>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Nothing to install. No account.</a:t>
            </a:r>
            <a:endParaRPr lang="en-US" sz="1800" dirty="0"/>
          </a:p>
        </p:txBody>
      </p:sp>
      <p:sp>
        <p:nvSpPr>
          <p:cNvPr id="11" name="number 2"/>
          <p:cNvSpPr/>
          <p:nvPr/>
        </p:nvSpPr>
        <p:spPr>
          <a:xfrm>
            <a:off x="6035040" y="3849624"/>
            <a:ext cx="457200" cy="457200"/>
          </a:xfrm>
          <a:prstGeom prst="ellipse">
            <a:avLst/>
          </a:prstGeom>
          <a:solidFill>
            <a:srgbClr val="6FA8FF"/>
          </a:solidFill>
          <a:ln/>
        </p:spPr>
      </p:sp>
      <p:sp>
        <p:nvSpPr>
          <p:cNvPr id="12" name="number 2 label"/>
          <p:cNvSpPr txBox="1"/>
          <p:nvPr/>
        </p:nvSpPr>
        <p:spPr>
          <a:xfrm>
            <a:off x="6035040" y="3849624"/>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2</a:t>
            </a:r>
            <a:endParaRPr lang="en-US" sz="1800" dirty="0"/>
          </a:p>
        </p:txBody>
      </p:sp>
      <p:sp>
        <p:nvSpPr>
          <p:cNvPr id="13" name="step 2"/>
          <p:cNvSpPr txBox="1"/>
          <p:nvPr/>
        </p:nvSpPr>
        <p:spPr>
          <a:xfrm>
            <a:off x="6720840" y="3822192"/>
            <a:ext cx="4937760" cy="411480"/>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Tap “Check a message”</a:t>
            </a:r>
            <a:endParaRPr lang="en-US" sz="2100" dirty="0"/>
          </a:p>
        </p:txBody>
      </p:sp>
      <p:sp>
        <p:nvSpPr>
          <p:cNvPr id="14" name="step 2 detail"/>
          <p:cNvSpPr txBox="1"/>
          <p:nvPr/>
        </p:nvSpPr>
        <p:spPr>
          <a:xfrm>
            <a:off x="6720840" y="4251960"/>
            <a:ext cx="4937760" cy="384048"/>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then “Pay ₹500 for your Ayushman card”.</a:t>
            </a:r>
            <a:endParaRPr lang="en-US" sz="1800" dirty="0"/>
          </a:p>
        </p:txBody>
      </p:sp>
      <p:sp>
        <p:nvSpPr>
          <p:cNvPr id="15" name="number 3"/>
          <p:cNvSpPr/>
          <p:nvPr/>
        </p:nvSpPr>
        <p:spPr>
          <a:xfrm>
            <a:off x="6035040" y="4837176"/>
            <a:ext cx="457200" cy="457200"/>
          </a:xfrm>
          <a:prstGeom prst="ellipse">
            <a:avLst/>
          </a:prstGeom>
          <a:solidFill>
            <a:srgbClr val="6FA8FF"/>
          </a:solidFill>
          <a:ln/>
        </p:spPr>
      </p:sp>
      <p:sp>
        <p:nvSpPr>
          <p:cNvPr id="16" name="number 3 label"/>
          <p:cNvSpPr txBox="1"/>
          <p:nvPr/>
        </p:nvSpPr>
        <p:spPr>
          <a:xfrm>
            <a:off x="6035040" y="4837176"/>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3</a:t>
            </a:r>
            <a:endParaRPr lang="en-US" sz="1800" dirty="0"/>
          </a:p>
        </p:txBody>
      </p:sp>
      <p:sp>
        <p:nvSpPr>
          <p:cNvPr id="17" name="step 3"/>
          <p:cNvSpPr txBox="1"/>
          <p:nvPr/>
        </p:nvSpPr>
        <p:spPr>
          <a:xfrm>
            <a:off x="6720840" y="4809744"/>
            <a:ext cx="4937760" cy="411480"/>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Turn on airplane mode.</a:t>
            </a:r>
            <a:endParaRPr lang="en-US" sz="2100" dirty="0"/>
          </a:p>
        </p:txBody>
      </p:sp>
      <p:sp>
        <p:nvSpPr>
          <p:cNvPr id="18" name="step 3 detail"/>
          <p:cNvSpPr txBox="1"/>
          <p:nvPr/>
        </p:nvSpPr>
        <p:spPr>
          <a:xfrm>
            <a:off x="6720840" y="5239512"/>
            <a:ext cx="4937760" cy="384048"/>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Try another. It still works.</a:t>
            </a:r>
            <a:endParaRPr lang="en-US" sz="1800" dirty="0"/>
          </a:p>
        </p:txBody>
      </p:sp>
      <p:sp>
        <p:nvSpPr>
          <p:cNvPr id="19" name="language"/>
          <p:cNvSpPr txBox="1"/>
          <p:nvPr/>
        </p:nvSpPr>
        <p:spPr>
          <a:xfrm>
            <a:off x="6035040" y="5715000"/>
            <a:ext cx="5486400" cy="365760"/>
          </a:xfrm>
          <a:prstGeom prst="rect">
            <a:avLst/>
          </a:prstGeom>
          <a:noFill/>
          <a:ln/>
        </p:spPr>
        <p:txBody>
          <a:bodyPr wrap="square" lIns="0" tIns="0" rIns="0" bIns="0" rtlCol="0" anchor="t"/>
          <a:lstStyle/>
          <a:p>
            <a:pPr indent="0" marL="0">
              <a:buNone/>
            </a:pPr>
            <a:r>
              <a:rPr lang="en-US" sz="1600" dirty="0">
                <a:solidFill>
                  <a:srgbClr val="6E6E73"/>
                </a:solidFill>
                <a:latin typeface="Arial" pitchFamily="34" charset="0"/>
                <a:ea typeface="Arial" pitchFamily="34" charset="-122"/>
                <a:cs typeface="Arial" pitchFamily="34" charset="-120"/>
              </a:rPr>
              <a:t>Opens in English. Tap </a:t>
            </a:r>
            <a:pPr indent="0" marL="0">
              <a:buNone/>
            </a:pPr>
            <a:r>
              <a:rPr lang="en-US" sz="1600" dirty="0">
                <a:solidFill>
                  <a:srgbClr val="6E6E73"/>
                </a:solidFill>
                <a:latin typeface="Nirmala UI" pitchFamily="34" charset="0"/>
                <a:ea typeface="Nirmala UI" pitchFamily="34" charset="-122"/>
                <a:cs typeface="Nirmala UI" pitchFamily="34" charset="-120"/>
              </a:rPr>
              <a:t>हिं</a:t>
            </a:r>
            <a:pPr indent="0" marL="0">
              <a:buNone/>
            </a:pPr>
            <a:r>
              <a:rPr lang="en-US" sz="1600" dirty="0">
                <a:solidFill>
                  <a:srgbClr val="6E6E73"/>
                </a:solidFill>
                <a:latin typeface="Arial" pitchFamily="34" charset="0"/>
                <a:ea typeface="Arial" pitchFamily="34" charset="-122"/>
                <a:cs typeface="Arial" pitchFamily="34" charset="-120"/>
              </a:rPr>
              <a:t> for Hindi.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822960" y="731520"/>
            <a:ext cx="9144000" cy="777240"/>
          </a:xfrm>
          <a:prstGeom prst="rect">
            <a:avLst/>
          </a:prstGeom>
          <a:noFill/>
          <a:ln/>
        </p:spPr>
        <p:txBody>
          <a:bodyPr wrap="square" lIns="0" tIns="0" rIns="0" bIns="0" rtlCol="0" anchor="t"/>
          <a:lstStyle/>
          <a:p>
            <a:pPr indent="0" marL="0">
              <a:buNone/>
            </a:pPr>
            <a:r>
              <a:rPr lang="en-US" sz="4400" b="1" dirty="0">
                <a:solidFill>
                  <a:srgbClr val="F5F5F7"/>
                </a:solidFill>
                <a:latin typeface="Arial" pitchFamily="34" charset="0"/>
                <a:ea typeface="Arial" pitchFamily="34" charset="-122"/>
                <a:cs typeface="Arial" pitchFamily="34" charset="-120"/>
              </a:rPr>
              <a:t>How it works</a:t>
            </a:r>
            <a:endParaRPr lang="en-US" sz="4400" dirty="0"/>
          </a:p>
        </p:txBody>
      </p:sp>
      <p:sp>
        <p:nvSpPr>
          <p:cNvPr id="3" name="card 1"/>
          <p:cNvSpPr/>
          <p:nvPr/>
        </p:nvSpPr>
        <p:spPr>
          <a:xfrm>
            <a:off x="822960" y="1965960"/>
            <a:ext cx="3337560" cy="2834640"/>
          </a:xfrm>
          <a:prstGeom prst="roundRect">
            <a:avLst>
              <a:gd name="adj" fmla="val 5806"/>
            </a:avLst>
          </a:prstGeom>
          <a:solidFill>
            <a:srgbClr val="161618"/>
          </a:solidFill>
          <a:ln w="12700">
            <a:solidFill>
              <a:srgbClr val="2C2C30"/>
            </a:solidFill>
            <a:prstDash val="solid"/>
          </a:ln>
        </p:spPr>
      </p:sp>
      <p:sp>
        <p:nvSpPr>
          <p:cNvPr id="4" name="number 1"/>
          <p:cNvSpPr/>
          <p:nvPr/>
        </p:nvSpPr>
        <p:spPr>
          <a:xfrm>
            <a:off x="1143000" y="2286000"/>
            <a:ext cx="457200" cy="457200"/>
          </a:xfrm>
          <a:prstGeom prst="ellipse">
            <a:avLst/>
          </a:prstGeom>
          <a:solidFill>
            <a:srgbClr val="6FA8FF"/>
          </a:solidFill>
          <a:ln/>
        </p:spPr>
      </p:sp>
      <p:sp>
        <p:nvSpPr>
          <p:cNvPr id="5" name="number 1 label"/>
          <p:cNvSpPr txBox="1"/>
          <p:nvPr/>
        </p:nvSpPr>
        <p:spPr>
          <a:xfrm>
            <a:off x="1143000" y="2286000"/>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1</a:t>
            </a:r>
            <a:endParaRPr lang="en-US" sz="1800" dirty="0"/>
          </a:p>
        </p:txBody>
      </p:sp>
      <p:sp>
        <p:nvSpPr>
          <p:cNvPr id="6" name="card 1 title"/>
          <p:cNvSpPr txBox="1"/>
          <p:nvPr/>
        </p:nvSpPr>
        <p:spPr>
          <a:xfrm>
            <a:off x="1143000" y="2926080"/>
            <a:ext cx="2834640" cy="548640"/>
          </a:xfrm>
          <a:prstGeom prst="rect">
            <a:avLst/>
          </a:prstGeom>
          <a:noFill/>
          <a:ln/>
        </p:spPr>
        <p:txBody>
          <a:bodyPr wrap="square" lIns="0" tIns="0" rIns="0" bIns="0" rtlCol="0" anchor="t"/>
          <a:lstStyle/>
          <a:p>
            <a:pPr indent="0" marL="0">
              <a:buNone/>
            </a:pPr>
            <a:r>
              <a:rPr lang="en-US" sz="2800" b="1" dirty="0">
                <a:solidFill>
                  <a:srgbClr val="F5F5F7"/>
                </a:solidFill>
                <a:latin typeface="Arial" pitchFamily="34" charset="0"/>
                <a:ea typeface="Arial" pitchFamily="34" charset="-122"/>
                <a:cs typeface="Arial" pitchFamily="34" charset="-120"/>
              </a:rPr>
              <a:t>You ask.</a:t>
            </a:r>
            <a:endParaRPr lang="en-US" sz="2800" dirty="0"/>
          </a:p>
        </p:txBody>
      </p:sp>
      <p:sp>
        <p:nvSpPr>
          <p:cNvPr id="7" name="card 1 points"/>
          <p:cNvSpPr txBox="1"/>
          <p:nvPr/>
        </p:nvSpPr>
        <p:spPr>
          <a:xfrm>
            <a:off x="1143000" y="3611880"/>
            <a:ext cx="2834640" cy="1097280"/>
          </a:xfrm>
          <a:prstGeom prst="rect">
            <a:avLst/>
          </a:prstGeom>
          <a:noFill/>
          <a:ln/>
        </p:spPr>
        <p:txBody>
          <a:bodyPr wrap="square" lIns="0" tIns="0" rIns="0" bIns="0" rtlCol="0" anchor="t"/>
          <a:lstStyle/>
          <a:p>
            <a:pPr indent="0" marL="0">
              <a:spcAft>
                <a:spcPts val="500"/>
              </a:spcAft>
              <a:buNone/>
            </a:pPr>
            <a:r>
              <a:rPr lang="en-US" sz="2200" dirty="0">
                <a:solidFill>
                  <a:srgbClr val="A1A1A6"/>
                </a:solidFill>
                <a:latin typeface="Arial" pitchFamily="34" charset="0"/>
                <a:ea typeface="Arial" pitchFamily="34" charset="-122"/>
                <a:cs typeface="Arial" pitchFamily="34" charset="-120"/>
              </a:rPr>
              <a:t>Type · Speak</a:t>
            </a:r>
            <a:endParaRPr lang="en-US" sz="2200" dirty="0"/>
          </a:p>
          <a:p>
            <a:pPr indent="0" marL="0">
              <a:spcAft>
                <a:spcPts val="500"/>
              </a:spcAft>
              <a:buNone/>
            </a:pPr>
            <a:r>
              <a:rPr lang="en-US" sz="2200" dirty="0">
                <a:solidFill>
                  <a:srgbClr val="A1A1A6"/>
                </a:solidFill>
                <a:latin typeface="Arial" pitchFamily="34" charset="0"/>
                <a:ea typeface="Arial" pitchFamily="34" charset="-122"/>
                <a:cs typeface="Arial" pitchFamily="34" charset="-120"/>
              </a:rPr>
              <a:t>A call · A UPI QR</a:t>
            </a:r>
            <a:endParaRPr lang="en-US" sz="2200" dirty="0"/>
          </a:p>
        </p:txBody>
      </p:sp>
      <p:sp>
        <p:nvSpPr>
          <p:cNvPr id="8" name="card 2"/>
          <p:cNvSpPr/>
          <p:nvPr/>
        </p:nvSpPr>
        <p:spPr>
          <a:xfrm>
            <a:off x="4434840" y="1965960"/>
            <a:ext cx="3337560" cy="2834640"/>
          </a:xfrm>
          <a:prstGeom prst="roundRect">
            <a:avLst>
              <a:gd name="adj" fmla="val 5806"/>
            </a:avLst>
          </a:prstGeom>
          <a:solidFill>
            <a:srgbClr val="161618"/>
          </a:solidFill>
          <a:ln w="12700">
            <a:solidFill>
              <a:srgbClr val="2C2C30"/>
            </a:solidFill>
            <a:prstDash val="solid"/>
          </a:ln>
        </p:spPr>
      </p:sp>
      <p:sp>
        <p:nvSpPr>
          <p:cNvPr id="9" name="number 2"/>
          <p:cNvSpPr/>
          <p:nvPr/>
        </p:nvSpPr>
        <p:spPr>
          <a:xfrm>
            <a:off x="4754880" y="2286000"/>
            <a:ext cx="457200" cy="457200"/>
          </a:xfrm>
          <a:prstGeom prst="ellipse">
            <a:avLst/>
          </a:prstGeom>
          <a:solidFill>
            <a:srgbClr val="4FD68A"/>
          </a:solidFill>
          <a:ln/>
        </p:spPr>
      </p:sp>
      <p:sp>
        <p:nvSpPr>
          <p:cNvPr id="10" name="number 2 label"/>
          <p:cNvSpPr txBox="1"/>
          <p:nvPr/>
        </p:nvSpPr>
        <p:spPr>
          <a:xfrm>
            <a:off x="4754880" y="2286000"/>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2</a:t>
            </a:r>
            <a:endParaRPr lang="en-US" sz="1800" dirty="0"/>
          </a:p>
        </p:txBody>
      </p:sp>
      <p:sp>
        <p:nvSpPr>
          <p:cNvPr id="11" name="card 2 title"/>
          <p:cNvSpPr txBox="1"/>
          <p:nvPr/>
        </p:nvSpPr>
        <p:spPr>
          <a:xfrm>
            <a:off x="4754880" y="2926080"/>
            <a:ext cx="2834640" cy="548640"/>
          </a:xfrm>
          <a:prstGeom prst="rect">
            <a:avLst/>
          </a:prstGeom>
          <a:noFill/>
          <a:ln/>
        </p:spPr>
        <p:txBody>
          <a:bodyPr wrap="square" lIns="0" tIns="0" rIns="0" bIns="0" rtlCol="0" anchor="t"/>
          <a:lstStyle/>
          <a:p>
            <a:pPr indent="0" marL="0">
              <a:buNone/>
            </a:pPr>
            <a:r>
              <a:rPr lang="en-US" sz="2800" b="1" dirty="0">
                <a:solidFill>
                  <a:srgbClr val="F5F5F7"/>
                </a:solidFill>
                <a:latin typeface="Arial" pitchFamily="34" charset="0"/>
                <a:ea typeface="Arial" pitchFamily="34" charset="-122"/>
                <a:cs typeface="Arial" pitchFamily="34" charset="-120"/>
              </a:rPr>
              <a:t>Rules decide.</a:t>
            </a:r>
            <a:endParaRPr lang="en-US" sz="2800" dirty="0"/>
          </a:p>
        </p:txBody>
      </p:sp>
      <p:sp>
        <p:nvSpPr>
          <p:cNvPr id="12" name="card 2 points"/>
          <p:cNvSpPr txBox="1"/>
          <p:nvPr/>
        </p:nvSpPr>
        <p:spPr>
          <a:xfrm>
            <a:off x="4754880" y="3611880"/>
            <a:ext cx="2834640" cy="1097280"/>
          </a:xfrm>
          <a:prstGeom prst="rect">
            <a:avLst/>
          </a:prstGeom>
          <a:noFill/>
          <a:ln/>
        </p:spPr>
        <p:txBody>
          <a:bodyPr wrap="square" lIns="0" tIns="0" rIns="0" bIns="0" rtlCol="0" anchor="t"/>
          <a:lstStyle/>
          <a:p>
            <a:pPr indent="0" marL="0">
              <a:spcAft>
                <a:spcPts val="500"/>
              </a:spcAft>
              <a:buNone/>
            </a:pPr>
            <a:r>
              <a:rPr lang="en-US" sz="2200" dirty="0">
                <a:solidFill>
                  <a:srgbClr val="A1A1A6"/>
                </a:solidFill>
                <a:latin typeface="Arial" pitchFamily="34" charset="0"/>
                <a:ea typeface="Arial" pitchFamily="34" charset="-122"/>
                <a:cs typeface="Arial" pitchFamily="34" charset="-120"/>
              </a:rPr>
              <a:t>64 signals</a:t>
            </a:r>
            <a:endParaRPr lang="en-US" sz="2200" dirty="0"/>
          </a:p>
          <a:p>
            <a:pPr indent="0" marL="0">
              <a:spcAft>
                <a:spcPts val="500"/>
              </a:spcAft>
              <a:buNone/>
            </a:pPr>
            <a:r>
              <a:rPr lang="en-US" sz="2200" dirty="0">
                <a:solidFill>
                  <a:srgbClr val="A1A1A6"/>
                </a:solidFill>
                <a:latin typeface="Arial" pitchFamily="34" charset="0"/>
                <a:ea typeface="Arial" pitchFamily="34" charset="-122"/>
                <a:cs typeface="Arial" pitchFamily="34" charset="-120"/>
              </a:rPr>
              <a:t>On the device</a:t>
            </a:r>
            <a:endParaRPr lang="en-US" sz="2200" dirty="0"/>
          </a:p>
        </p:txBody>
      </p:sp>
      <p:sp>
        <p:nvSpPr>
          <p:cNvPr id="13" name="card 3"/>
          <p:cNvSpPr/>
          <p:nvPr/>
        </p:nvSpPr>
        <p:spPr>
          <a:xfrm>
            <a:off x="8046720" y="1965960"/>
            <a:ext cx="3337560" cy="2834640"/>
          </a:xfrm>
          <a:prstGeom prst="roundRect">
            <a:avLst>
              <a:gd name="adj" fmla="val 5806"/>
            </a:avLst>
          </a:prstGeom>
          <a:solidFill>
            <a:srgbClr val="161618"/>
          </a:solidFill>
          <a:ln w="12700">
            <a:solidFill>
              <a:srgbClr val="2C2C30"/>
            </a:solidFill>
            <a:prstDash val="solid"/>
          </a:ln>
        </p:spPr>
      </p:sp>
      <p:sp>
        <p:nvSpPr>
          <p:cNvPr id="14" name="number 3"/>
          <p:cNvSpPr/>
          <p:nvPr/>
        </p:nvSpPr>
        <p:spPr>
          <a:xfrm>
            <a:off x="8366760" y="2286000"/>
            <a:ext cx="457200" cy="457200"/>
          </a:xfrm>
          <a:prstGeom prst="ellipse">
            <a:avLst/>
          </a:prstGeom>
          <a:solidFill>
            <a:srgbClr val="E2C28A"/>
          </a:solidFill>
          <a:ln/>
        </p:spPr>
      </p:sp>
      <p:sp>
        <p:nvSpPr>
          <p:cNvPr id="15" name="number 3 label"/>
          <p:cNvSpPr txBox="1"/>
          <p:nvPr/>
        </p:nvSpPr>
        <p:spPr>
          <a:xfrm>
            <a:off x="8366760" y="2286000"/>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3</a:t>
            </a:r>
            <a:endParaRPr lang="en-US" sz="1800" dirty="0"/>
          </a:p>
        </p:txBody>
      </p:sp>
      <p:sp>
        <p:nvSpPr>
          <p:cNvPr id="16" name="card 3 title"/>
          <p:cNvSpPr txBox="1"/>
          <p:nvPr/>
        </p:nvSpPr>
        <p:spPr>
          <a:xfrm>
            <a:off x="8366760" y="2926080"/>
            <a:ext cx="2834640" cy="548640"/>
          </a:xfrm>
          <a:prstGeom prst="rect">
            <a:avLst/>
          </a:prstGeom>
          <a:noFill/>
          <a:ln/>
        </p:spPr>
        <p:txBody>
          <a:bodyPr wrap="square" lIns="0" tIns="0" rIns="0" bIns="0" rtlCol="0" anchor="t"/>
          <a:lstStyle/>
          <a:p>
            <a:pPr indent="0" marL="0">
              <a:buNone/>
            </a:pPr>
            <a:r>
              <a:rPr lang="en-US" sz="2800" b="1" dirty="0">
                <a:solidFill>
                  <a:srgbClr val="F5F5F7"/>
                </a:solidFill>
                <a:latin typeface="Arial" pitchFamily="34" charset="0"/>
                <a:ea typeface="Arial" pitchFamily="34" charset="-122"/>
                <a:cs typeface="Arial" pitchFamily="34" charset="-120"/>
              </a:rPr>
              <a:t>A clear answer.</a:t>
            </a:r>
            <a:endParaRPr lang="en-US" sz="2800" dirty="0"/>
          </a:p>
        </p:txBody>
      </p:sp>
      <p:sp>
        <p:nvSpPr>
          <p:cNvPr id="17" name="card 3 points"/>
          <p:cNvSpPr txBox="1"/>
          <p:nvPr/>
        </p:nvSpPr>
        <p:spPr>
          <a:xfrm>
            <a:off x="8366760" y="3611880"/>
            <a:ext cx="2834640" cy="1097280"/>
          </a:xfrm>
          <a:prstGeom prst="rect">
            <a:avLst/>
          </a:prstGeom>
          <a:noFill/>
          <a:ln/>
        </p:spPr>
        <p:txBody>
          <a:bodyPr wrap="square" lIns="0" tIns="0" rIns="0" bIns="0" rtlCol="0" anchor="t"/>
          <a:lstStyle/>
          <a:p>
            <a:pPr indent="0" marL="0">
              <a:spcAft>
                <a:spcPts val="500"/>
              </a:spcAft>
              <a:buNone/>
            </a:pPr>
            <a:r>
              <a:rPr lang="en-US" sz="2200" dirty="0">
                <a:solidFill>
                  <a:srgbClr val="A1A1A6"/>
                </a:solidFill>
                <a:latin typeface="Arial" pitchFamily="34" charset="0"/>
                <a:ea typeface="Arial" pitchFamily="34" charset="-122"/>
                <a:cs typeface="Arial" pitchFamily="34" charset="-120"/>
              </a:rPr>
              <a:t>4 answers</a:t>
            </a:r>
            <a:endParaRPr lang="en-US" sz="2200" dirty="0"/>
          </a:p>
          <a:p>
            <a:pPr indent="0" marL="0">
              <a:spcAft>
                <a:spcPts val="500"/>
              </a:spcAft>
              <a:buNone/>
            </a:pPr>
            <a:r>
              <a:rPr lang="en-US" sz="2200" b="1" dirty="0">
                <a:solidFill>
                  <a:srgbClr val="E2C28A"/>
                </a:solidFill>
                <a:latin typeface="Arial" pitchFamily="34" charset="0"/>
                <a:ea typeface="Arial" pitchFamily="34" charset="-122"/>
                <a:cs typeface="Arial" pitchFamily="34" charset="-120"/>
              </a:rPr>
              <a:t>Never “safe”.</a:t>
            </a:r>
            <a:endParaRPr lang="en-US" sz="2200" dirty="0"/>
          </a:p>
        </p:txBody>
      </p:sp>
      <p:sp>
        <p:nvSpPr>
          <p:cNvPr id="18" name="parity"/>
          <p:cNvSpPr txBox="1"/>
          <p:nvPr/>
        </p:nvSpPr>
        <p:spPr>
          <a:xfrm>
            <a:off x="822960" y="5212080"/>
            <a:ext cx="10545775" cy="411480"/>
          </a:xfrm>
          <a:prstGeom prst="rect">
            <a:avLst/>
          </a:prstGeom>
          <a:noFill/>
          <a:ln/>
        </p:spPr>
        <p:txBody>
          <a:bodyPr wrap="square" lIns="0" tIns="0" rIns="0" bIns="0" rtlCol="0" anchor="t"/>
          <a:lstStyle/>
          <a:p>
            <a:pPr indent="0" marL="0">
              <a:buNone/>
            </a:pPr>
            <a:r>
              <a:rPr lang="en-US" sz="2200" dirty="0">
                <a:solidFill>
                  <a:srgbClr val="A1A1A6"/>
                </a:solidFill>
                <a:latin typeface="Arial" pitchFamily="34" charset="0"/>
                <a:ea typeface="Arial" pitchFamily="34" charset="-122"/>
                <a:cs typeface="Arial" pitchFamily="34" charset="-120"/>
              </a:rPr>
              <a:t>Phone = counter: </a:t>
            </a:r>
            <a:pPr indent="0" marL="0">
              <a:buNone/>
            </a:pPr>
            <a:r>
              <a:rPr lang="en-US" sz="2200" b="1" dirty="0">
                <a:solidFill>
                  <a:srgbClr val="F5F5F7"/>
                </a:solidFill>
                <a:latin typeface="Arial" pitchFamily="34" charset="0"/>
                <a:ea typeface="Arial" pitchFamily="34" charset="-122"/>
                <a:cs typeface="Arial" pitchFamily="34" charset="-120"/>
              </a:rPr>
              <a:t>1,841 of 1,841 checks.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822960" y="731520"/>
            <a:ext cx="10058400" cy="310896"/>
          </a:xfrm>
          <a:prstGeom prst="rect">
            <a:avLst/>
          </a:prstGeom>
          <a:noFill/>
          <a:ln/>
        </p:spPr>
        <p:txBody>
          <a:bodyPr wrap="square" lIns="0" tIns="0" rIns="0" bIns="0" rtlCol="0" anchor="t"/>
          <a:lstStyle/>
          <a:p>
            <a:pPr indent="0" marL="0">
              <a:buNone/>
            </a:pPr>
            <a:r>
              <a:rPr lang="en-US" sz="1400" b="1" spc="300" kern="0" dirty="0">
                <a:solidFill>
                  <a:srgbClr val="E2C28A"/>
                </a:solidFill>
                <a:latin typeface="Arial" pitchFamily="34" charset="0"/>
                <a:ea typeface="Arial" pitchFamily="34" charset="-122"/>
                <a:cs typeface="Arial" pitchFamily="34" charset="-120"/>
              </a:rPr>
              <a:t>ROUND ONE: A LARGE AI MODEL WOULD DECIDE</a:t>
            </a:r>
            <a:endParaRPr lang="en-US" sz="1400" dirty="0"/>
          </a:p>
        </p:txBody>
      </p:sp>
      <p:sp>
        <p:nvSpPr>
          <p:cNvPr id="3" name="title"/>
          <p:cNvSpPr txBox="1"/>
          <p:nvPr/>
        </p:nvSpPr>
        <p:spPr>
          <a:xfrm>
            <a:off x="822960" y="1051560"/>
            <a:ext cx="10058400" cy="777240"/>
          </a:xfrm>
          <a:prstGeom prst="rect">
            <a:avLst/>
          </a:prstGeom>
          <a:noFill/>
          <a:ln/>
        </p:spPr>
        <p:txBody>
          <a:bodyPr wrap="square" lIns="0" tIns="0" rIns="0" bIns="0" rtlCol="0" anchor="t"/>
          <a:lstStyle/>
          <a:p>
            <a:pPr indent="0" marL="0">
              <a:buNone/>
            </a:pPr>
            <a:r>
              <a:rPr lang="en-US" sz="4400" b="1" dirty="0">
                <a:solidFill>
                  <a:srgbClr val="F5F5F7"/>
                </a:solidFill>
                <a:latin typeface="Arial" pitchFamily="34" charset="0"/>
                <a:ea typeface="Arial" pitchFamily="34" charset="-122"/>
                <a:cs typeface="Arial" pitchFamily="34" charset="-120"/>
              </a:rPr>
              <a:t>So we tested one.</a:t>
            </a:r>
            <a:endParaRPr lang="en-US" sz="4400" dirty="0"/>
          </a:p>
        </p:txBody>
      </p:sp>
      <p:sp>
        <p:nvSpPr>
          <p:cNvPr id="4" name="A 3B language model panel"/>
          <p:cNvSpPr/>
          <p:nvPr/>
        </p:nvSpPr>
        <p:spPr>
          <a:xfrm>
            <a:off x="822960" y="2148840"/>
            <a:ext cx="5120640" cy="2788920"/>
          </a:xfrm>
          <a:prstGeom prst="roundRect">
            <a:avLst>
              <a:gd name="adj" fmla="val 5902"/>
            </a:avLst>
          </a:prstGeom>
          <a:solidFill>
            <a:srgbClr val="161618"/>
          </a:solidFill>
          <a:ln w="12700">
            <a:solidFill>
              <a:srgbClr val="2C2C30"/>
            </a:solidFill>
            <a:prstDash val="solid"/>
          </a:ln>
        </p:spPr>
      </p:sp>
      <p:sp>
        <p:nvSpPr>
          <p:cNvPr id="5" name="A 3B language model name"/>
          <p:cNvSpPr txBox="1"/>
          <p:nvPr/>
        </p:nvSpPr>
        <p:spPr>
          <a:xfrm>
            <a:off x="1188720" y="2423160"/>
            <a:ext cx="4389120" cy="457200"/>
          </a:xfrm>
          <a:prstGeom prst="rect">
            <a:avLst/>
          </a:prstGeom>
          <a:noFill/>
          <a:ln/>
        </p:spPr>
        <p:txBody>
          <a:bodyPr wrap="square" lIns="0" tIns="0" rIns="0" bIns="0" rtlCol="0" anchor="t"/>
          <a:lstStyle/>
          <a:p>
            <a:pPr indent="0" marL="0">
              <a:buNone/>
            </a:pPr>
            <a:r>
              <a:rPr lang="en-US" sz="2400" b="1" dirty="0">
                <a:solidFill>
                  <a:srgbClr val="F5F5F7"/>
                </a:solidFill>
                <a:latin typeface="Arial" pitchFamily="34" charset="0"/>
                <a:ea typeface="Arial" pitchFamily="34" charset="-122"/>
                <a:cs typeface="Arial" pitchFamily="34" charset="-120"/>
              </a:rPr>
              <a:t>A 3B language model</a:t>
            </a:r>
            <a:endParaRPr lang="en-US" sz="2400" dirty="0"/>
          </a:p>
        </p:txBody>
      </p:sp>
      <p:sp>
        <p:nvSpPr>
          <p:cNvPr id="6" name="A 3B language model Scams caught label"/>
          <p:cNvSpPr txBox="1"/>
          <p:nvPr/>
        </p:nvSpPr>
        <p:spPr>
          <a:xfrm>
            <a:off x="1188720" y="3063240"/>
            <a:ext cx="4389120" cy="274320"/>
          </a:xfrm>
          <a:prstGeom prst="rect">
            <a:avLst/>
          </a:prstGeom>
          <a:noFill/>
          <a:ln/>
        </p:spPr>
        <p:txBody>
          <a:bodyPr wrap="square" lIns="0" tIns="0" rIns="0" bIns="0" rtlCol="0" anchor="t"/>
          <a:lstStyle/>
          <a:p>
            <a:pPr indent="0" marL="0">
              <a:buNone/>
            </a:pPr>
            <a:r>
              <a:rPr lang="en-US" sz="1200" b="1" spc="150" kern="0" dirty="0">
                <a:solidFill>
                  <a:srgbClr val="6E6E73"/>
                </a:solidFill>
                <a:latin typeface="Arial" pitchFamily="34" charset="0"/>
                <a:ea typeface="Arial" pitchFamily="34" charset="-122"/>
                <a:cs typeface="Arial" pitchFamily="34" charset="-120"/>
              </a:rPr>
              <a:t>SCAMS CAUGHT</a:t>
            </a:r>
            <a:endParaRPr lang="en-US" sz="1200" dirty="0"/>
          </a:p>
        </p:txBody>
      </p:sp>
      <p:sp>
        <p:nvSpPr>
          <p:cNvPr id="7" name="A 3B language model Scams caught"/>
          <p:cNvSpPr txBox="1"/>
          <p:nvPr/>
        </p:nvSpPr>
        <p:spPr>
          <a:xfrm>
            <a:off x="1188720" y="3337560"/>
            <a:ext cx="4389120" cy="548640"/>
          </a:xfrm>
          <a:prstGeom prst="rect">
            <a:avLst/>
          </a:prstGeom>
          <a:noFill/>
          <a:ln/>
        </p:spPr>
        <p:txBody>
          <a:bodyPr wrap="square" lIns="0" tIns="0" rIns="0" bIns="0" rtlCol="0" anchor="t"/>
          <a:lstStyle/>
          <a:p>
            <a:pPr indent="0" marL="0">
              <a:buNone/>
            </a:pPr>
            <a:r>
              <a:rPr lang="en-US" sz="3600" b="1" dirty="0">
                <a:solidFill>
                  <a:srgbClr val="F5F5F7"/>
                </a:solidFill>
                <a:latin typeface="Arial" pitchFamily="34" charset="0"/>
                <a:ea typeface="Arial" pitchFamily="34" charset="-122"/>
                <a:cs typeface="Arial" pitchFamily="34" charset="-120"/>
              </a:rPr>
              <a:t>99 of 103</a:t>
            </a:r>
            <a:endParaRPr lang="en-US" sz="3600" dirty="0"/>
          </a:p>
        </p:txBody>
      </p:sp>
      <p:sp>
        <p:nvSpPr>
          <p:cNvPr id="8" name="A 3B language model Genuine messages flagged label"/>
          <p:cNvSpPr txBox="1"/>
          <p:nvPr/>
        </p:nvSpPr>
        <p:spPr>
          <a:xfrm>
            <a:off x="1188720" y="3977640"/>
            <a:ext cx="4389120" cy="274320"/>
          </a:xfrm>
          <a:prstGeom prst="rect">
            <a:avLst/>
          </a:prstGeom>
          <a:noFill/>
          <a:ln/>
        </p:spPr>
        <p:txBody>
          <a:bodyPr wrap="square" lIns="0" tIns="0" rIns="0" bIns="0" rtlCol="0" anchor="t"/>
          <a:lstStyle/>
          <a:p>
            <a:pPr indent="0" marL="0">
              <a:buNone/>
            </a:pPr>
            <a:r>
              <a:rPr lang="en-US" sz="1200" b="1" spc="150" kern="0" dirty="0">
                <a:solidFill>
                  <a:srgbClr val="6E6E73"/>
                </a:solidFill>
                <a:latin typeface="Arial" pitchFamily="34" charset="0"/>
                <a:ea typeface="Arial" pitchFamily="34" charset="-122"/>
                <a:cs typeface="Arial" pitchFamily="34" charset="-120"/>
              </a:rPr>
              <a:t>GENUINE MESSAGES FLAGGED</a:t>
            </a:r>
            <a:endParaRPr lang="en-US" sz="1200" dirty="0"/>
          </a:p>
        </p:txBody>
      </p:sp>
      <p:sp>
        <p:nvSpPr>
          <p:cNvPr id="9" name="A 3B language model Genuine messages flagged"/>
          <p:cNvSpPr txBox="1"/>
          <p:nvPr/>
        </p:nvSpPr>
        <p:spPr>
          <a:xfrm>
            <a:off x="1188720" y="4251960"/>
            <a:ext cx="4389120" cy="548640"/>
          </a:xfrm>
          <a:prstGeom prst="rect">
            <a:avLst/>
          </a:prstGeom>
          <a:noFill/>
          <a:ln/>
        </p:spPr>
        <p:txBody>
          <a:bodyPr wrap="square" lIns="0" tIns="0" rIns="0" bIns="0" rtlCol="0" anchor="t"/>
          <a:lstStyle/>
          <a:p>
            <a:pPr indent="0" marL="0">
              <a:buNone/>
            </a:pPr>
            <a:r>
              <a:rPr lang="en-US" sz="3600" b="1" dirty="0">
                <a:solidFill>
                  <a:srgbClr val="FF5A52"/>
                </a:solidFill>
                <a:latin typeface="Arial" pitchFamily="34" charset="0"/>
                <a:ea typeface="Arial" pitchFamily="34" charset="-122"/>
                <a:cs typeface="Arial" pitchFamily="34" charset="-120"/>
              </a:rPr>
              <a:t>21 of 34</a:t>
            </a:r>
            <a:endParaRPr lang="en-US" sz="3600" dirty="0"/>
          </a:p>
        </p:txBody>
      </p:sp>
      <p:sp>
        <p:nvSpPr>
          <p:cNvPr id="10" name="Sahayak panel"/>
          <p:cNvSpPr/>
          <p:nvPr/>
        </p:nvSpPr>
        <p:spPr>
          <a:xfrm>
            <a:off x="6172200" y="2148840"/>
            <a:ext cx="5120640" cy="2788920"/>
          </a:xfrm>
          <a:prstGeom prst="roundRect">
            <a:avLst>
              <a:gd name="adj" fmla="val 5902"/>
            </a:avLst>
          </a:prstGeom>
          <a:solidFill>
            <a:srgbClr val="111B2B"/>
          </a:solidFill>
          <a:ln w="12700">
            <a:solidFill>
              <a:srgbClr val="2F4A75"/>
            </a:solidFill>
            <a:prstDash val="solid"/>
          </a:ln>
        </p:spPr>
      </p:sp>
      <p:sp>
        <p:nvSpPr>
          <p:cNvPr id="11" name="Sahayak name"/>
          <p:cNvSpPr txBox="1"/>
          <p:nvPr/>
        </p:nvSpPr>
        <p:spPr>
          <a:xfrm>
            <a:off x="6537960" y="2423160"/>
            <a:ext cx="4389120" cy="457200"/>
          </a:xfrm>
          <a:prstGeom prst="rect">
            <a:avLst/>
          </a:prstGeom>
          <a:noFill/>
          <a:ln/>
        </p:spPr>
        <p:txBody>
          <a:bodyPr wrap="square" lIns="0" tIns="0" rIns="0" bIns="0" rtlCol="0" anchor="t"/>
          <a:lstStyle/>
          <a:p>
            <a:pPr indent="0" marL="0">
              <a:buNone/>
            </a:pPr>
            <a:r>
              <a:rPr lang="en-US" sz="2400" b="1" dirty="0">
                <a:solidFill>
                  <a:srgbClr val="6FA8FF"/>
                </a:solidFill>
                <a:latin typeface="Arial" pitchFamily="34" charset="0"/>
                <a:ea typeface="Arial" pitchFamily="34" charset="-122"/>
                <a:cs typeface="Arial" pitchFamily="34" charset="-120"/>
              </a:rPr>
              <a:t>Sahayak</a:t>
            </a:r>
            <a:endParaRPr lang="en-US" sz="2400" dirty="0"/>
          </a:p>
        </p:txBody>
      </p:sp>
      <p:sp>
        <p:nvSpPr>
          <p:cNvPr id="12" name="Sahayak Scams caught label"/>
          <p:cNvSpPr txBox="1"/>
          <p:nvPr/>
        </p:nvSpPr>
        <p:spPr>
          <a:xfrm>
            <a:off x="6537960" y="3063240"/>
            <a:ext cx="4389120" cy="274320"/>
          </a:xfrm>
          <a:prstGeom prst="rect">
            <a:avLst/>
          </a:prstGeom>
          <a:noFill/>
          <a:ln/>
        </p:spPr>
        <p:txBody>
          <a:bodyPr wrap="square" lIns="0" tIns="0" rIns="0" bIns="0" rtlCol="0" anchor="t"/>
          <a:lstStyle/>
          <a:p>
            <a:pPr indent="0" marL="0">
              <a:buNone/>
            </a:pPr>
            <a:r>
              <a:rPr lang="en-US" sz="1200" b="1" spc="150" kern="0" dirty="0">
                <a:solidFill>
                  <a:srgbClr val="6E6E73"/>
                </a:solidFill>
                <a:latin typeface="Arial" pitchFamily="34" charset="0"/>
                <a:ea typeface="Arial" pitchFamily="34" charset="-122"/>
                <a:cs typeface="Arial" pitchFamily="34" charset="-120"/>
              </a:rPr>
              <a:t>SCAMS CAUGHT</a:t>
            </a:r>
            <a:endParaRPr lang="en-US" sz="1200" dirty="0"/>
          </a:p>
        </p:txBody>
      </p:sp>
      <p:sp>
        <p:nvSpPr>
          <p:cNvPr id="13" name="Sahayak Scams caught"/>
          <p:cNvSpPr txBox="1"/>
          <p:nvPr/>
        </p:nvSpPr>
        <p:spPr>
          <a:xfrm>
            <a:off x="6537960" y="3337560"/>
            <a:ext cx="4389120" cy="548640"/>
          </a:xfrm>
          <a:prstGeom prst="rect">
            <a:avLst/>
          </a:prstGeom>
          <a:noFill/>
          <a:ln/>
        </p:spPr>
        <p:txBody>
          <a:bodyPr wrap="square" lIns="0" tIns="0" rIns="0" bIns="0" rtlCol="0" anchor="t"/>
          <a:lstStyle/>
          <a:p>
            <a:pPr indent="0" marL="0">
              <a:buNone/>
            </a:pPr>
            <a:r>
              <a:rPr lang="en-US" sz="3600" b="1" dirty="0">
                <a:solidFill>
                  <a:srgbClr val="F5F5F7"/>
                </a:solidFill>
                <a:latin typeface="Arial" pitchFamily="34" charset="0"/>
                <a:ea typeface="Arial" pitchFamily="34" charset="-122"/>
                <a:cs typeface="Arial" pitchFamily="34" charset="-120"/>
              </a:rPr>
              <a:t>67 of 103</a:t>
            </a:r>
            <a:endParaRPr lang="en-US" sz="3600" dirty="0"/>
          </a:p>
        </p:txBody>
      </p:sp>
      <p:sp>
        <p:nvSpPr>
          <p:cNvPr id="14" name="Sahayak Genuine messages flagged label"/>
          <p:cNvSpPr txBox="1"/>
          <p:nvPr/>
        </p:nvSpPr>
        <p:spPr>
          <a:xfrm>
            <a:off x="6537960" y="3977640"/>
            <a:ext cx="4389120" cy="274320"/>
          </a:xfrm>
          <a:prstGeom prst="rect">
            <a:avLst/>
          </a:prstGeom>
          <a:noFill/>
          <a:ln/>
        </p:spPr>
        <p:txBody>
          <a:bodyPr wrap="square" lIns="0" tIns="0" rIns="0" bIns="0" rtlCol="0" anchor="t"/>
          <a:lstStyle/>
          <a:p>
            <a:pPr indent="0" marL="0">
              <a:buNone/>
            </a:pPr>
            <a:r>
              <a:rPr lang="en-US" sz="1200" b="1" spc="150" kern="0" dirty="0">
                <a:solidFill>
                  <a:srgbClr val="6E6E73"/>
                </a:solidFill>
                <a:latin typeface="Arial" pitchFamily="34" charset="0"/>
                <a:ea typeface="Arial" pitchFamily="34" charset="-122"/>
                <a:cs typeface="Arial" pitchFamily="34" charset="-120"/>
              </a:rPr>
              <a:t>GENUINE MESSAGES FLAGGED</a:t>
            </a:r>
            <a:endParaRPr lang="en-US" sz="1200" dirty="0"/>
          </a:p>
        </p:txBody>
      </p:sp>
      <p:sp>
        <p:nvSpPr>
          <p:cNvPr id="15" name="Sahayak Genuine messages flagged"/>
          <p:cNvSpPr txBox="1"/>
          <p:nvPr/>
        </p:nvSpPr>
        <p:spPr>
          <a:xfrm>
            <a:off x="6537960" y="4251960"/>
            <a:ext cx="4389120" cy="548640"/>
          </a:xfrm>
          <a:prstGeom prst="rect">
            <a:avLst/>
          </a:prstGeom>
          <a:noFill/>
          <a:ln/>
        </p:spPr>
        <p:txBody>
          <a:bodyPr wrap="square" lIns="0" tIns="0" rIns="0" bIns="0" rtlCol="0" anchor="t"/>
          <a:lstStyle/>
          <a:p>
            <a:pPr indent="0" marL="0">
              <a:buNone/>
            </a:pPr>
            <a:r>
              <a:rPr lang="en-US" sz="3600" b="1" dirty="0">
                <a:solidFill>
                  <a:srgbClr val="F5F5F7"/>
                </a:solidFill>
                <a:latin typeface="Arial" pitchFamily="34" charset="0"/>
                <a:ea typeface="Arial" pitchFamily="34" charset="-122"/>
                <a:cs typeface="Arial" pitchFamily="34" charset="-120"/>
              </a:rPr>
              <a:t>11 of 34</a:t>
            </a:r>
            <a:endParaRPr lang="en-US" sz="3600" dirty="0"/>
          </a:p>
        </p:txBody>
      </p:sp>
      <p:sp>
        <p:nvSpPr>
          <p:cNvPr id="16" name="conclusion"/>
          <p:cNvSpPr txBox="1"/>
          <p:nvPr/>
        </p:nvSpPr>
        <p:spPr>
          <a:xfrm>
            <a:off x="822960" y="5120640"/>
            <a:ext cx="10545775" cy="868680"/>
          </a:xfrm>
          <a:prstGeom prst="rect">
            <a:avLst/>
          </a:prstGeom>
          <a:noFill/>
          <a:ln/>
        </p:spPr>
        <p:txBody>
          <a:bodyPr wrap="square" lIns="0" tIns="0" rIns="0" bIns="0" rtlCol="0" anchor="t"/>
          <a:lstStyle/>
          <a:p>
            <a:pPr indent="0" marL="0">
              <a:buNone/>
            </a:pPr>
            <a:r>
              <a:rPr lang="en-US" sz="2400" b="1" dirty="0">
                <a:solidFill>
                  <a:srgbClr val="A1A1A6"/>
                </a:solidFill>
                <a:latin typeface="Arial" pitchFamily="34" charset="0"/>
                <a:ea typeface="Arial" pitchFamily="34" charset="-122"/>
                <a:cs typeface="Arial" pitchFamily="34" charset="-120"/>
              </a:rPr>
              <a:t>A warning that cries wolf gets ignored.</a:t>
            </a:r>
            <a:endParaRPr lang="en-US" sz="2400" dirty="0"/>
          </a:p>
          <a:p>
            <a:pPr indent="0" marL="0">
              <a:buNone/>
            </a:pPr>
            <a:r>
              <a:rPr lang="en-US" sz="2400" b="1" dirty="0">
                <a:solidFill>
                  <a:srgbClr val="6FA8FF"/>
                </a:solidFill>
                <a:latin typeface="Arial" pitchFamily="34" charset="0"/>
                <a:ea typeface="Arial" pitchFamily="34" charset="-122"/>
                <a:cs typeface="Arial" pitchFamily="34" charset="-120"/>
              </a:rPr>
              <a:t>So rules decide, and every answer says why.</a:t>
            </a:r>
            <a:endParaRPr lang="en-US" sz="2400" dirty="0"/>
          </a:p>
        </p:txBody>
      </p:sp>
      <p:sp>
        <p:nvSpPr>
          <p:cNvPr id="17"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qwen2.5:3b, zero-shot, on the same 137 real published messages, first runs, 7 Oct 2026. In languages Sahayak can’t read yet, the model caught 14 of 15 scams.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822960" y="868680"/>
            <a:ext cx="3657600" cy="310896"/>
          </a:xfrm>
          <a:prstGeom prst="rect">
            <a:avLst/>
          </a:prstGeom>
          <a:noFill/>
          <a:ln/>
        </p:spPr>
        <p:txBody>
          <a:bodyPr wrap="square" lIns="0" tIns="0" rIns="0" bIns="0" rtlCol="0" anchor="t"/>
          <a:lstStyle/>
          <a:p>
            <a:pPr indent="0" marL="0">
              <a:buNone/>
            </a:pPr>
            <a:r>
              <a:rPr lang="en-US" sz="1400" b="1" spc="300" kern="0" dirty="0">
                <a:solidFill>
                  <a:srgbClr val="6E6E73"/>
                </a:solidFill>
                <a:latin typeface="Arial" pitchFamily="34" charset="0"/>
                <a:ea typeface="Arial" pitchFamily="34" charset="-122"/>
                <a:cs typeface="Arial" pitchFamily="34" charset="-120"/>
              </a:rPr>
              <a:t>WE COULD HAVE SHOWN YOU</a:t>
            </a:r>
            <a:endParaRPr lang="en-US" sz="1400" dirty="0"/>
          </a:p>
        </p:txBody>
      </p:sp>
      <p:sp>
        <p:nvSpPr>
          <p:cNvPr id="3" name="bigger number 1 rule"/>
          <p:cNvSpPr/>
          <p:nvPr/>
        </p:nvSpPr>
        <p:spPr>
          <a:xfrm>
            <a:off x="822960" y="1325880"/>
            <a:ext cx="3291840" cy="0"/>
          </a:xfrm>
          <a:prstGeom prst="line">
            <a:avLst/>
          </a:prstGeom>
          <a:noFill/>
          <a:ln w="9525">
            <a:solidFill>
              <a:srgbClr val="3A3A3E"/>
            </a:solidFill>
            <a:prstDash val="solid"/>
          </a:ln>
        </p:spPr>
      </p:sp>
      <p:sp>
        <p:nvSpPr>
          <p:cNvPr id="4" name="bigger number 1"/>
          <p:cNvSpPr txBox="1"/>
          <p:nvPr/>
        </p:nvSpPr>
        <p:spPr>
          <a:xfrm>
            <a:off x="822960" y="1463040"/>
            <a:ext cx="3291840" cy="640080"/>
          </a:xfrm>
          <a:prstGeom prst="rect">
            <a:avLst/>
          </a:prstGeom>
          <a:noFill/>
          <a:ln/>
        </p:spPr>
        <p:txBody>
          <a:bodyPr wrap="square" lIns="0" tIns="0" rIns="0" bIns="0" rtlCol="0" anchor="t"/>
          <a:lstStyle/>
          <a:p>
            <a:pPr indent="0" marL="0">
              <a:buNone/>
            </a:pPr>
            <a:r>
              <a:rPr lang="en-US" sz="4000" b="1" dirty="0">
                <a:solidFill>
                  <a:srgbClr val="6E6E73"/>
                </a:solidFill>
                <a:latin typeface="Arial" pitchFamily="34" charset="0"/>
                <a:ea typeface="Arial" pitchFamily="34" charset="-122"/>
                <a:cs typeface="Arial" pitchFamily="34" charset="-120"/>
              </a:rPr>
              <a:t>34 of 37</a:t>
            </a:r>
            <a:endParaRPr lang="en-US" sz="4000" dirty="0"/>
          </a:p>
        </p:txBody>
      </p:sp>
      <p:sp>
        <p:nvSpPr>
          <p:cNvPr id="5" name="bigger number 1 label"/>
          <p:cNvSpPr txBox="1"/>
          <p:nvPr/>
        </p:nvSpPr>
        <p:spPr>
          <a:xfrm>
            <a:off x="822960" y="2103120"/>
            <a:ext cx="3291840" cy="640080"/>
          </a:xfrm>
          <a:prstGeom prst="rect">
            <a:avLst/>
          </a:prstGeom>
          <a:noFill/>
          <a:ln/>
        </p:spPr>
        <p:txBody>
          <a:bodyPr wrap="square" lIns="0" tIns="0" rIns="0" bIns="0" rtlCol="0" anchor="t"/>
          <a:lstStyle/>
          <a:p>
            <a:pPr indent="0" marL="0">
              <a:buNone/>
            </a:pPr>
            <a:r>
              <a:rPr lang="en-US" sz="1500" dirty="0">
                <a:solidFill>
                  <a:srgbClr val="6E6E73"/>
                </a:solidFill>
                <a:latin typeface="Arial" pitchFamily="34" charset="0"/>
                <a:ea typeface="Arial" pitchFamily="34" charset="-122"/>
                <a:cs typeface="Arial" pitchFamily="34" charset="-120"/>
              </a:rPr>
              <a:t>on messages we wrote</a:t>
            </a:r>
            <a:endParaRPr lang="en-US" sz="1500" dirty="0"/>
          </a:p>
        </p:txBody>
      </p:sp>
      <p:sp>
        <p:nvSpPr>
          <p:cNvPr id="6" name="bigger number 2 rule"/>
          <p:cNvSpPr/>
          <p:nvPr/>
        </p:nvSpPr>
        <p:spPr>
          <a:xfrm>
            <a:off x="822960" y="2926080"/>
            <a:ext cx="3291840" cy="0"/>
          </a:xfrm>
          <a:prstGeom prst="line">
            <a:avLst/>
          </a:prstGeom>
          <a:noFill/>
          <a:ln w="9525">
            <a:solidFill>
              <a:srgbClr val="3A3A3E"/>
            </a:solidFill>
            <a:prstDash val="solid"/>
          </a:ln>
        </p:spPr>
      </p:sp>
      <p:sp>
        <p:nvSpPr>
          <p:cNvPr id="7" name="bigger number 2"/>
          <p:cNvSpPr txBox="1"/>
          <p:nvPr/>
        </p:nvSpPr>
        <p:spPr>
          <a:xfrm>
            <a:off x="822960" y="3063240"/>
            <a:ext cx="3291840" cy="640080"/>
          </a:xfrm>
          <a:prstGeom prst="rect">
            <a:avLst/>
          </a:prstGeom>
          <a:noFill/>
          <a:ln/>
        </p:spPr>
        <p:txBody>
          <a:bodyPr wrap="square" lIns="0" tIns="0" rIns="0" bIns="0" rtlCol="0" anchor="t"/>
          <a:lstStyle/>
          <a:p>
            <a:pPr indent="0" marL="0">
              <a:buNone/>
            </a:pPr>
            <a:r>
              <a:rPr lang="en-US" sz="4000" b="1" dirty="0">
                <a:solidFill>
                  <a:srgbClr val="6E6E73"/>
                </a:solidFill>
                <a:latin typeface="Arial" pitchFamily="34" charset="0"/>
                <a:ea typeface="Arial" pitchFamily="34" charset="-122"/>
                <a:cs typeface="Arial" pitchFamily="34" charset="-120"/>
              </a:rPr>
              <a:t>92 of 103</a:t>
            </a:r>
            <a:endParaRPr lang="en-US" sz="4000" dirty="0"/>
          </a:p>
        </p:txBody>
      </p:sp>
      <p:sp>
        <p:nvSpPr>
          <p:cNvPr id="8" name="bigger number 2 label"/>
          <p:cNvSpPr txBox="1"/>
          <p:nvPr/>
        </p:nvSpPr>
        <p:spPr>
          <a:xfrm>
            <a:off x="822960" y="3703320"/>
            <a:ext cx="3291840" cy="640080"/>
          </a:xfrm>
          <a:prstGeom prst="rect">
            <a:avLst/>
          </a:prstGeom>
          <a:noFill/>
          <a:ln/>
        </p:spPr>
        <p:txBody>
          <a:bodyPr wrap="square" lIns="0" tIns="0" rIns="0" bIns="0" rtlCol="0" anchor="t"/>
          <a:lstStyle/>
          <a:p>
            <a:pPr indent="0" marL="0">
              <a:buNone/>
            </a:pPr>
            <a:r>
              <a:rPr lang="en-US" sz="1500" dirty="0">
                <a:solidFill>
                  <a:srgbClr val="6E6E73"/>
                </a:solidFill>
                <a:latin typeface="Arial" pitchFamily="34" charset="0"/>
                <a:ea typeface="Arial" pitchFamily="34" charset="-122"/>
                <a:cs typeface="Arial" pitchFamily="34" charset="-120"/>
              </a:rPr>
              <a:t>on a blind red team, written by an AI that never saw our code</a:t>
            </a:r>
            <a:endParaRPr lang="en-US" sz="1500" dirty="0"/>
          </a:p>
        </p:txBody>
      </p:sp>
      <p:sp>
        <p:nvSpPr>
          <p:cNvPr id="9" name="divider"/>
          <p:cNvSpPr/>
          <p:nvPr/>
        </p:nvSpPr>
        <p:spPr>
          <a:xfrm>
            <a:off x="4572000" y="914400"/>
            <a:ext cx="0" cy="4023360"/>
          </a:xfrm>
          <a:prstGeom prst="line">
            <a:avLst/>
          </a:prstGeom>
          <a:noFill/>
          <a:ln w="9525">
            <a:solidFill>
              <a:srgbClr val="3A3A3E"/>
            </a:solidFill>
            <a:prstDash val="solid"/>
          </a:ln>
        </p:spPr>
      </p:sp>
      <p:sp>
        <p:nvSpPr>
          <p:cNvPr id="10" name="eyebrow"/>
          <p:cNvSpPr txBox="1"/>
          <p:nvPr/>
        </p:nvSpPr>
        <p:spPr>
          <a:xfrm>
            <a:off x="5120640" y="868680"/>
            <a:ext cx="5486400" cy="310896"/>
          </a:xfrm>
          <a:prstGeom prst="rect">
            <a:avLst/>
          </a:prstGeom>
          <a:noFill/>
          <a:ln/>
        </p:spPr>
        <p:txBody>
          <a:bodyPr wrap="square" lIns="0" tIns="0" rIns="0" bIns="0" rtlCol="0" anchor="t"/>
          <a:lstStyle/>
          <a:p>
            <a:pPr indent="0" marL="0">
              <a:buNone/>
            </a:pPr>
            <a:r>
              <a:rPr lang="en-US" sz="1400" b="1" spc="300" kern="0" dirty="0">
                <a:solidFill>
                  <a:srgbClr val="6FA8FF"/>
                </a:solidFill>
                <a:latin typeface="Arial" pitchFamily="34" charset="0"/>
                <a:ea typeface="Arial" pitchFamily="34" charset="-122"/>
                <a:cs typeface="Arial" pitchFamily="34" charset="-120"/>
              </a:rPr>
              <a:t>THE HONEST NUMBER</a:t>
            </a:r>
            <a:endParaRPr lang="en-US" sz="1400" dirty="0"/>
          </a:p>
        </p:txBody>
      </p:sp>
      <p:sp>
        <p:nvSpPr>
          <p:cNvPr id="11" name="headline number"/>
          <p:cNvSpPr txBox="1"/>
          <p:nvPr/>
        </p:nvSpPr>
        <p:spPr>
          <a:xfrm>
            <a:off x="5074920" y="1143000"/>
            <a:ext cx="6400800" cy="2103120"/>
          </a:xfrm>
          <a:prstGeom prst="rect">
            <a:avLst/>
          </a:prstGeom>
          <a:noFill/>
          <a:ln/>
        </p:spPr>
        <p:txBody>
          <a:bodyPr wrap="square" lIns="0" tIns="0" rIns="0" bIns="0" rtlCol="0" anchor="ctr"/>
          <a:lstStyle/>
          <a:p>
            <a:pPr indent="0" marL="0">
              <a:buNone/>
            </a:pPr>
            <a:r>
              <a:rPr lang="en-US" sz="15000" b="1" dirty="0">
                <a:solidFill>
                  <a:srgbClr val="6FA8FF"/>
                </a:solidFill>
                <a:latin typeface="Arial" pitchFamily="34" charset="0"/>
                <a:ea typeface="Arial" pitchFamily="34" charset="-122"/>
                <a:cs typeface="Arial" pitchFamily="34" charset="-120"/>
              </a:rPr>
              <a:t>7 in 10</a:t>
            </a:r>
            <a:endParaRPr lang="en-US" sz="15000" dirty="0"/>
          </a:p>
        </p:txBody>
      </p:sp>
      <p:sp>
        <p:nvSpPr>
          <p:cNvPr id="12" name="what it counts"/>
          <p:cNvSpPr txBox="1"/>
          <p:nvPr/>
        </p:nvSpPr>
        <p:spPr>
          <a:xfrm>
            <a:off x="5120640" y="3383280"/>
            <a:ext cx="6309360" cy="868680"/>
          </a:xfrm>
          <a:prstGeom prst="rect">
            <a:avLst/>
          </a:prstGeom>
          <a:noFill/>
          <a:ln/>
        </p:spPr>
        <p:txBody>
          <a:bodyPr wrap="square" lIns="0" tIns="0" rIns="0" bIns="0" rtlCol="0" anchor="t"/>
          <a:lstStyle/>
          <a:p>
            <a:pPr indent="0" marL="0">
              <a:buNone/>
            </a:pPr>
            <a:r>
              <a:rPr lang="en-US" sz="2500" b="1" dirty="0">
                <a:solidFill>
                  <a:srgbClr val="F5F5F7"/>
                </a:solidFill>
                <a:latin typeface="Arial" pitchFamily="34" charset="0"/>
                <a:ea typeface="Arial" pitchFamily="34" charset="-122"/>
                <a:cs typeface="Arial" pitchFamily="34" charset="-120"/>
              </a:rPr>
              <a:t>scams caught on 137 real messages people in India received.</a:t>
            </a:r>
            <a:endParaRPr lang="en-US" sz="2500" dirty="0"/>
          </a:p>
        </p:txBody>
      </p:sp>
      <p:sp>
        <p:nvSpPr>
          <p:cNvPr id="13" name="scored once"/>
          <p:cNvSpPr txBox="1"/>
          <p:nvPr/>
        </p:nvSpPr>
        <p:spPr>
          <a:xfrm>
            <a:off x="5120640" y="4297680"/>
            <a:ext cx="6309360" cy="411480"/>
          </a:xfrm>
          <a:prstGeom prst="rect">
            <a:avLst/>
          </a:prstGeom>
          <a:noFill/>
          <a:ln/>
        </p:spPr>
        <p:txBody>
          <a:bodyPr wrap="square" lIns="0" tIns="0" rIns="0" bIns="0" rtlCol="0" anchor="t"/>
          <a:lstStyle/>
          <a:p>
            <a:pPr indent="0" marL="0">
              <a:buNone/>
            </a:pPr>
            <a:r>
              <a:rPr lang="en-US" sz="2200" dirty="0">
                <a:solidFill>
                  <a:srgbClr val="A1A1A6"/>
                </a:solidFill>
                <a:latin typeface="Arial" pitchFamily="34" charset="0"/>
                <a:ea typeface="Arial" pitchFamily="34" charset="-122"/>
                <a:cs typeface="Arial" pitchFamily="34" charset="-120"/>
              </a:rPr>
              <a:t>Scored once.</a:t>
            </a:r>
            <a:endParaRPr lang="en-US" sz="2200" dirty="0"/>
          </a:p>
        </p:txBody>
      </p:sp>
      <p:sp>
        <p:nvSpPr>
          <p:cNvPr id="14" name="not yet rule"/>
          <p:cNvSpPr/>
          <p:nvPr/>
        </p:nvSpPr>
        <p:spPr>
          <a:xfrm>
            <a:off x="822960" y="5257800"/>
            <a:ext cx="10545775" cy="0"/>
          </a:xfrm>
          <a:prstGeom prst="line">
            <a:avLst/>
          </a:prstGeom>
          <a:noFill/>
          <a:ln w="9525">
            <a:solidFill>
              <a:srgbClr val="3A3A3E"/>
            </a:solidFill>
            <a:prstDash val="solid"/>
          </a:ln>
        </p:spPr>
      </p:sp>
      <p:sp>
        <p:nvSpPr>
          <p:cNvPr id="15" name="not yet"/>
          <p:cNvSpPr txBox="1"/>
          <p:nvPr/>
        </p:nvSpPr>
        <p:spPr>
          <a:xfrm>
            <a:off x="822960" y="5394960"/>
            <a:ext cx="10545775" cy="411480"/>
          </a:xfrm>
          <a:prstGeom prst="rect">
            <a:avLst/>
          </a:prstGeom>
          <a:noFill/>
          <a:ln/>
        </p:spPr>
        <p:txBody>
          <a:bodyPr wrap="square" lIns="0" tIns="0" rIns="0" bIns="0" rtlCol="0" anchor="t"/>
          <a:lstStyle/>
          <a:p>
            <a:pPr indent="0" marL="0">
              <a:buNone/>
            </a:pPr>
            <a:r>
              <a:rPr lang="en-US" sz="2100" b="1" dirty="0">
                <a:solidFill>
                  <a:srgbClr val="E2C28A"/>
                </a:solidFill>
                <a:latin typeface="Arial" pitchFamily="34" charset="0"/>
                <a:ea typeface="Arial" pitchFamily="34" charset="-122"/>
                <a:cs typeface="Arial" pitchFamily="34" charset="-120"/>
              </a:rPr>
              <a:t>Not yet: </a:t>
            </a:r>
            <a:pPr indent="0" marL="0">
              <a:buNone/>
            </a:pPr>
            <a:r>
              <a:rPr lang="en-US" sz="2100" dirty="0">
                <a:solidFill>
                  <a:srgbClr val="F5F5F7"/>
                </a:solidFill>
                <a:latin typeface="Arial" pitchFamily="34" charset="0"/>
                <a:ea typeface="Arial" pitchFamily="34" charset="-122"/>
                <a:cs typeface="Arial" pitchFamily="34" charset="-120"/>
              </a:rPr>
              <a:t>real users, and messages from people’s own phones. That’s next.</a:t>
            </a:r>
            <a:endParaRPr lang="en-US" sz="2100" dirty="0"/>
          </a:p>
        </p:txBody>
      </p:sp>
      <p:sp>
        <p:nvSpPr>
          <p:cNvPr id="16"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In Hindi, English and Hinglish: 67 of 97 scams caught, 11 of 34 genuine flagged; published by the Income Tax portal, PIB Fact Check and fact-checkers · first runs, bench/results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822960" y="777240"/>
            <a:ext cx="7315200" cy="310896"/>
          </a:xfrm>
          <a:prstGeom prst="rect">
            <a:avLst/>
          </a:prstGeom>
          <a:noFill/>
          <a:ln/>
        </p:spPr>
        <p:txBody>
          <a:bodyPr wrap="square" lIns="0" tIns="0" rIns="0" bIns="0" rtlCol="0" anchor="t"/>
          <a:lstStyle/>
          <a:p>
            <a:pPr indent="0" marL="0">
              <a:buNone/>
            </a:pPr>
            <a:r>
              <a:rPr lang="en-US" sz="1400" b="1" spc="300" kern="0" dirty="0">
                <a:solidFill>
                  <a:srgbClr val="6FA8FF"/>
                </a:solidFill>
                <a:latin typeface="Arial" pitchFamily="34" charset="0"/>
                <a:ea typeface="Arial" pitchFamily="34" charset="-122"/>
                <a:cs typeface="Arial" pitchFamily="34" charset="-120"/>
              </a:rPr>
              <a:t>THE PILOT</a:t>
            </a:r>
            <a:endParaRPr lang="en-US" sz="1400" dirty="0"/>
          </a:p>
        </p:txBody>
      </p:sp>
      <p:sp>
        <p:nvSpPr>
          <p:cNvPr id="3" name="scope"/>
          <p:cNvSpPr txBox="1"/>
          <p:nvPr/>
        </p:nvSpPr>
        <p:spPr>
          <a:xfrm>
            <a:off x="822960" y="1097280"/>
            <a:ext cx="10058400" cy="960120"/>
          </a:xfrm>
          <a:prstGeom prst="rect">
            <a:avLst/>
          </a:prstGeom>
          <a:noFill/>
          <a:ln/>
        </p:spPr>
        <p:txBody>
          <a:bodyPr wrap="square" lIns="0" tIns="0" rIns="0" bIns="0" rtlCol="0" anchor="ctr"/>
          <a:lstStyle/>
          <a:p>
            <a:pPr indent="0" marL="0">
              <a:buNone/>
            </a:pPr>
            <a:r>
              <a:rPr lang="en-US" sz="6400" b="1" dirty="0">
                <a:solidFill>
                  <a:srgbClr val="F5F5F7"/>
                </a:solidFill>
                <a:latin typeface="Arial" pitchFamily="34" charset="0"/>
                <a:ea typeface="Arial" pitchFamily="34" charset="-122"/>
                <a:cs typeface="Arial" pitchFamily="34" charset="-120"/>
              </a:rPr>
              <a:t>One district.</a:t>
            </a:r>
            <a:endParaRPr lang="en-US" sz="6400" dirty="0"/>
          </a:p>
        </p:txBody>
      </p:sp>
      <p:sp>
        <p:nvSpPr>
          <p:cNvPr id="4" name="stat 1 rule"/>
          <p:cNvSpPr/>
          <p:nvPr/>
        </p:nvSpPr>
        <p:spPr>
          <a:xfrm>
            <a:off x="822960" y="2377440"/>
            <a:ext cx="2286000" cy="0"/>
          </a:xfrm>
          <a:prstGeom prst="line">
            <a:avLst/>
          </a:prstGeom>
          <a:noFill/>
          <a:ln w="9525">
            <a:solidFill>
              <a:srgbClr val="3A3A3E"/>
            </a:solidFill>
            <a:prstDash val="solid"/>
          </a:ln>
        </p:spPr>
      </p:sp>
      <p:sp>
        <p:nvSpPr>
          <p:cNvPr id="5" name="stat 1"/>
          <p:cNvSpPr txBox="1"/>
          <p:nvPr/>
        </p:nvSpPr>
        <p:spPr>
          <a:xfrm>
            <a:off x="822960" y="2514600"/>
            <a:ext cx="2286000" cy="822960"/>
          </a:xfrm>
          <a:prstGeom prst="rect">
            <a:avLst/>
          </a:prstGeom>
          <a:noFill/>
          <a:ln/>
        </p:spPr>
        <p:txBody>
          <a:bodyPr wrap="square" lIns="0" tIns="0" rIns="0" bIns="0" rtlCol="0" anchor="t"/>
          <a:lstStyle/>
          <a:p>
            <a:pPr indent="0" marL="0">
              <a:buNone/>
            </a:pPr>
            <a:r>
              <a:rPr lang="en-US" sz="5200" b="1" dirty="0">
                <a:solidFill>
                  <a:srgbClr val="F5F5F7"/>
                </a:solidFill>
                <a:latin typeface="Arial" pitchFamily="34" charset="0"/>
                <a:ea typeface="Arial" pitchFamily="34" charset="-122"/>
                <a:cs typeface="Arial" pitchFamily="34" charset="-120"/>
              </a:rPr>
              <a:t>20</a:t>
            </a:r>
            <a:endParaRPr lang="en-US" sz="5200" dirty="0"/>
          </a:p>
        </p:txBody>
      </p:sp>
      <p:sp>
        <p:nvSpPr>
          <p:cNvPr id="6" name="stat 1 label"/>
          <p:cNvSpPr txBox="1"/>
          <p:nvPr/>
        </p:nvSpPr>
        <p:spPr>
          <a:xfrm>
            <a:off x="822960" y="3337560"/>
            <a:ext cx="2286000" cy="365760"/>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villages</a:t>
            </a:r>
            <a:endParaRPr lang="en-US" sz="1800" dirty="0"/>
          </a:p>
        </p:txBody>
      </p:sp>
      <p:sp>
        <p:nvSpPr>
          <p:cNvPr id="7" name="stat 2 rule"/>
          <p:cNvSpPr/>
          <p:nvPr/>
        </p:nvSpPr>
        <p:spPr>
          <a:xfrm>
            <a:off x="3337560" y="2377440"/>
            <a:ext cx="2286000" cy="0"/>
          </a:xfrm>
          <a:prstGeom prst="line">
            <a:avLst/>
          </a:prstGeom>
          <a:noFill/>
          <a:ln w="9525">
            <a:solidFill>
              <a:srgbClr val="3A3A3E"/>
            </a:solidFill>
            <a:prstDash val="solid"/>
          </a:ln>
        </p:spPr>
      </p:sp>
      <p:sp>
        <p:nvSpPr>
          <p:cNvPr id="8" name="stat 2"/>
          <p:cNvSpPr txBox="1"/>
          <p:nvPr/>
        </p:nvSpPr>
        <p:spPr>
          <a:xfrm>
            <a:off x="3337560" y="2514600"/>
            <a:ext cx="2286000" cy="822960"/>
          </a:xfrm>
          <a:prstGeom prst="rect">
            <a:avLst/>
          </a:prstGeom>
          <a:noFill/>
          <a:ln/>
        </p:spPr>
        <p:txBody>
          <a:bodyPr wrap="square" lIns="0" tIns="0" rIns="0" bIns="0" rtlCol="0" anchor="t"/>
          <a:lstStyle/>
          <a:p>
            <a:pPr indent="0" marL="0">
              <a:buNone/>
            </a:pPr>
            <a:r>
              <a:rPr lang="en-US" sz="5200" b="1" dirty="0">
                <a:solidFill>
                  <a:srgbClr val="F5F5F7"/>
                </a:solidFill>
                <a:latin typeface="Arial" pitchFamily="34" charset="0"/>
                <a:ea typeface="Arial" pitchFamily="34" charset="-122"/>
                <a:cs typeface="Arial" pitchFamily="34" charset="-120"/>
              </a:rPr>
              <a:t>50</a:t>
            </a:r>
            <a:endParaRPr lang="en-US" sz="5200" dirty="0"/>
          </a:p>
        </p:txBody>
      </p:sp>
      <p:sp>
        <p:nvSpPr>
          <p:cNvPr id="9" name="stat 2 label"/>
          <p:cNvSpPr txBox="1"/>
          <p:nvPr/>
        </p:nvSpPr>
        <p:spPr>
          <a:xfrm>
            <a:off x="3337560" y="3337560"/>
            <a:ext cx="2286000" cy="365760"/>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counters</a:t>
            </a:r>
            <a:endParaRPr lang="en-US" sz="1800" dirty="0"/>
          </a:p>
        </p:txBody>
      </p:sp>
      <p:sp>
        <p:nvSpPr>
          <p:cNvPr id="10" name="stat 3 rule"/>
          <p:cNvSpPr/>
          <p:nvPr/>
        </p:nvSpPr>
        <p:spPr>
          <a:xfrm>
            <a:off x="5852160" y="2377440"/>
            <a:ext cx="2286000" cy="0"/>
          </a:xfrm>
          <a:prstGeom prst="line">
            <a:avLst/>
          </a:prstGeom>
          <a:noFill/>
          <a:ln w="9525">
            <a:solidFill>
              <a:srgbClr val="3A3A3E"/>
            </a:solidFill>
            <a:prstDash val="solid"/>
          </a:ln>
        </p:spPr>
      </p:sp>
      <p:sp>
        <p:nvSpPr>
          <p:cNvPr id="11" name="stat 3"/>
          <p:cNvSpPr txBox="1"/>
          <p:nvPr/>
        </p:nvSpPr>
        <p:spPr>
          <a:xfrm>
            <a:off x="5852160" y="2514600"/>
            <a:ext cx="2286000" cy="822960"/>
          </a:xfrm>
          <a:prstGeom prst="rect">
            <a:avLst/>
          </a:prstGeom>
          <a:noFill/>
          <a:ln/>
        </p:spPr>
        <p:txBody>
          <a:bodyPr wrap="square" lIns="0" tIns="0" rIns="0" bIns="0" rtlCol="0" anchor="t"/>
          <a:lstStyle/>
          <a:p>
            <a:pPr indent="0" marL="0">
              <a:buNone/>
            </a:pPr>
            <a:r>
              <a:rPr lang="en-US" sz="5200" b="1" dirty="0">
                <a:solidFill>
                  <a:srgbClr val="F5F5F7"/>
                </a:solidFill>
                <a:latin typeface="Arial" pitchFamily="34" charset="0"/>
                <a:ea typeface="Arial" pitchFamily="34" charset="-122"/>
                <a:cs typeface="Arial" pitchFamily="34" charset="-120"/>
              </a:rPr>
              <a:t>6</a:t>
            </a:r>
            <a:endParaRPr lang="en-US" sz="5200" dirty="0"/>
          </a:p>
        </p:txBody>
      </p:sp>
      <p:sp>
        <p:nvSpPr>
          <p:cNvPr id="12" name="stat 3 label"/>
          <p:cNvSpPr txBox="1"/>
          <p:nvPr/>
        </p:nvSpPr>
        <p:spPr>
          <a:xfrm>
            <a:off x="5852160" y="3337560"/>
            <a:ext cx="2286000" cy="365760"/>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months</a:t>
            </a:r>
            <a:endParaRPr lang="en-US" sz="1800" dirty="0"/>
          </a:p>
        </p:txBody>
      </p:sp>
      <p:sp>
        <p:nvSpPr>
          <p:cNvPr id="13" name="stat 4 rule"/>
          <p:cNvSpPr/>
          <p:nvPr/>
        </p:nvSpPr>
        <p:spPr>
          <a:xfrm>
            <a:off x="8366760" y="2377440"/>
            <a:ext cx="2999232" cy="0"/>
          </a:xfrm>
          <a:prstGeom prst="line">
            <a:avLst/>
          </a:prstGeom>
          <a:noFill/>
          <a:ln w="9525">
            <a:solidFill>
              <a:srgbClr val="3A3A3E"/>
            </a:solidFill>
            <a:prstDash val="solid"/>
          </a:ln>
        </p:spPr>
      </p:sp>
      <p:sp>
        <p:nvSpPr>
          <p:cNvPr id="14" name="stat 4"/>
          <p:cNvSpPr txBox="1"/>
          <p:nvPr/>
        </p:nvSpPr>
        <p:spPr>
          <a:xfrm>
            <a:off x="8366760" y="2514600"/>
            <a:ext cx="2999232" cy="822960"/>
          </a:xfrm>
          <a:prstGeom prst="rect">
            <a:avLst/>
          </a:prstGeom>
          <a:noFill/>
          <a:ln/>
        </p:spPr>
        <p:txBody>
          <a:bodyPr wrap="square" lIns="0" tIns="0" rIns="0" bIns="0" rtlCol="0" anchor="t"/>
          <a:lstStyle/>
          <a:p>
            <a:pPr indent="0" marL="0">
              <a:buNone/>
            </a:pPr>
            <a:r>
              <a:rPr lang="en-US" sz="5200" b="1" dirty="0">
                <a:solidFill>
                  <a:srgbClr val="E2C28A"/>
                </a:solidFill>
                <a:latin typeface="Arial" pitchFamily="34" charset="0"/>
                <a:ea typeface="Arial" pitchFamily="34" charset="-122"/>
                <a:cs typeface="Arial" pitchFamily="34" charset="-120"/>
              </a:rPr>
              <a:t>₹39 lakh</a:t>
            </a:r>
            <a:endParaRPr lang="en-US" sz="5200" dirty="0"/>
          </a:p>
        </p:txBody>
      </p:sp>
      <p:sp>
        <p:nvSpPr>
          <p:cNvPr id="15" name="stat 4 label"/>
          <p:cNvSpPr txBox="1"/>
          <p:nvPr/>
        </p:nvSpPr>
        <p:spPr>
          <a:xfrm>
            <a:off x="8366760" y="3337560"/>
            <a:ext cx="2999232" cy="365760"/>
          </a:xfrm>
          <a:prstGeom prst="rect">
            <a:avLst/>
          </a:prstGeom>
          <a:noFill/>
          <a:ln/>
        </p:spPr>
        <p:txBody>
          <a:bodyPr wrap="square" lIns="0" tIns="0" rIns="0" bIns="0" rtlCol="0" anchor="t"/>
          <a:lstStyle/>
          <a:p>
            <a:pPr indent="0" marL="0">
              <a:buNone/>
            </a:pPr>
            <a:r>
              <a:rPr lang="en-US" sz="1800" dirty="0">
                <a:solidFill>
                  <a:srgbClr val="A1A1A6"/>
                </a:solidFill>
                <a:latin typeface="Arial" pitchFamily="34" charset="0"/>
                <a:ea typeface="Arial" pitchFamily="34" charset="-122"/>
                <a:cs typeface="Arial" pitchFamily="34" charset="-120"/>
              </a:rPr>
              <a:t>estimated</a:t>
            </a:r>
            <a:endParaRPr lang="en-US" sz="1800" dirty="0"/>
          </a:p>
        </p:txBody>
      </p:sp>
      <p:sp>
        <p:nvSpPr>
          <p:cNvPr id="16" name="eyebrow"/>
          <p:cNvSpPr txBox="1"/>
          <p:nvPr/>
        </p:nvSpPr>
        <p:spPr>
          <a:xfrm>
            <a:off x="822960" y="4343400"/>
            <a:ext cx="7315200" cy="310896"/>
          </a:xfrm>
          <a:prstGeom prst="rect">
            <a:avLst/>
          </a:prstGeom>
          <a:noFill/>
          <a:ln/>
        </p:spPr>
        <p:txBody>
          <a:bodyPr wrap="square" lIns="0" tIns="0" rIns="0" bIns="0" rtlCol="0" anchor="t"/>
          <a:lstStyle/>
          <a:p>
            <a:pPr indent="0" marL="0">
              <a:buNone/>
            </a:pPr>
            <a:r>
              <a:rPr lang="en-US" sz="1400" b="1" spc="300" kern="0" dirty="0">
                <a:solidFill>
                  <a:srgbClr val="6E6E73"/>
                </a:solidFill>
                <a:latin typeface="Arial" pitchFamily="34" charset="0"/>
                <a:ea typeface="Arial" pitchFamily="34" charset="-122"/>
                <a:cs typeface="Arial" pitchFamily="34" charset="-120"/>
              </a:rPr>
              <a:t>THE NEXT 30 DAYS</a:t>
            </a:r>
            <a:endParaRPr lang="en-US" sz="1400" dirty="0"/>
          </a:p>
        </p:txBody>
      </p:sp>
      <p:sp>
        <p:nvSpPr>
          <p:cNvPr id="17" name="number 1"/>
          <p:cNvSpPr/>
          <p:nvPr/>
        </p:nvSpPr>
        <p:spPr>
          <a:xfrm>
            <a:off x="822960" y="4754880"/>
            <a:ext cx="384048" cy="384048"/>
          </a:xfrm>
          <a:prstGeom prst="ellipse">
            <a:avLst/>
          </a:prstGeom>
          <a:solidFill>
            <a:srgbClr val="6FA8FF"/>
          </a:solidFill>
          <a:ln/>
        </p:spPr>
      </p:sp>
      <p:sp>
        <p:nvSpPr>
          <p:cNvPr id="18" name="number 1 label"/>
          <p:cNvSpPr txBox="1"/>
          <p:nvPr/>
        </p:nvSpPr>
        <p:spPr>
          <a:xfrm>
            <a:off x="822960" y="4754880"/>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1</a:t>
            </a:r>
            <a:endParaRPr lang="en-US" sz="1400" dirty="0"/>
          </a:p>
        </p:txBody>
      </p:sp>
      <p:sp>
        <p:nvSpPr>
          <p:cNvPr id="19" name="next 1"/>
          <p:cNvSpPr txBox="1"/>
          <p:nvPr/>
        </p:nvSpPr>
        <p:spPr>
          <a:xfrm>
            <a:off x="1371600" y="4736592"/>
            <a:ext cx="2926080" cy="731520"/>
          </a:xfrm>
          <a:prstGeom prst="rect">
            <a:avLst/>
          </a:prstGeom>
          <a:noFill/>
          <a:ln/>
        </p:spPr>
        <p:txBody>
          <a:bodyPr wrap="square" lIns="0" tIns="0" rIns="0" bIns="0" rtlCol="0" anchor="t"/>
          <a:lstStyle/>
          <a:p>
            <a:pPr indent="0" marL="0">
              <a:buNone/>
            </a:pPr>
            <a:r>
              <a:rPr lang="en-US" sz="1900" b="1" dirty="0">
                <a:solidFill>
                  <a:srgbClr val="F5F5F7"/>
                </a:solidFill>
                <a:latin typeface="Arial" pitchFamily="34" charset="0"/>
                <a:ea typeface="Arial" pitchFamily="34" charset="-122"/>
                <a:cs typeface="Arial" pitchFamily="34" charset="-120"/>
              </a:rPr>
              <a:t>A field morning at a CSC</a:t>
            </a:r>
            <a:endParaRPr lang="en-US" sz="1900" dirty="0"/>
          </a:p>
        </p:txBody>
      </p:sp>
      <p:sp>
        <p:nvSpPr>
          <p:cNvPr id="20" name="number 2"/>
          <p:cNvSpPr/>
          <p:nvPr/>
        </p:nvSpPr>
        <p:spPr>
          <a:xfrm>
            <a:off x="4434840" y="4754880"/>
            <a:ext cx="384048" cy="384048"/>
          </a:xfrm>
          <a:prstGeom prst="ellipse">
            <a:avLst/>
          </a:prstGeom>
          <a:solidFill>
            <a:srgbClr val="6FA8FF"/>
          </a:solidFill>
          <a:ln/>
        </p:spPr>
      </p:sp>
      <p:sp>
        <p:nvSpPr>
          <p:cNvPr id="21" name="number 2 label"/>
          <p:cNvSpPr txBox="1"/>
          <p:nvPr/>
        </p:nvSpPr>
        <p:spPr>
          <a:xfrm>
            <a:off x="4434840" y="4754880"/>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2</a:t>
            </a:r>
            <a:endParaRPr lang="en-US" sz="1400" dirty="0"/>
          </a:p>
        </p:txBody>
      </p:sp>
      <p:sp>
        <p:nvSpPr>
          <p:cNvPr id="22" name="next 2"/>
          <p:cNvSpPr txBox="1"/>
          <p:nvPr/>
        </p:nvSpPr>
        <p:spPr>
          <a:xfrm>
            <a:off x="4983480" y="4736592"/>
            <a:ext cx="2926080" cy="731520"/>
          </a:xfrm>
          <a:prstGeom prst="rect">
            <a:avLst/>
          </a:prstGeom>
          <a:noFill/>
          <a:ln/>
        </p:spPr>
        <p:txBody>
          <a:bodyPr wrap="square" lIns="0" tIns="0" rIns="0" bIns="0" rtlCol="0" anchor="t"/>
          <a:lstStyle/>
          <a:p>
            <a:pPr indent="0" marL="0">
              <a:buNone/>
            </a:pPr>
            <a:r>
              <a:rPr lang="en-US" sz="1900" b="1" dirty="0">
                <a:solidFill>
                  <a:srgbClr val="F5F5F7"/>
                </a:solidFill>
                <a:latin typeface="Arial" pitchFamily="34" charset="0"/>
                <a:ea typeface="Arial" pitchFamily="34" charset="-122"/>
                <a:cs typeface="Arial" pitchFamily="34" charset="-120"/>
              </a:rPr>
              <a:t>Real messages from people’s own phones</a:t>
            </a:r>
            <a:endParaRPr lang="en-US" sz="1900" dirty="0"/>
          </a:p>
        </p:txBody>
      </p:sp>
      <p:sp>
        <p:nvSpPr>
          <p:cNvPr id="23" name="number 3"/>
          <p:cNvSpPr/>
          <p:nvPr/>
        </p:nvSpPr>
        <p:spPr>
          <a:xfrm>
            <a:off x="8046720" y="4754880"/>
            <a:ext cx="384048" cy="384048"/>
          </a:xfrm>
          <a:prstGeom prst="ellipse">
            <a:avLst/>
          </a:prstGeom>
          <a:solidFill>
            <a:srgbClr val="6FA8FF"/>
          </a:solidFill>
          <a:ln/>
        </p:spPr>
      </p:sp>
      <p:sp>
        <p:nvSpPr>
          <p:cNvPr id="24" name="number 3 label"/>
          <p:cNvSpPr txBox="1"/>
          <p:nvPr/>
        </p:nvSpPr>
        <p:spPr>
          <a:xfrm>
            <a:off x="8046720" y="4754880"/>
            <a:ext cx="3840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3</a:t>
            </a:r>
            <a:endParaRPr lang="en-US" sz="1400" dirty="0"/>
          </a:p>
        </p:txBody>
      </p:sp>
      <p:sp>
        <p:nvSpPr>
          <p:cNvPr id="25" name="next 3"/>
          <p:cNvSpPr txBox="1"/>
          <p:nvPr/>
        </p:nvSpPr>
        <p:spPr>
          <a:xfrm>
            <a:off x="8595360" y="4736592"/>
            <a:ext cx="2926080" cy="731520"/>
          </a:xfrm>
          <a:prstGeom prst="rect">
            <a:avLst/>
          </a:prstGeom>
          <a:noFill/>
          <a:ln/>
        </p:spPr>
        <p:txBody>
          <a:bodyPr wrap="square" lIns="0" tIns="0" rIns="0" bIns="0" rtlCol="0" anchor="t"/>
          <a:lstStyle/>
          <a:p>
            <a:pPr indent="0" marL="0">
              <a:buNone/>
            </a:pPr>
            <a:r>
              <a:rPr lang="en-US" sz="1900" b="1" dirty="0">
                <a:solidFill>
                  <a:srgbClr val="F5F5F7"/>
                </a:solidFill>
                <a:latin typeface="Arial" pitchFamily="34" charset="0"/>
                <a:ea typeface="Arial" pitchFamily="34" charset="-122"/>
                <a:cs typeface="Arial" pitchFamily="34" charset="-120"/>
              </a:rPr>
              <a:t>A district partner</a:t>
            </a:r>
            <a:endParaRPr lang="en-US" sz="1900" dirty="0"/>
          </a:p>
        </p:txBody>
      </p:sp>
      <p:sp>
        <p:nvSpPr>
          <p:cNvPr id="26"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Estimates, not quotes: the team’s line-item budget, 7 Oct 2026 (₹39.2 lakh). At 500 counters, about ₹24,000 a counter a year; the operator’s ₹9,600 is the biggest part.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cale"/>
          <p:cNvSpPr txBox="1"/>
          <p:nvPr/>
        </p:nvSpPr>
        <p:spPr>
          <a:xfrm>
            <a:off x="822960" y="1417320"/>
            <a:ext cx="10515600" cy="502920"/>
          </a:xfrm>
          <a:prstGeom prst="rect">
            <a:avLst/>
          </a:prstGeom>
          <a:noFill/>
          <a:ln/>
        </p:spPr>
        <p:txBody>
          <a:bodyPr wrap="square" lIns="0" tIns="0" rIns="0" bIns="0" rtlCol="0" anchor="t"/>
          <a:lstStyle/>
          <a:p>
            <a:pPr indent="0" marL="0">
              <a:buNone/>
            </a:pPr>
            <a:r>
              <a:rPr lang="en-US" sz="2600" dirty="0">
                <a:solidFill>
                  <a:srgbClr val="A1A1A6"/>
                </a:solidFill>
                <a:latin typeface="Arial" pitchFamily="34" charset="0"/>
                <a:ea typeface="Arial" pitchFamily="34" charset="-122"/>
                <a:cs typeface="Arial" pitchFamily="34" charset="-120"/>
              </a:rPr>
              <a:t>India has </a:t>
            </a:r>
            <a:pPr indent="0" marL="0">
              <a:buNone/>
            </a:pPr>
            <a:r>
              <a:rPr lang="en-US" sz="2600" b="1" dirty="0">
                <a:solidFill>
                  <a:srgbClr val="F5F5F7"/>
                </a:solidFill>
                <a:latin typeface="Arial" pitchFamily="34" charset="0"/>
                <a:ea typeface="Arial" pitchFamily="34" charset="-122"/>
                <a:cs typeface="Arial" pitchFamily="34" charset="-120"/>
              </a:rPr>
              <a:t>6 lakh CSCs.</a:t>
            </a:r>
            <a:pPr indent="0" marL="0">
              <a:buNone/>
            </a:pPr>
            <a:r>
              <a:rPr lang="en-US" sz="2600" dirty="0">
                <a:solidFill>
                  <a:srgbClr val="A1A1A6"/>
                </a:solidFill>
                <a:latin typeface="Arial" pitchFamily="34" charset="0"/>
                <a:ea typeface="Arial" pitchFamily="34" charset="-122"/>
                <a:cs typeface="Arial" pitchFamily="34" charset="-120"/>
              </a:rPr>
              <a:t>  We’re asking for </a:t>
            </a:r>
            <a:pPr indent="0" marL="0">
              <a:buNone/>
            </a:pPr>
            <a:r>
              <a:rPr lang="en-US" sz="2600" b="1" dirty="0">
                <a:solidFill>
                  <a:srgbClr val="F5F5F7"/>
                </a:solidFill>
                <a:latin typeface="Arial" pitchFamily="34" charset="0"/>
                <a:ea typeface="Arial" pitchFamily="34" charset="-122"/>
                <a:cs typeface="Arial" pitchFamily="34" charset="-120"/>
              </a:rPr>
              <a:t>50 counters.</a:t>
            </a:r>
            <a:endParaRPr lang="en-US" sz="2600" dirty="0"/>
          </a:p>
        </p:txBody>
      </p:sp>
      <p:sp>
        <p:nvSpPr>
          <p:cNvPr id="3" name="eyebrow"/>
          <p:cNvSpPr txBox="1"/>
          <p:nvPr/>
        </p:nvSpPr>
        <p:spPr>
          <a:xfrm>
            <a:off x="822960" y="2377440"/>
            <a:ext cx="7315200" cy="310896"/>
          </a:xfrm>
          <a:prstGeom prst="rect">
            <a:avLst/>
          </a:prstGeom>
          <a:noFill/>
          <a:ln/>
        </p:spPr>
        <p:txBody>
          <a:bodyPr wrap="square" lIns="0" tIns="0" rIns="0" bIns="0" rtlCol="0" anchor="t"/>
          <a:lstStyle/>
          <a:p>
            <a:pPr indent="0" marL="0">
              <a:buNone/>
            </a:pPr>
            <a:r>
              <a:rPr lang="en-US" sz="1400" b="1" spc="300" kern="0" dirty="0">
                <a:solidFill>
                  <a:srgbClr val="E2C28A"/>
                </a:solidFill>
                <a:latin typeface="Arial" pitchFamily="34" charset="0"/>
                <a:ea typeface="Arial" pitchFamily="34" charset="-122"/>
                <a:cs typeface="Arial" pitchFamily="34" charset="-120"/>
              </a:rPr>
              <a:t>OUR ASK</a:t>
            </a:r>
            <a:endParaRPr lang="en-US" sz="1400" dirty="0"/>
          </a:p>
        </p:txBody>
      </p:sp>
      <p:sp>
        <p:nvSpPr>
          <p:cNvPr id="4" name="the ask"/>
          <p:cNvSpPr txBox="1"/>
          <p:nvPr/>
        </p:nvSpPr>
        <p:spPr>
          <a:xfrm>
            <a:off x="822960" y="2697480"/>
            <a:ext cx="10607040" cy="1188720"/>
          </a:xfrm>
          <a:prstGeom prst="rect">
            <a:avLst/>
          </a:prstGeom>
          <a:noFill/>
          <a:ln/>
        </p:spPr>
        <p:txBody>
          <a:bodyPr wrap="square" lIns="0" tIns="0" rIns="0" bIns="0" rtlCol="0" anchor="ctr"/>
          <a:lstStyle/>
          <a:p>
            <a:pPr indent="0" marL="0">
              <a:buNone/>
            </a:pPr>
            <a:r>
              <a:rPr lang="en-US" sz="5600" b="1" dirty="0">
                <a:solidFill>
                  <a:srgbClr val="F5F5F7"/>
                </a:solidFill>
                <a:latin typeface="Arial" pitchFamily="34" charset="0"/>
                <a:ea typeface="Arial" pitchFamily="34" charset="-122"/>
                <a:cs typeface="Arial" pitchFamily="34" charset="-120"/>
              </a:rPr>
              <a:t>Introduce us to one district.</a:t>
            </a:r>
            <a:endParaRPr lang="en-US" sz="5600" dirty="0"/>
          </a:p>
        </p:txBody>
      </p:sp>
      <p:sp>
        <p:nvSpPr>
          <p:cNvPr id="5" name="step 1 rule"/>
          <p:cNvSpPr/>
          <p:nvPr/>
        </p:nvSpPr>
        <p:spPr>
          <a:xfrm>
            <a:off x="822960" y="4572000"/>
            <a:ext cx="3291840" cy="0"/>
          </a:xfrm>
          <a:prstGeom prst="line">
            <a:avLst/>
          </a:prstGeom>
          <a:noFill/>
          <a:ln w="9525">
            <a:solidFill>
              <a:srgbClr val="3A3A3E"/>
            </a:solidFill>
            <a:prstDash val="solid"/>
          </a:ln>
        </p:spPr>
      </p:sp>
      <p:sp>
        <p:nvSpPr>
          <p:cNvPr id="6" name="step 1"/>
          <p:cNvSpPr txBox="1"/>
          <p:nvPr/>
        </p:nvSpPr>
        <p:spPr>
          <a:xfrm>
            <a:off x="822960" y="4709160"/>
            <a:ext cx="3520440" cy="731520"/>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One morning.</a:t>
            </a:r>
            <a:endParaRPr lang="en-US" sz="2100" dirty="0"/>
          </a:p>
        </p:txBody>
      </p:sp>
      <p:sp>
        <p:nvSpPr>
          <p:cNvPr id="7" name="step 2 rule"/>
          <p:cNvSpPr/>
          <p:nvPr/>
        </p:nvSpPr>
        <p:spPr>
          <a:xfrm>
            <a:off x="4434840" y="4572000"/>
            <a:ext cx="3291840" cy="0"/>
          </a:xfrm>
          <a:prstGeom prst="line">
            <a:avLst/>
          </a:prstGeom>
          <a:noFill/>
          <a:ln w="9525">
            <a:solidFill>
              <a:srgbClr val="3A3A3E"/>
            </a:solidFill>
            <a:prstDash val="solid"/>
          </a:ln>
        </p:spPr>
      </p:sp>
      <p:sp>
        <p:nvSpPr>
          <p:cNvPr id="8" name="step 2"/>
          <p:cNvSpPr txBox="1"/>
          <p:nvPr/>
        </p:nvSpPr>
        <p:spPr>
          <a:xfrm>
            <a:off x="4434840" y="4709160"/>
            <a:ext cx="3520440" cy="731520"/>
          </a:xfrm>
          <a:prstGeom prst="rect">
            <a:avLst/>
          </a:prstGeom>
          <a:noFill/>
          <a:ln/>
        </p:spPr>
        <p:txBody>
          <a:bodyPr wrap="square" lIns="0" tIns="0" rIns="0" bIns="0" rtlCol="0" anchor="t"/>
          <a:lstStyle/>
          <a:p>
            <a:pPr indent="0" marL="0">
              <a:buNone/>
            </a:pPr>
            <a:r>
              <a:rPr lang="en-US" sz="2100" b="1" dirty="0">
                <a:solidFill>
                  <a:srgbClr val="F5F5F7"/>
                </a:solidFill>
                <a:latin typeface="Arial" pitchFamily="34" charset="0"/>
                <a:ea typeface="Arial" pitchFamily="34" charset="-122"/>
                <a:cs typeface="Arial" pitchFamily="34" charset="-120"/>
              </a:rPr>
              <a:t>Six months.</a:t>
            </a:r>
            <a:endParaRPr lang="en-US" sz="2100" dirty="0"/>
          </a:p>
        </p:txBody>
      </p:sp>
      <p:sp>
        <p:nvSpPr>
          <p:cNvPr id="9" name="step 3 rule"/>
          <p:cNvSpPr/>
          <p:nvPr/>
        </p:nvSpPr>
        <p:spPr>
          <a:xfrm>
            <a:off x="8046720" y="4572000"/>
            <a:ext cx="3291840" cy="0"/>
          </a:xfrm>
          <a:prstGeom prst="line">
            <a:avLst/>
          </a:prstGeom>
          <a:noFill/>
          <a:ln w="9525">
            <a:solidFill>
              <a:srgbClr val="3A3A3E"/>
            </a:solidFill>
            <a:prstDash val="solid"/>
          </a:ln>
        </p:spPr>
      </p:sp>
      <p:sp>
        <p:nvSpPr>
          <p:cNvPr id="10" name="step 3"/>
          <p:cNvSpPr txBox="1"/>
          <p:nvPr/>
        </p:nvSpPr>
        <p:spPr>
          <a:xfrm>
            <a:off x="8046720" y="4709160"/>
            <a:ext cx="3520440" cy="731520"/>
          </a:xfrm>
          <a:prstGeom prst="rect">
            <a:avLst/>
          </a:prstGeom>
          <a:noFill/>
          <a:ln/>
        </p:spPr>
        <p:txBody>
          <a:bodyPr wrap="square" lIns="0" tIns="0" rIns="0" bIns="0" rtlCol="0" anchor="t"/>
          <a:lstStyle/>
          <a:p>
            <a:pPr indent="0" marL="0">
              <a:buNone/>
            </a:pPr>
            <a:r>
              <a:rPr lang="en-US" sz="2100" b="1" dirty="0">
                <a:solidFill>
                  <a:srgbClr val="6FA8FF"/>
                </a:solidFill>
                <a:latin typeface="Arial" pitchFamily="34" charset="0"/>
                <a:ea typeface="Arial" pitchFamily="34" charset="-122"/>
                <a:cs typeface="Arial" pitchFamily="34" charset="-120"/>
              </a:rPr>
              <a:t>Real numbers.</a:t>
            </a:r>
            <a:endParaRPr lang="en-US" sz="2100" dirty="0"/>
          </a:p>
        </p:txBody>
      </p:sp>
      <p:sp>
        <p:nvSpPr>
          <p:cNvPr id="11"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6 lakh functional CSCs, 4.7 lakh at gram-panchayat level (MeitY, Mar 2025) · the pilot’s 50 counters: nodes at 20 CSCs, the phone app at 30 bank-agent points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822960" y="1234440"/>
            <a:ext cx="7315200" cy="310896"/>
          </a:xfrm>
          <a:prstGeom prst="rect">
            <a:avLst/>
          </a:prstGeom>
          <a:noFill/>
          <a:ln/>
        </p:spPr>
        <p:txBody>
          <a:bodyPr wrap="square" lIns="0" tIns="0" rIns="0" bIns="0" rtlCol="0" anchor="t"/>
          <a:lstStyle/>
          <a:p>
            <a:pPr indent="0" marL="0">
              <a:buNone/>
            </a:pPr>
            <a:r>
              <a:rPr lang="en-US" sz="1400" b="1" spc="300" kern="0" dirty="0">
                <a:solidFill>
                  <a:srgbClr val="6FA8FF"/>
                </a:solidFill>
                <a:latin typeface="Arial" pitchFamily="34" charset="0"/>
                <a:ea typeface="Arial" pitchFamily="34" charset="-122"/>
                <a:cs typeface="Arial" pitchFamily="34" charset="-120"/>
              </a:rPr>
              <a:t>ONE MORE THING</a:t>
            </a:r>
            <a:endParaRPr lang="en-US" sz="1400" dirty="0"/>
          </a:p>
        </p:txBody>
      </p:sp>
      <p:sp>
        <p:nvSpPr>
          <p:cNvPr id="3" name="then"/>
          <p:cNvSpPr txBox="1"/>
          <p:nvPr/>
        </p:nvSpPr>
        <p:spPr>
          <a:xfrm>
            <a:off x="822960" y="1691640"/>
            <a:ext cx="5852160" cy="548640"/>
          </a:xfrm>
          <a:prstGeom prst="rect">
            <a:avLst/>
          </a:prstGeom>
          <a:noFill/>
          <a:ln/>
        </p:spPr>
        <p:txBody>
          <a:bodyPr wrap="square" lIns="0" tIns="0" rIns="0" bIns="0" rtlCol="0" anchor="t"/>
          <a:lstStyle/>
          <a:p>
            <a:pPr indent="0" marL="0">
              <a:buNone/>
            </a:pPr>
            <a:r>
              <a:rPr lang="en-US" sz="2800" dirty="0">
                <a:solidFill>
                  <a:srgbClr val="6E6E73"/>
                </a:solidFill>
                <a:latin typeface="Arial" pitchFamily="34" charset="0"/>
                <a:ea typeface="Arial" pitchFamily="34" charset="-122"/>
                <a:cs typeface="Arial" pitchFamily="34" charset="-120"/>
              </a:rPr>
              <a:t>Everything you saw today</a:t>
            </a:r>
            <a:endParaRPr lang="en-US" sz="2800" dirty="0"/>
          </a:p>
        </p:txBody>
      </p:sp>
      <p:sp>
        <p:nvSpPr>
          <p:cNvPr id="4" name="now"/>
          <p:cNvSpPr txBox="1"/>
          <p:nvPr/>
        </p:nvSpPr>
        <p:spPr>
          <a:xfrm>
            <a:off x="822960" y="2286000"/>
            <a:ext cx="5852160" cy="1005840"/>
          </a:xfrm>
          <a:prstGeom prst="rect">
            <a:avLst/>
          </a:prstGeom>
          <a:noFill/>
          <a:ln/>
        </p:spPr>
        <p:txBody>
          <a:bodyPr wrap="square" lIns="0" tIns="0" rIns="0" bIns="0" rtlCol="0" anchor="ctr"/>
          <a:lstStyle/>
          <a:p>
            <a:pPr indent="0" marL="0">
              <a:buNone/>
            </a:pPr>
            <a:r>
              <a:rPr lang="en-US" sz="6000" b="1" dirty="0">
                <a:solidFill>
                  <a:srgbClr val="F5F5F7"/>
                </a:solidFill>
                <a:latin typeface="Arial" pitchFamily="34" charset="0"/>
                <a:ea typeface="Arial" pitchFamily="34" charset="-122"/>
                <a:cs typeface="Arial" pitchFamily="34" charset="-120"/>
              </a:rPr>
              <a:t>is public.</a:t>
            </a:r>
            <a:endParaRPr lang="en-US" sz="6000" dirty="0"/>
          </a:p>
        </p:txBody>
      </p:sp>
      <p:sp>
        <p:nvSpPr>
          <p:cNvPr id="5" name="point 1 rule"/>
          <p:cNvSpPr/>
          <p:nvPr/>
        </p:nvSpPr>
        <p:spPr>
          <a:xfrm>
            <a:off x="822960" y="3611880"/>
            <a:ext cx="5577840" cy="0"/>
          </a:xfrm>
          <a:prstGeom prst="line">
            <a:avLst/>
          </a:prstGeom>
          <a:noFill/>
          <a:ln w="9525">
            <a:solidFill>
              <a:srgbClr val="3A3A3E"/>
            </a:solidFill>
            <a:prstDash val="solid"/>
          </a:ln>
        </p:spPr>
      </p:sp>
      <p:sp>
        <p:nvSpPr>
          <p:cNvPr id="6" name="point 1"/>
          <p:cNvSpPr txBox="1"/>
          <p:nvPr/>
        </p:nvSpPr>
        <p:spPr>
          <a:xfrm>
            <a:off x="822960" y="3712464"/>
            <a:ext cx="5577840" cy="530352"/>
          </a:xfrm>
          <a:prstGeom prst="rect">
            <a:avLst/>
          </a:prstGeom>
          <a:noFill/>
          <a:ln/>
        </p:spPr>
        <p:txBody>
          <a:bodyPr wrap="square" lIns="0" tIns="0" rIns="0" bIns="0" rtlCol="0" anchor="t"/>
          <a:lstStyle/>
          <a:p>
            <a:pPr indent="0" marL="0">
              <a:buNone/>
            </a:pPr>
            <a:r>
              <a:rPr lang="en-US" sz="2400" b="1" dirty="0">
                <a:solidFill>
                  <a:srgbClr val="F5F5F7"/>
                </a:solidFill>
                <a:latin typeface="Arial" pitchFamily="34" charset="0"/>
                <a:ea typeface="Arial" pitchFamily="34" charset="-122"/>
                <a:cs typeface="Arial" pitchFamily="34" charset="-120"/>
              </a:rPr>
              <a:t>The code. The tests.</a:t>
            </a:r>
            <a:endParaRPr lang="en-US" sz="2400" dirty="0"/>
          </a:p>
        </p:txBody>
      </p:sp>
      <p:sp>
        <p:nvSpPr>
          <p:cNvPr id="7" name="point 2 rule"/>
          <p:cNvSpPr/>
          <p:nvPr/>
        </p:nvSpPr>
        <p:spPr>
          <a:xfrm>
            <a:off x="822960" y="4270248"/>
            <a:ext cx="5577840" cy="0"/>
          </a:xfrm>
          <a:prstGeom prst="line">
            <a:avLst/>
          </a:prstGeom>
          <a:noFill/>
          <a:ln w="9525">
            <a:solidFill>
              <a:srgbClr val="3A3A3E"/>
            </a:solidFill>
            <a:prstDash val="solid"/>
          </a:ln>
        </p:spPr>
      </p:sp>
      <p:sp>
        <p:nvSpPr>
          <p:cNvPr id="8" name="point 2"/>
          <p:cNvSpPr txBox="1"/>
          <p:nvPr/>
        </p:nvSpPr>
        <p:spPr>
          <a:xfrm>
            <a:off x="822960" y="4370832"/>
            <a:ext cx="5577840" cy="530352"/>
          </a:xfrm>
          <a:prstGeom prst="rect">
            <a:avLst/>
          </a:prstGeom>
          <a:noFill/>
          <a:ln/>
        </p:spPr>
        <p:txBody>
          <a:bodyPr wrap="square" lIns="0" tIns="0" rIns="0" bIns="0" rtlCol="0" anchor="t"/>
          <a:lstStyle/>
          <a:p>
            <a:pPr indent="0" marL="0">
              <a:buNone/>
            </a:pPr>
            <a:r>
              <a:rPr lang="en-US" sz="2400" b="1" dirty="0">
                <a:solidFill>
                  <a:srgbClr val="6FA8FF"/>
                </a:solidFill>
                <a:latin typeface="Arial" pitchFamily="34" charset="0"/>
                <a:ea typeface="Arial" pitchFamily="34" charset="-122"/>
                <a:cs typeface="Arial" pitchFamily="34" charset="-120"/>
              </a:rPr>
              <a:t>The file behind every number.</a:t>
            </a:r>
            <a:endParaRPr lang="en-US" sz="2400" dirty="0"/>
          </a:p>
        </p:txBody>
      </p:sp>
      <p:sp>
        <p:nvSpPr>
          <p:cNvPr id="9" name="repo card"/>
          <p:cNvSpPr/>
          <p:nvPr/>
        </p:nvSpPr>
        <p:spPr>
          <a:xfrm>
            <a:off x="6903720" y="1097280"/>
            <a:ext cx="4480560" cy="4343400"/>
          </a:xfrm>
          <a:prstGeom prst="roundRect">
            <a:avLst>
              <a:gd name="adj" fmla="val 3789"/>
            </a:avLst>
          </a:prstGeom>
          <a:solidFill>
            <a:srgbClr val="161618"/>
          </a:solidFill>
          <a:ln w="12700">
            <a:solidFill>
              <a:srgbClr val="2C2C30"/>
            </a:solidFill>
            <a:prstDash val="solid"/>
          </a:ln>
        </p:spPr>
      </p:sp>
      <p:sp>
        <p:nvSpPr>
          <p:cNvPr id="10" name="repo"/>
          <p:cNvSpPr txBox="1"/>
          <p:nvPr/>
        </p:nvSpPr>
        <p:spPr>
          <a:xfrm>
            <a:off x="7223760" y="1371600"/>
            <a:ext cx="3931920" cy="365760"/>
          </a:xfrm>
          <a:prstGeom prst="rect">
            <a:avLst/>
          </a:prstGeom>
          <a:noFill/>
          <a:ln/>
        </p:spPr>
        <p:txBody>
          <a:bodyPr wrap="square" lIns="0" tIns="0" rIns="0" bIns="0" rtlCol="0" anchor="t"/>
          <a:lstStyle/>
          <a:p>
            <a:pPr indent="0" marL="0">
              <a:buNone/>
            </a:pPr>
            <a:r>
              <a:rPr lang="en-US" sz="1600" b="1" dirty="0">
                <a:solidFill>
                  <a:srgbClr val="6FA8FF"/>
                </a:solidFill>
                <a:latin typeface="Arial" pitchFamily="34" charset="0"/>
                <a:ea typeface="Arial" pitchFamily="34" charset="-122"/>
                <a:cs typeface="Arial" pitchFamily="34" charset="-120"/>
              </a:rPr>
              <a:t>github.com/ishmiit/Sahayak</a:t>
            </a:r>
            <a:endParaRPr lang="en-US" sz="1600" dirty="0"/>
          </a:p>
        </p:txBody>
      </p:sp>
      <p:sp>
        <p:nvSpPr>
          <p:cNvPr id="11" name="repo rule"/>
          <p:cNvSpPr/>
          <p:nvPr/>
        </p:nvSpPr>
        <p:spPr>
          <a:xfrm>
            <a:off x="7223760" y="1874520"/>
            <a:ext cx="3840480" cy="0"/>
          </a:xfrm>
          <a:prstGeom prst="line">
            <a:avLst/>
          </a:prstGeom>
          <a:noFill/>
          <a:ln w="9525">
            <a:solidFill>
              <a:srgbClr val="3A3A3E"/>
            </a:solidFill>
            <a:prstDash val="solid"/>
          </a:ln>
        </p:spPr>
      </p:sp>
      <p:sp>
        <p:nvSpPr>
          <p:cNvPr id="12" name="file 1"/>
          <p:cNvSpPr txBox="1"/>
          <p:nvPr/>
        </p:nvSpPr>
        <p:spPr>
          <a:xfrm>
            <a:off x="7223760" y="2057400"/>
            <a:ext cx="2377440" cy="365760"/>
          </a:xfrm>
          <a:prstGeom prst="rect">
            <a:avLst/>
          </a:prstGeom>
          <a:noFill/>
          <a:ln/>
        </p:spPr>
        <p:txBody>
          <a:bodyPr wrap="square" lIns="0" tIns="0" rIns="0" bIns="0" rtlCol="0" anchor="ctr"/>
          <a:lstStyle/>
          <a:p>
            <a:pPr indent="0" marL="0">
              <a:buNone/>
            </a:pPr>
            <a:r>
              <a:rPr lang="en-US" sz="1300" dirty="0">
                <a:solidFill>
                  <a:srgbClr val="A1A1A6"/>
                </a:solidFill>
                <a:latin typeface="Courier New" pitchFamily="34" charset="0"/>
                <a:ea typeface="Courier New" pitchFamily="34" charset="-122"/>
                <a:cs typeface="Courier New" pitchFamily="34" charset="-120"/>
              </a:rPr>
              <a:t>public_v0.json</a:t>
            </a:r>
            <a:endParaRPr lang="en-US" sz="1300" dirty="0"/>
          </a:p>
        </p:txBody>
      </p:sp>
      <p:sp>
        <p:nvSpPr>
          <p:cNvPr id="13" name="file 1 number"/>
          <p:cNvSpPr txBox="1"/>
          <p:nvPr/>
        </p:nvSpPr>
        <p:spPr>
          <a:xfrm>
            <a:off x="9418320" y="2057400"/>
            <a:ext cx="1691640" cy="365760"/>
          </a:xfrm>
          <a:prstGeom prst="rect">
            <a:avLst/>
          </a:prstGeom>
          <a:noFill/>
          <a:ln/>
        </p:spPr>
        <p:txBody>
          <a:bodyPr wrap="square" lIns="0" tIns="0" rIns="0" bIns="0" rtlCol="0" anchor="ctr"/>
          <a:lstStyle/>
          <a:p>
            <a:pPr algn="r" indent="0" marL="0">
              <a:buNone/>
            </a:pPr>
            <a:r>
              <a:rPr lang="en-US" sz="1500" b="1" dirty="0">
                <a:solidFill>
                  <a:srgbClr val="F5F5F7"/>
                </a:solidFill>
                <a:latin typeface="Arial" pitchFamily="34" charset="0"/>
                <a:ea typeface="Arial" pitchFamily="34" charset="-122"/>
                <a:cs typeface="Arial" pitchFamily="34" charset="-120"/>
              </a:rPr>
              <a:t>7 in 10</a:t>
            </a:r>
            <a:endParaRPr lang="en-US" sz="1500" dirty="0"/>
          </a:p>
        </p:txBody>
      </p:sp>
      <p:sp>
        <p:nvSpPr>
          <p:cNvPr id="14" name="file 2"/>
          <p:cNvSpPr txBox="1"/>
          <p:nvPr/>
        </p:nvSpPr>
        <p:spPr>
          <a:xfrm>
            <a:off x="7223760" y="2587752"/>
            <a:ext cx="2377440" cy="365760"/>
          </a:xfrm>
          <a:prstGeom prst="rect">
            <a:avLst/>
          </a:prstGeom>
          <a:noFill/>
          <a:ln/>
        </p:spPr>
        <p:txBody>
          <a:bodyPr wrap="square" lIns="0" tIns="0" rIns="0" bIns="0" rtlCol="0" anchor="ctr"/>
          <a:lstStyle/>
          <a:p>
            <a:pPr indent="0" marL="0">
              <a:buNone/>
            </a:pPr>
            <a:r>
              <a:rPr lang="en-US" sz="1300" dirty="0">
                <a:solidFill>
                  <a:srgbClr val="A1A1A6"/>
                </a:solidFill>
                <a:latin typeface="Courier New" pitchFamily="34" charset="0"/>
                <a:ea typeface="Courier New" pitchFamily="34" charset="-122"/>
                <a:cs typeface="Courier New" pitchFamily="34" charset="-120"/>
              </a:rPr>
              <a:t>redteam_v1_blind.json</a:t>
            </a:r>
            <a:endParaRPr lang="en-US" sz="1300" dirty="0"/>
          </a:p>
        </p:txBody>
      </p:sp>
      <p:sp>
        <p:nvSpPr>
          <p:cNvPr id="15" name="file 2 number"/>
          <p:cNvSpPr txBox="1"/>
          <p:nvPr/>
        </p:nvSpPr>
        <p:spPr>
          <a:xfrm>
            <a:off x="9418320" y="2587752"/>
            <a:ext cx="1691640" cy="365760"/>
          </a:xfrm>
          <a:prstGeom prst="rect">
            <a:avLst/>
          </a:prstGeom>
          <a:noFill/>
          <a:ln/>
        </p:spPr>
        <p:txBody>
          <a:bodyPr wrap="square" lIns="0" tIns="0" rIns="0" bIns="0" rtlCol="0" anchor="ctr"/>
          <a:lstStyle/>
          <a:p>
            <a:pPr algn="r" indent="0" marL="0">
              <a:buNone/>
            </a:pPr>
            <a:r>
              <a:rPr lang="en-US" sz="1500" b="1" dirty="0">
                <a:solidFill>
                  <a:srgbClr val="F5F5F7"/>
                </a:solidFill>
                <a:latin typeface="Arial" pitchFamily="34" charset="0"/>
                <a:ea typeface="Arial" pitchFamily="34" charset="-122"/>
                <a:cs typeface="Arial" pitchFamily="34" charset="-120"/>
              </a:rPr>
              <a:t>92 of 103</a:t>
            </a:r>
            <a:endParaRPr lang="en-US" sz="1500" dirty="0"/>
          </a:p>
        </p:txBody>
      </p:sp>
      <p:sp>
        <p:nvSpPr>
          <p:cNvPr id="16" name="file 3"/>
          <p:cNvSpPr txBox="1"/>
          <p:nvPr/>
        </p:nvSpPr>
        <p:spPr>
          <a:xfrm>
            <a:off x="7223760" y="3118104"/>
            <a:ext cx="2377440" cy="365760"/>
          </a:xfrm>
          <a:prstGeom prst="rect">
            <a:avLst/>
          </a:prstGeom>
          <a:noFill/>
          <a:ln/>
        </p:spPr>
        <p:txBody>
          <a:bodyPr wrap="square" lIns="0" tIns="0" rIns="0" bIns="0" rtlCol="0" anchor="ctr"/>
          <a:lstStyle/>
          <a:p>
            <a:pPr indent="0" marL="0">
              <a:buNone/>
            </a:pPr>
            <a:r>
              <a:rPr lang="en-US" sz="1300" dirty="0">
                <a:solidFill>
                  <a:srgbClr val="A1A1A6"/>
                </a:solidFill>
                <a:latin typeface="Courier New" pitchFamily="34" charset="0"/>
                <a:ea typeface="Courier New" pitchFamily="34" charset="-122"/>
                <a:cs typeface="Courier New" pitchFamily="34" charset="-120"/>
              </a:rPr>
              <a:t>scambench_v0_test.json</a:t>
            </a:r>
            <a:endParaRPr lang="en-US" sz="1300" dirty="0"/>
          </a:p>
        </p:txBody>
      </p:sp>
      <p:sp>
        <p:nvSpPr>
          <p:cNvPr id="17" name="file 3 number"/>
          <p:cNvSpPr txBox="1"/>
          <p:nvPr/>
        </p:nvSpPr>
        <p:spPr>
          <a:xfrm>
            <a:off x="9418320" y="3118104"/>
            <a:ext cx="1691640" cy="365760"/>
          </a:xfrm>
          <a:prstGeom prst="rect">
            <a:avLst/>
          </a:prstGeom>
          <a:noFill/>
          <a:ln/>
        </p:spPr>
        <p:txBody>
          <a:bodyPr wrap="square" lIns="0" tIns="0" rIns="0" bIns="0" rtlCol="0" anchor="ctr"/>
          <a:lstStyle/>
          <a:p>
            <a:pPr algn="r" indent="0" marL="0">
              <a:buNone/>
            </a:pPr>
            <a:r>
              <a:rPr lang="en-US" sz="1500" b="1" dirty="0">
                <a:solidFill>
                  <a:srgbClr val="F5F5F7"/>
                </a:solidFill>
                <a:latin typeface="Arial" pitchFamily="34" charset="0"/>
                <a:ea typeface="Arial" pitchFamily="34" charset="-122"/>
                <a:cs typeface="Arial" pitchFamily="34" charset="-120"/>
              </a:rPr>
              <a:t>34 of 37</a:t>
            </a:r>
            <a:endParaRPr lang="en-US" sz="1500" dirty="0"/>
          </a:p>
        </p:txBody>
      </p:sp>
      <p:sp>
        <p:nvSpPr>
          <p:cNvPr id="18" name="file 4"/>
          <p:cNvSpPr txBox="1"/>
          <p:nvPr/>
        </p:nvSpPr>
        <p:spPr>
          <a:xfrm>
            <a:off x="7223760" y="3648456"/>
            <a:ext cx="2377440" cy="365760"/>
          </a:xfrm>
          <a:prstGeom prst="rect">
            <a:avLst/>
          </a:prstGeom>
          <a:noFill/>
          <a:ln/>
        </p:spPr>
        <p:txBody>
          <a:bodyPr wrap="square" lIns="0" tIns="0" rIns="0" bIns="0" rtlCol="0" anchor="ctr"/>
          <a:lstStyle/>
          <a:p>
            <a:pPr indent="0" marL="0">
              <a:buNone/>
            </a:pPr>
            <a:r>
              <a:rPr lang="en-US" sz="1300" dirty="0">
                <a:solidFill>
                  <a:srgbClr val="A1A1A6"/>
                </a:solidFill>
                <a:latin typeface="Courier New" pitchFamily="34" charset="0"/>
                <a:ea typeface="Courier New" pitchFamily="34" charset="-122"/>
                <a:cs typeface="Courier New" pitchFamily="34" charset="-120"/>
              </a:rPr>
              <a:t>llm_baseline.json</a:t>
            </a:r>
            <a:endParaRPr lang="en-US" sz="1300" dirty="0"/>
          </a:p>
        </p:txBody>
      </p:sp>
      <p:sp>
        <p:nvSpPr>
          <p:cNvPr id="19" name="file 4 number"/>
          <p:cNvSpPr txBox="1"/>
          <p:nvPr/>
        </p:nvSpPr>
        <p:spPr>
          <a:xfrm>
            <a:off x="9418320" y="3648456"/>
            <a:ext cx="1691640" cy="365760"/>
          </a:xfrm>
          <a:prstGeom prst="rect">
            <a:avLst/>
          </a:prstGeom>
          <a:noFill/>
          <a:ln/>
        </p:spPr>
        <p:txBody>
          <a:bodyPr wrap="square" lIns="0" tIns="0" rIns="0" bIns="0" rtlCol="0" anchor="ctr"/>
          <a:lstStyle/>
          <a:p>
            <a:pPr algn="r" indent="0" marL="0">
              <a:buNone/>
            </a:pPr>
            <a:r>
              <a:rPr lang="en-US" sz="1500" b="1" dirty="0">
                <a:solidFill>
                  <a:srgbClr val="F5F5F7"/>
                </a:solidFill>
                <a:latin typeface="Arial" pitchFamily="34" charset="0"/>
                <a:ea typeface="Arial" pitchFamily="34" charset="-122"/>
                <a:cs typeface="Arial" pitchFamily="34" charset="-120"/>
              </a:rPr>
              <a:t>21 vs 11</a:t>
            </a:r>
            <a:endParaRPr lang="en-US" sz="1500" dirty="0"/>
          </a:p>
        </p:txBody>
      </p:sp>
      <p:sp>
        <p:nvSpPr>
          <p:cNvPr id="20" name="file 5"/>
          <p:cNvSpPr txBox="1"/>
          <p:nvPr/>
        </p:nvSpPr>
        <p:spPr>
          <a:xfrm>
            <a:off x="7223760" y="4178808"/>
            <a:ext cx="2377440" cy="365760"/>
          </a:xfrm>
          <a:prstGeom prst="rect">
            <a:avLst/>
          </a:prstGeom>
          <a:noFill/>
          <a:ln/>
        </p:spPr>
        <p:txBody>
          <a:bodyPr wrap="square" lIns="0" tIns="0" rIns="0" bIns="0" rtlCol="0" anchor="ctr"/>
          <a:lstStyle/>
          <a:p>
            <a:pPr indent="0" marL="0">
              <a:buNone/>
            </a:pPr>
            <a:r>
              <a:rPr lang="en-US" sz="1300" dirty="0">
                <a:solidFill>
                  <a:srgbClr val="A1A1A6"/>
                </a:solidFill>
                <a:latin typeface="Courier New" pitchFamily="34" charset="0"/>
                <a:ea typeface="Courier New" pitchFamily="34" charset="-122"/>
                <a:cs typeface="Courier New" pitchFamily="34" charset="-120"/>
              </a:rPr>
              <a:t>phone_parity.json</a:t>
            </a:r>
            <a:endParaRPr lang="en-US" sz="1300" dirty="0"/>
          </a:p>
        </p:txBody>
      </p:sp>
      <p:sp>
        <p:nvSpPr>
          <p:cNvPr id="21" name="file 5 number"/>
          <p:cNvSpPr txBox="1"/>
          <p:nvPr/>
        </p:nvSpPr>
        <p:spPr>
          <a:xfrm>
            <a:off x="9418320" y="4178808"/>
            <a:ext cx="1691640" cy="365760"/>
          </a:xfrm>
          <a:prstGeom prst="rect">
            <a:avLst/>
          </a:prstGeom>
          <a:noFill/>
          <a:ln/>
        </p:spPr>
        <p:txBody>
          <a:bodyPr wrap="square" lIns="0" tIns="0" rIns="0" bIns="0" rtlCol="0" anchor="ctr"/>
          <a:lstStyle/>
          <a:p>
            <a:pPr algn="r" indent="0" marL="0">
              <a:buNone/>
            </a:pPr>
            <a:r>
              <a:rPr lang="en-US" sz="1500" b="1" dirty="0">
                <a:solidFill>
                  <a:srgbClr val="F5F5F7"/>
                </a:solidFill>
                <a:latin typeface="Arial" pitchFamily="34" charset="0"/>
                <a:ea typeface="Arial" pitchFamily="34" charset="-122"/>
                <a:cs typeface="Arial" pitchFamily="34" charset="-120"/>
              </a:rPr>
              <a:t>1,841 of 1,841</a:t>
            </a:r>
            <a:endParaRPr lang="en-US" sz="1500" dirty="0"/>
          </a:p>
        </p:txBody>
      </p:sp>
      <p:sp>
        <p:nvSpPr>
          <p:cNvPr id="22" name="file 6"/>
          <p:cNvSpPr txBox="1"/>
          <p:nvPr/>
        </p:nvSpPr>
        <p:spPr>
          <a:xfrm>
            <a:off x="7223760" y="4709160"/>
            <a:ext cx="2377440" cy="365760"/>
          </a:xfrm>
          <a:prstGeom prst="rect">
            <a:avLst/>
          </a:prstGeom>
          <a:noFill/>
          <a:ln/>
        </p:spPr>
        <p:txBody>
          <a:bodyPr wrap="square" lIns="0" tIns="0" rIns="0" bIns="0" rtlCol="0" anchor="ctr"/>
          <a:lstStyle/>
          <a:p>
            <a:pPr indent="0" marL="0">
              <a:buNone/>
            </a:pPr>
            <a:r>
              <a:rPr lang="en-US" sz="1300" dirty="0">
                <a:solidFill>
                  <a:srgbClr val="A1A1A6"/>
                </a:solidFill>
                <a:latin typeface="Courier New" pitchFamily="34" charset="0"/>
                <a:ea typeface="Courier New" pitchFamily="34" charset="-122"/>
                <a:cs typeface="Courier New" pitchFamily="34" charset="-120"/>
              </a:rPr>
              <a:t>facts_v3.json</a:t>
            </a:r>
            <a:endParaRPr lang="en-US" sz="1300" dirty="0"/>
          </a:p>
        </p:txBody>
      </p:sp>
      <p:sp>
        <p:nvSpPr>
          <p:cNvPr id="23" name="file 6 number"/>
          <p:cNvSpPr txBox="1"/>
          <p:nvPr/>
        </p:nvSpPr>
        <p:spPr>
          <a:xfrm>
            <a:off x="9418320" y="4709160"/>
            <a:ext cx="1691640" cy="365760"/>
          </a:xfrm>
          <a:prstGeom prst="rect">
            <a:avLst/>
          </a:prstGeom>
          <a:noFill/>
          <a:ln/>
        </p:spPr>
        <p:txBody>
          <a:bodyPr wrap="square" lIns="0" tIns="0" rIns="0" bIns="0" rtlCol="0" anchor="ctr"/>
          <a:lstStyle/>
          <a:p>
            <a:pPr algn="r" indent="0" marL="0">
              <a:buNone/>
            </a:pPr>
            <a:r>
              <a:rPr lang="en-US" sz="1500" b="1" dirty="0">
                <a:solidFill>
                  <a:srgbClr val="F5F5F7"/>
                </a:solidFill>
                <a:latin typeface="Arial" pitchFamily="34" charset="0"/>
                <a:ea typeface="Arial" pitchFamily="34" charset="-122"/>
                <a:cs typeface="Arial" pitchFamily="34" charset="-120"/>
              </a:rPr>
              <a:t>₹4 lakh a minute</a:t>
            </a:r>
            <a:endParaRPr lang="en-US" sz="1500" dirty="0"/>
          </a:p>
        </p:txBody>
      </p:sp>
      <p:sp>
        <p:nvSpPr>
          <p:cNvPr id="24" name="source"/>
          <p:cNvSpPr txBox="1"/>
          <p:nvPr/>
        </p:nvSpPr>
        <p:spPr>
          <a:xfrm>
            <a:off x="822960" y="6400800"/>
            <a:ext cx="10545775" cy="256032"/>
          </a:xfrm>
          <a:prstGeom prst="rect">
            <a:avLst/>
          </a:prstGeom>
          <a:noFill/>
          <a:ln/>
        </p:spPr>
        <p:txBody>
          <a:bodyPr wrap="square" lIns="0" tIns="0" rIns="0" bIns="0" rtlCol="0" anchor="t"/>
          <a:lstStyle/>
          <a:p>
            <a:pPr indent="0" marL="0">
              <a:buNone/>
            </a:pPr>
            <a:r>
              <a:rPr lang="en-US" sz="1050" dirty="0">
                <a:solidFill>
                  <a:srgbClr val="6E6E73"/>
                </a:solidFill>
                <a:latin typeface="Arial" pitchFamily="34" charset="0"/>
                <a:ea typeface="Arial" pitchFamily="34" charset="-122"/>
                <a:cs typeface="Arial" pitchFamily="34" charset="-120"/>
              </a:rPr>
              <a:t>github.com/ishmiit/Sahayak · results in bench/results, outside numbers in docs/deck/facts_v3.json, each with its source · MIT licence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hen"/>
          <p:cNvSpPr txBox="1"/>
          <p:nvPr/>
        </p:nvSpPr>
        <p:spPr>
          <a:xfrm>
            <a:off x="457200" y="1143000"/>
            <a:ext cx="11277295" cy="548640"/>
          </a:xfrm>
          <a:prstGeom prst="rect">
            <a:avLst/>
          </a:prstGeom>
          <a:noFill/>
          <a:ln/>
        </p:spPr>
        <p:txBody>
          <a:bodyPr wrap="square" lIns="0" tIns="0" rIns="0" bIns="0" rtlCol="0" anchor="t"/>
          <a:lstStyle/>
          <a:p>
            <a:pPr algn="ctr" indent="0" marL="0">
              <a:buNone/>
            </a:pPr>
            <a:r>
              <a:rPr lang="en-US" sz="3000" dirty="0">
                <a:solidFill>
                  <a:srgbClr val="6E6E73"/>
                </a:solidFill>
                <a:latin typeface="Arial" pitchFamily="34" charset="0"/>
                <a:ea typeface="Arial" pitchFamily="34" charset="-122"/>
                <a:cs typeface="Arial" pitchFamily="34" charset="-120"/>
              </a:rPr>
              <a:t>Nine at night. The bank is closed.</a:t>
            </a:r>
            <a:endParaRPr lang="en-US" sz="3000" dirty="0"/>
          </a:p>
        </p:txBody>
      </p:sp>
      <p:sp>
        <p:nvSpPr>
          <p:cNvPr id="3" name="now"/>
          <p:cNvSpPr txBox="1"/>
          <p:nvPr/>
        </p:nvSpPr>
        <p:spPr>
          <a:xfrm>
            <a:off x="457200" y="1783080"/>
            <a:ext cx="11277295" cy="1097280"/>
          </a:xfrm>
          <a:prstGeom prst="rect">
            <a:avLst/>
          </a:prstGeom>
          <a:noFill/>
          <a:ln/>
        </p:spPr>
        <p:txBody>
          <a:bodyPr wrap="square" lIns="0" tIns="0" rIns="0" bIns="0" rtlCol="0" anchor="ctr"/>
          <a:lstStyle/>
          <a:p>
            <a:pPr algn="ctr" indent="0" marL="0">
              <a:buNone/>
            </a:pPr>
            <a:r>
              <a:rPr lang="en-US" sz="6000" b="1" dirty="0">
                <a:solidFill>
                  <a:srgbClr val="F5F5F7"/>
                </a:solidFill>
                <a:latin typeface="Arial" pitchFamily="34" charset="0"/>
                <a:ea typeface="Arial" pitchFamily="34" charset="-122"/>
                <a:cs typeface="Arial" pitchFamily="34" charset="-120"/>
              </a:rPr>
              <a:t>Now she has someone to ask.</a:t>
            </a:r>
            <a:endParaRPr lang="en-US" sz="6000" dirty="0"/>
          </a:p>
        </p:txBody>
      </p:sp>
      <p:sp>
        <p:nvSpPr>
          <p:cNvPr id="4" name="divider"/>
          <p:cNvSpPr/>
          <p:nvPr/>
        </p:nvSpPr>
        <p:spPr>
          <a:xfrm>
            <a:off x="5547208" y="3429000"/>
            <a:ext cx="1097280" cy="0"/>
          </a:xfrm>
          <a:prstGeom prst="line">
            <a:avLst/>
          </a:prstGeom>
          <a:noFill/>
          <a:ln w="9525">
            <a:solidFill>
              <a:srgbClr val="3A3A3E"/>
            </a:solidFill>
            <a:prstDash val="solid"/>
          </a:ln>
        </p:spPr>
      </p:sp>
      <p:sp>
        <p:nvSpPr>
          <p:cNvPr id="5" name="name"/>
          <p:cNvSpPr txBox="1"/>
          <p:nvPr/>
        </p:nvSpPr>
        <p:spPr>
          <a:xfrm>
            <a:off x="457200" y="3749040"/>
            <a:ext cx="11277295" cy="731520"/>
          </a:xfrm>
          <a:prstGeom prst="rect">
            <a:avLst/>
          </a:prstGeom>
          <a:noFill/>
          <a:ln/>
        </p:spPr>
        <p:txBody>
          <a:bodyPr wrap="square" lIns="0" tIns="0" rIns="0" bIns="0" rtlCol="0" anchor="ctr"/>
          <a:lstStyle/>
          <a:p>
            <a:pPr algn="ctr" indent="0" marL="0">
              <a:buNone/>
            </a:pPr>
            <a:r>
              <a:rPr lang="en-US" sz="4400" b="1" dirty="0">
                <a:solidFill>
                  <a:srgbClr val="F5F5F7"/>
                </a:solidFill>
                <a:latin typeface="Arial" pitchFamily="34" charset="0"/>
                <a:ea typeface="Arial" pitchFamily="34" charset="-122"/>
                <a:cs typeface="Arial" pitchFamily="34" charset="-120"/>
              </a:rPr>
              <a:t>Sahayak</a:t>
            </a:r>
            <a:pPr algn="ctr" indent="0" marL="0">
              <a:buNone/>
            </a:pPr>
            <a:r>
              <a:rPr lang="en-US" sz="3000" b="1" dirty="0">
                <a:solidFill>
                  <a:srgbClr val="6FA8FF"/>
                </a:solidFill>
                <a:latin typeface="Nirmala UI" pitchFamily="34" charset="0"/>
                <a:ea typeface="Nirmala UI" pitchFamily="34" charset="-122"/>
                <a:cs typeface="Nirmala UI" pitchFamily="34" charset="-120"/>
              </a:rPr>
              <a:t>  सहायक</a:t>
            </a:r>
            <a:endParaRPr lang="en-US" sz="4400" dirty="0"/>
          </a:p>
        </p:txBody>
      </p:sp>
      <p:sp>
        <p:nvSpPr>
          <p:cNvPr id="6" name="promise"/>
          <p:cNvSpPr txBox="1"/>
          <p:nvPr/>
        </p:nvSpPr>
        <p:spPr>
          <a:xfrm>
            <a:off x="457200" y="4572000"/>
            <a:ext cx="11277295" cy="457200"/>
          </a:xfrm>
          <a:prstGeom prst="rect">
            <a:avLst/>
          </a:prstGeom>
          <a:noFill/>
          <a:ln/>
        </p:spPr>
        <p:txBody>
          <a:bodyPr wrap="square" lIns="0" tIns="0" rIns="0" bIns="0" rtlCol="0" anchor="t"/>
          <a:lstStyle/>
          <a:p>
            <a:pPr algn="ctr" indent="0" marL="0">
              <a:buNone/>
            </a:pPr>
            <a:r>
              <a:rPr lang="en-US" sz="2200" dirty="0">
                <a:solidFill>
                  <a:srgbClr val="F5F5F7"/>
                </a:solidFill>
                <a:latin typeface="Arial" pitchFamily="34" charset="0"/>
                <a:ea typeface="Arial" pitchFamily="34" charset="-122"/>
                <a:cs typeface="Arial" pitchFamily="34" charset="-120"/>
              </a:rPr>
              <a:t>Spot the scam before the money moves.  </a:t>
            </a:r>
            <a:pPr algn="ctr" indent="0" marL="0">
              <a:buNone/>
            </a:pPr>
            <a:r>
              <a:rPr lang="en-US" sz="2200" dirty="0">
                <a:solidFill>
                  <a:srgbClr val="6FA8FF"/>
                </a:solidFill>
                <a:latin typeface="Arial" pitchFamily="34" charset="0"/>
                <a:ea typeface="Arial" pitchFamily="34" charset="-122"/>
                <a:cs typeface="Arial" pitchFamily="34" charset="-120"/>
              </a:rPr>
              <a:t>Claim what you’re owed.</a:t>
            </a:r>
            <a:endParaRPr lang="en-US" sz="2200" dirty="0"/>
          </a:p>
        </p:txBody>
      </p:sp>
      <p:sp>
        <p:nvSpPr>
          <p:cNvPr id="7" name="team"/>
          <p:cNvSpPr txBox="1"/>
          <p:nvPr/>
        </p:nvSpPr>
        <p:spPr>
          <a:xfrm>
            <a:off x="457200" y="5715000"/>
            <a:ext cx="11277295" cy="365760"/>
          </a:xfrm>
          <a:prstGeom prst="rect">
            <a:avLst/>
          </a:prstGeom>
          <a:noFill/>
          <a:ln/>
        </p:spPr>
        <p:txBody>
          <a:bodyPr wrap="square" lIns="0" tIns="0" rIns="0" bIns="0" rtlCol="0" anchor="t"/>
          <a:lstStyle/>
          <a:p>
            <a:pPr algn="ctr" indent="0" marL="0">
              <a:buNone/>
            </a:pPr>
            <a:r>
              <a:rPr lang="en-US" sz="1700" dirty="0">
                <a:solidFill>
                  <a:srgbClr val="A1A1A6"/>
                </a:solidFill>
                <a:latin typeface="Arial" pitchFamily="34" charset="0"/>
                <a:ea typeface="Arial" pitchFamily="34" charset="-122"/>
                <a:cs typeface="Arial" pitchFamily="34" charset="-120"/>
              </a:rPr>
              <a:t>Ishmiit Singh  ·  Roshan Raj</a:t>
            </a:r>
            <a:endParaRPr lang="en-US" sz="1700" dirty="0"/>
          </a:p>
        </p:txBody>
      </p:sp>
    </p:spTree>
  </p:cSld>
  <p:clrMapOvr>
    <a:masterClrMapping/>
  </p:clrMapOvr>
</p:sld>
</file>

<file path=ppt/theme/theme1.xml><?xml version="1.0" encoding="utf-8"?>
<a:theme xmlns:a="http://schemas.openxmlformats.org/drawingml/2006/main" name="Sahayak Keynote">
  <a:themeElements>
    <a:clrScheme name="Sahayak Keynote">
      <a:dk1>
        <a:srgbClr val="000000"/>
      </a:dk1>
      <a:lt1>
        <a:srgbClr val="F5F5F7"/>
      </a:lt1>
      <a:dk2>
        <a:srgbClr val="161618"/>
      </a:dk2>
      <a:lt2>
        <a:srgbClr val="A1A1A6"/>
      </a:lt2>
      <a:accent1>
        <a:srgbClr val="6FA8FF"/>
      </a:accent1>
      <a:accent2>
        <a:srgbClr val="E2C28A"/>
      </a:accent2>
      <a:accent3>
        <a:srgbClr val="4FD68A"/>
      </a:accent3>
      <a:accent4>
        <a:srgbClr val="FF5A52"/>
      </a:accent4>
      <a:accent5>
        <a:srgbClr val="1C1C1E"/>
      </a:accent5>
      <a:accent6>
        <a:srgbClr val="6E6E73"/>
      </a:accent6>
      <a:hlink>
        <a:srgbClr val="6FA8FF"/>
      </a:hlink>
      <a:folHlink>
        <a:srgbClr val="91C1FF"/>
      </a:folHlink>
    </a:clrScheme>
    <a:fontScheme name="Sahayak Keyno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Sahayak: keynote for the Grand Jury Round, Ideas for India 2026</dc:title>
  <dc:subject>PptxGenJS Presentation</dc:subject>
  <dc:creator>Ishmiit Singh, Roshan Raj</dc:creator>
  <cp:lastModifiedBy>Ishmiit Singh, Roshan Raj</cp:lastModifiedBy>
  <cp:revision>1</cp:revision>
  <dcterms:created xsi:type="dcterms:W3CDTF">2026-10-14T04:15:19Z</dcterms:created>
  <dcterms:modified xsi:type="dcterms:W3CDTF">2026-10-14T04:15:19Z</dcterms:modified>
</cp:coreProperties>
</file>