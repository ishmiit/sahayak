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message" id="{f3357668-4d6e-ff7d-3c1e-243e3222afa4}">
          <p14:sldIdLst>
            <p14:sldId id="256"/>
          </p14:sldIdLst>
        </p14:section>
        <p14:section name="Who reads it" id="{e63bdcd9-2913-d9ee-f241-567fa18ef701}">
          <p14:sldIdLst>
            <p14:sldId id="257"/>
          </p14:sldIdLst>
        </p14:section>
        <p14:section name="Every minute" id="{a89f94f2-d4b3-86cb-fe12-b4b85dc11b02}">
          <p14:sldIdLst>
            <p14:sldId id="258"/>
          </p14:sldIdLst>
        </p14:section>
        <p14:section name="Introducing Sahayak" id="{1d03d860-787b-d953-49fc-9b63904cbad0}">
          <p14:sldIdLst>
            <p14:sldId id="259"/>
          </p14:sldIdLst>
        </p14:section>
        <p14:section name="It tells her why" id="{cb9c9a6e-3090-b225-b7a0-ea142e59aa7b}">
          <p14:sldIdLst>
            <p14:sldId id="260"/>
          </p14:sldIdLst>
        </p14:section>
        <p14:section name="What she is owed" id="{dd4d9e4b-c9bd-329d-0e17-be0ccdb458de}">
          <p14:sldIdLst>
            <p14:sldId id="261"/>
          </p14:sldIdLst>
        </p14:section>
        <p14:section name="How it works" id="{7f1a7c5e-24e5-5504-9841-1c87eb0dd541}">
          <p14:sldIdLst>
            <p14:sldId id="262"/>
          </p14:sldIdLst>
        </p14:section>
        <p14:section name="Why rules decide" id="{206d4183-4621-7d3e-04ff-9da9665b7923}">
          <p14:sldIdLst>
            <p14:sldId id="263"/>
          </p14:sldIdLst>
        </p14:section>
        <p14:section name="The honest number" id="{4d0f9a1f-dab4-7f98-7a2f-8753f77b2cb7}">
          <p14:sldIdLst>
            <p14:sldId id="264"/>
          </p14:sldIdLst>
        </p14:section>
        <p14:section name="The pilot" id="{534112f2-29d3-b93b-b299-b7dfb18e82b8}">
          <p14:sldIdLst>
            <p14:sldId id="265"/>
          </p14:sldIdLst>
        </p14:section>
        <p14:section name="The ask" id="{864aa731-9c78-7eb0-1868-87a2d8384dd7}">
          <p14:sldIdLst>
            <p14:sldId id="266"/>
          </p14:sldIdLst>
        </p14:section>
        <p14:section name="One more thing" id="{a3810166-43b9-a6bc-24db-f9a4eb474489}">
          <p14:sldIdLst>
            <p14:sldId id="267"/>
          </p14:sldIdLst>
        </p14:section>
        <p14:section name="Someone to ask" id="{7954f74c-1440-85d1-3594-adb9f7c1d7cd}">
          <p14:sldIdLst>
            <p14:sldId id="268"/>
          </p14:sldIdLst>
        </p14:section>
        <p14:section name="Try it yourself" id="{cac7665d-4b20-ac8f-c45b-ac25e4a359cf}">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scam SMS, large, as a phone shows it: Hindi, with the English below.
DO: Before you walk on: the deck is on slide 1. Nothing in your hands but the clicker.
DO: Walk to the centre and stop. Look at the jury. Say nothing until the room is quiet. (about 2 s)
ISHMIIT: It’s nine at night, and a phone buzzes. You can read it for yourself. Her account closes tonight, unless she updates her KYC. And there’s a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Four words, one per line: 74. 9 PM. Bank closed. Alone.
DO: Click.
ISHMIIT: Now picture who’s holding that phone. She’s seventy-four. Her bank shut hours ago. Her son is in another city. Whatever she does next, she decides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“₹4 lakh”, lost to cyber fraud every minute, on average. Below: ₹22,495 crore in 2025, and ₹4,005 crore of it from senior citizens.
DO: Click. Say nothing for two seconds. Let the number sit. (about 2 s)
ISHMIIT: She isn’t one story. She’s millions. Last year, Indians reported losing over twenty-two thousand crore rupees to cyber fraud. That’s about four lakh rupees every minute,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Sahayak, its two promises, three short pills (CSC and phone, offline, 22 languages), and the app’s home screen.
DO: Click. Take one step toward the jury.
ISHMIIT: So we built her a helper. It’s called Sahayak, and it does two things. It catches the scam before the money moves. And it finds what she’s owed.
ISHMIIT: At the Common Services Centre in her village, or on her own phone, even offline. And every screen, every answer, comes in all twenty-two of India’s scheduled languages.
ISHMIIT: Good morning. I’m Ishmiit Singh, and this is Roshan Raj.
DO: On Roshan’s name, open a hand toward Roshan. Roshan nods.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Sahayak’s answer to that SMS on a phone, “Scam.”, and six short cues: three reasons, three things to do.
DO: Click.
ISHMIIT: Back to her message. She pastes it in, and in under a second: Scam.
ISHMIIT: But a warning people don’t understand gets ignored. So Sahayak tells her why, in plain words. A bank won’t text from a personal number. That link only pretends to be SBI’s.
ISHMIIT: And what to do: don’t tap, keep the message as proof, and if money’s gone, call 1930.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“₹5 lakh” of free hospital care a year, three short cues, and Sahayak’s benefits result for a 74-year-old.
DO: Click.
ISHMIIT: And building this, something surprised us. The people scammers chase are often missing out on what’s already theirs.
ISHMIIT: At seventy-four, she’s entitled to free hospital care, up to five lakh rupees a year, whatever her income. Yet by February, fewer than one in five people over seventy had the card.
ISHMIIT: So Sahayak asks five simple questions, puts that card first, and gives her the exact sentence to say at the counter.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Three cards with a few words each: You ask. Rules decide. A clear answer. Below: phone and counter agree, 1,841 of 1,841.
DO: Click.
ISHMIIT: She can type, speak, describe a call, or photograph a UPI QR code. Sixty-four scam signals run right on the device, so nothing she types leaves her phone.
ISHMIIT: She gets one of four answers, and ‘safe’ isn’t one of them. Because no one can promise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 3B language model against Sahayak on the same 137 real messages. Roshan speaks.
DO: Click.
ISHMIIT: Now, you might ask: why not just let an AI model decide? We asked that too. So we tested one. Roshan.
DO: Turn to Roshan and step back. Roshan steps forward.
ROSHAN: On the same hundred and thirty-seven real messages, it caught more scams than we did.
ROSHAN: But it called twenty-one of thirty-four genuine messages a scam. We did that eleven times. A warning that cries wolf gets ignored. So rules decide, and every answer says why.
ISHMIIT: Thank you, Roshan.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“7 in 10” on 137 real messages, scored once, with the two bigger numbers greyed out on the left.
DO: Click.
ISHMIIT: On messages we wrote ourselves, Sahayak caught thirty-four of thirty-seven. But real messages are harder.
ISHMIIT: On a hundred and thirty-seven that people in India actually received, scored once, it caught seven in ten. That’s the number we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district: 20 villages, 50 counters, six months, about ₹39 lakh. The next 30 days.
DO: Click.
ISHMIIT: So, the pilot. One district. Twenty villages. Fifty counters. Six months. About thirty-nine lakh rupees, and the biggest share goes to the local operator at each counter.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“Introduce us to one district.” Above it: 6 lakh CSCs, and the 50 counters we need.
DO: Click. Stop moving. Look at the head juror.
ISHMIIT: And that’s where you come in. India has six lakh Common Services Centres. We need fifty counters.
ISHMIIT: Introduce us to one district. One morning to start, then six months. And we’ll come back with real numbers, from real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Spot the scam: the game on the Learn tab. Two phones: a card (Scam or real?) and Sahayak’s clues after the answer.
DO: Click. Pause. Take one step toward the jury. (about 2 s)
ISHMIIT: And, one more thing. The best defence is spotting a scam before it arrives. So we built a game. Spot the scam. You’ll play it in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Nine at night. Now she has someone to ask. Sahayak, its two promises, and both your names.
DO: Click.
ISHMIIT: So, back to her, one last time. Nine at night. The bank is closed. The link is right there. But now, before she taps, she has someone to ask.
ISHMIIT: Sahayak. Spot the scam before the money moves. Claim what you’re 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deck’s only QR code, and four things to try. The jury explores the app on their phones or on the laptop.
DO: Click.
ISHMIIT: But please, don’t take our word for it. Scan this code, and Sahayak opens on your phone. Nothing to install. No account. Or, if you’d rather watch, Roshan will show you on our laptop.
ROSHAN: Try a scam message, ask what a seventy-four-year-old is owed, or switch to your own language. And turn on airplane mode. It still works.
DO: Hands-on, about two minutes. Roshan drives the app on the laptop (it is on the screen behind you): the Ayushman ₹500 scam, ‘What am I owed?’ as a 74-year-old, a switch to Tamil, the Learn tab, and the new game. Ishmiit walks the demo phone to any juror whose phone won’t scan. Answer what they ask as they try it; keep it short. (about 120 s)
DO: When the first juror looks up, or at two minutes: step back to the centre.
ISHMIIT: Thank you. Roshan and I would love to take your questions.
DO: Roshan steps to the centre for the questions. Ishmiit stays on stage, half a step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TAGE">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MS card"/>
          <p:cNvSpPr/>
          <p:nvPr/>
        </p:nvSpPr>
        <p:spPr>
          <a:xfrm>
            <a:off x="2194560" y="1051560"/>
            <a:ext cx="7799832" cy="3657600"/>
          </a:xfrm>
          <a:prstGeom prst="roundRect">
            <a:avLst>
              <a:gd name="adj" fmla="val 10000"/>
            </a:avLst>
          </a:prstGeom>
          <a:solidFill>
            <a:srgbClr val="1C1C1E"/>
          </a:solidFill>
          <a:ln w="12700">
            <a:solidFill>
              <a:srgbClr val="2C2C30"/>
            </a:solidFill>
            <a:prstDash val="solid"/>
          </a:ln>
        </p:spPr>
      </p:sp>
      <p:sp>
        <p:nvSpPr>
          <p:cNvPr id="3" name="SMS icon"/>
          <p:cNvSpPr/>
          <p:nvPr/>
        </p:nvSpPr>
        <p:spPr>
          <a:xfrm>
            <a:off x="2606040" y="1417320"/>
            <a:ext cx="438912" cy="438912"/>
          </a:xfrm>
          <a:prstGeom prst="roundRect">
            <a:avLst>
              <a:gd name="adj" fmla="val 25000"/>
            </a:avLst>
          </a:prstGeom>
          <a:solidFill>
            <a:srgbClr val="4FD68A"/>
          </a:solidFill>
          <a:ln/>
        </p:spPr>
      </p:sp>
      <p:sp>
        <p:nvSpPr>
          <p:cNvPr id="4" name="sender"/>
          <p:cNvSpPr txBox="1"/>
          <p:nvPr/>
        </p:nvSpPr>
        <p:spPr>
          <a:xfrm>
            <a:off x="3200400" y="1417320"/>
            <a:ext cx="4572000" cy="438912"/>
          </a:xfrm>
          <a:prstGeom prst="rect">
            <a:avLst/>
          </a:prstGeom>
          <a:noFill/>
          <a:ln/>
        </p:spPr>
        <p:txBody>
          <a:bodyPr wrap="square" lIns="0" tIns="0" rIns="0" bIns="0" rtlCol="0" anchor="ctr"/>
          <a:lstStyle/>
          <a:p>
            <a:pPr indent="0" marL="0">
              <a:buNone/>
            </a:pPr>
            <a:r>
              <a:rPr lang="en-US" sz="1900" b="1" dirty="0">
                <a:solidFill>
                  <a:srgbClr val="F5F5F7"/>
                </a:solidFill>
                <a:latin typeface="Arial" pitchFamily="34" charset="0"/>
                <a:ea typeface="Arial" pitchFamily="34" charset="-122"/>
                <a:cs typeface="Arial" pitchFamily="34" charset="-120"/>
              </a:rPr>
              <a:t>SMS</a:t>
            </a:r>
            <a:pPr indent="0" marL="0">
              <a:buNone/>
            </a:pPr>
            <a:r>
              <a:rPr lang="en-US" sz="1900" dirty="0">
                <a:solidFill>
                  <a:srgbClr val="A1A1A6"/>
                </a:solidFill>
                <a:latin typeface="Arial" pitchFamily="34" charset="0"/>
                <a:ea typeface="Arial" pitchFamily="34" charset="-122"/>
                <a:cs typeface="Arial" pitchFamily="34" charset="-120"/>
              </a:rPr>
              <a:t>   9876501234</a:t>
            </a:r>
            <a:endParaRPr lang="en-US" sz="1900" dirty="0"/>
          </a:p>
        </p:txBody>
      </p:sp>
      <p:sp>
        <p:nvSpPr>
          <p:cNvPr id="5" name="time"/>
          <p:cNvSpPr txBox="1"/>
          <p:nvPr/>
        </p:nvSpPr>
        <p:spPr>
          <a:xfrm>
            <a:off x="7863840" y="1417320"/>
            <a:ext cx="1737360" cy="438912"/>
          </a:xfrm>
          <a:prstGeom prst="rect">
            <a:avLst/>
          </a:prstGeom>
          <a:noFill/>
          <a:ln/>
        </p:spPr>
        <p:txBody>
          <a:bodyPr wrap="square" lIns="0" tIns="0" rIns="0" bIns="0" rtlCol="0" anchor="ctr"/>
          <a:lstStyle/>
          <a:p>
            <a:pPr algn="r" indent="0" marL="0">
              <a:buNone/>
            </a:pPr>
            <a:r>
              <a:rPr lang="en-US" sz="1700" dirty="0">
                <a:solidFill>
                  <a:srgbClr val="A1A1A6"/>
                </a:solidFill>
                <a:latin typeface="Arial" pitchFamily="34" charset="0"/>
                <a:ea typeface="Arial" pitchFamily="34" charset="-122"/>
                <a:cs typeface="Arial" pitchFamily="34" charset="-120"/>
              </a:rPr>
              <a:t>9:02 PM</a:t>
            </a:r>
            <a:endParaRPr lang="en-US" sz="1700" dirty="0"/>
          </a:p>
        </p:txBody>
      </p:sp>
      <p:sp>
        <p:nvSpPr>
          <p:cNvPr id="6" name="the SMS, in Hindi"/>
          <p:cNvSpPr txBox="1"/>
          <p:nvPr/>
        </p:nvSpPr>
        <p:spPr>
          <a:xfrm>
            <a:off x="2606040" y="2103120"/>
            <a:ext cx="6995160" cy="1691640"/>
          </a:xfrm>
          <a:prstGeom prst="rect">
            <a:avLst/>
          </a:prstGeom>
          <a:noFill/>
          <a:ln/>
        </p:spPr>
        <p:txBody>
          <a:bodyPr wrap="square" lIns="0" tIns="0" rIns="0" bIns="0" rtlCol="0" anchor="t"/>
          <a:lstStyle/>
          <a:p>
            <a:pPr indent="0" marL="0">
              <a:buNone/>
            </a:pPr>
            <a:r>
              <a:rPr lang="en-US" sz="2800" dirty="0">
                <a:solidFill>
                  <a:srgbClr val="F5F5F7"/>
                </a:solidFill>
                <a:latin typeface="Nirmala UI" pitchFamily="34" charset="0"/>
                <a:ea typeface="Nirmala UI" pitchFamily="34" charset="-122"/>
                <a:cs typeface="Nirmala UI" pitchFamily="34" charset="-120"/>
              </a:rPr>
              <a:t>प्रिय ग्राहक, आपके SBI खाते का KYC खत्म हो गया है। तुरंत अपडेट करें, नहीं तो आज रात खाता बंद हो जाएगा।</a:t>
            </a:r>
            <a:endParaRPr lang="en-US" sz="2800" dirty="0"/>
          </a:p>
        </p:txBody>
      </p:sp>
      <p:sp>
        <p:nvSpPr>
          <p:cNvPr id="7" name="the link"/>
          <p:cNvSpPr txBox="1"/>
          <p:nvPr/>
        </p:nvSpPr>
        <p:spPr>
          <a:xfrm>
            <a:off x="2606040" y="3886200"/>
            <a:ext cx="6995160" cy="457200"/>
          </a:xfrm>
          <a:prstGeom prst="rect">
            <a:avLst/>
          </a:prstGeom>
          <a:noFill/>
          <a:ln/>
        </p:spPr>
        <p:txBody>
          <a:bodyPr wrap="square" lIns="0" tIns="0" rIns="0" bIns="0" rtlCol="0" anchor="t"/>
          <a:lstStyle/>
          <a:p>
            <a:pPr indent="0" marL="0">
              <a:buNone/>
            </a:pPr>
            <a:r>
              <a:rPr lang="en-US" sz="2000" dirty="0">
                <a:solidFill>
                  <a:srgbClr val="6FA8FF"/>
                </a:solidFill>
                <a:latin typeface="Nirmala UI" pitchFamily="34" charset="0"/>
                <a:ea typeface="Nirmala UI" pitchFamily="34" charset="-122"/>
                <a:cs typeface="Nirmala UI" pitchFamily="34" charset="-120"/>
              </a:rPr>
              <a:t>लिंक: http://sbi-kyc-update.xyz</a:t>
            </a:r>
            <a:endParaRPr lang="en-US" sz="2000" dirty="0"/>
          </a:p>
        </p:txBody>
      </p:sp>
      <p:sp>
        <p:nvSpPr>
          <p:cNvPr id="8" name="English"/>
          <p:cNvSpPr txBox="1"/>
          <p:nvPr/>
        </p:nvSpPr>
        <p:spPr>
          <a:xfrm>
            <a:off x="1280160" y="5074920"/>
            <a:ext cx="9628632" cy="457200"/>
          </a:xfrm>
          <a:prstGeom prst="rect">
            <a:avLst/>
          </a:prstGeom>
          <a:noFill/>
          <a:ln/>
        </p:spPr>
        <p:txBody>
          <a:bodyPr wrap="square" lIns="0" tIns="0" rIns="0" bIns="0" rtlCol="0" anchor="t"/>
          <a:lstStyle/>
          <a:p>
            <a:pPr algn="ctr" indent="0" marL="0">
              <a:buNone/>
            </a:pPr>
            <a:r>
              <a:rPr lang="en-US" sz="2000" i="1" dirty="0">
                <a:solidFill>
                  <a:srgbClr val="A1A1A6"/>
                </a:solidFill>
                <a:latin typeface="Arial" pitchFamily="34" charset="0"/>
                <a:ea typeface="Arial" pitchFamily="34" charset="-122"/>
                <a:cs typeface="Arial" pitchFamily="34" charset="-120"/>
              </a:rPr>
              <a:t>“Your SBI KYC has expired. Update now, or your account will be closed tonight.”</a:t>
            </a:r>
            <a:endParaRPr lang="en-US" sz="2000" dirty="0"/>
          </a:p>
        </p:txBody>
      </p:sp>
      <p:sp>
        <p:nvSpPr>
          <p:cNvPr id="9" name="source"/>
          <p:cNvSpPr txBox="1"/>
          <p:nvPr/>
        </p:nvSpPr>
        <p:spPr>
          <a:xfrm>
            <a:off x="822960" y="6400800"/>
            <a:ext cx="10545775" cy="256032"/>
          </a:xfrm>
          <a:prstGeom prst="rect">
            <a:avLst/>
          </a:prstGeom>
          <a:noFill/>
          <a:ln/>
        </p:spPr>
        <p:txBody>
          <a:bodyPr wrap="square" lIns="0" tIns="0" rIns="0" bIns="0" rtlCol="0" anchor="t"/>
          <a:lstStyle/>
          <a:p>
            <a:pPr indent="0" marL="0">
              <a:buNone/>
            </a:pPr>
            <a:r>
              <a:rPr lang="en-US" sz="1050" dirty="0">
                <a:solidFill>
                  <a:srgbClr val="6E6E73"/>
                </a:solidFill>
                <a:latin typeface="Arial" pitchFamily="34" charset="0"/>
                <a:ea typeface="Arial" pitchFamily="34" charset="-122"/>
                <a:cs typeface="Arial" pitchFamily="34" charset="-120"/>
              </a:rPr>
              <a:t>A demo message, written by the team in the style of real KYC scams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1463040" y="868680"/>
            <a:ext cx="7315200" cy="310896"/>
          </a:xfrm>
          <a:prstGeom prst="rect">
            <a:avLst/>
          </a:prstGeom>
          <a:noFill/>
          <a:ln/>
        </p:spPr>
        <p:txBody>
          <a:bodyPr wrap="square" lIns="0" tIns="0" rIns="0" bIns="0" rtlCol="0" anchor="t"/>
          <a:lstStyle/>
          <a:p>
            <a:pPr indent="0" marL="0">
              <a:buNone/>
            </a:pPr>
            <a:r>
              <a:rPr lang="en-US" sz="1400" b="1" spc="300" kern="0" dirty="0">
                <a:solidFill>
                  <a:srgbClr val="6FA8FF"/>
                </a:solidFill>
                <a:latin typeface="Arial" pitchFamily="34" charset="0"/>
                <a:ea typeface="Arial" pitchFamily="34" charset="-122"/>
                <a:cs typeface="Arial" pitchFamily="34" charset="-120"/>
              </a:rPr>
              <a:t>WHO READS IT</a:t>
            </a:r>
            <a:endParaRPr lang="en-US" sz="1400" dirty="0"/>
          </a:p>
        </p:txBody>
      </p:sp>
      <p:sp>
        <p:nvSpPr>
          <p:cNvPr id="3" name="line 1"/>
          <p:cNvSpPr txBox="1"/>
          <p:nvPr/>
        </p:nvSpPr>
        <p:spPr>
          <a:xfrm>
            <a:off x="1463040" y="1325880"/>
            <a:ext cx="9144000" cy="914400"/>
          </a:xfrm>
          <a:prstGeom prst="rect">
            <a:avLst/>
          </a:prstGeom>
          <a:noFill/>
          <a:ln/>
        </p:spPr>
        <p:txBody>
          <a:bodyPr wrap="square" lIns="0" tIns="0" rIns="0" bIns="0" rtlCol="0" anchor="ctr"/>
          <a:lstStyle/>
          <a:p>
            <a:pPr indent="0" marL="0">
              <a:buNone/>
            </a:pPr>
            <a:r>
              <a:rPr lang="en-US" sz="6000" b="1" dirty="0">
                <a:solidFill>
                  <a:srgbClr val="F5F5F7"/>
                </a:solidFill>
                <a:latin typeface="Arial" pitchFamily="34" charset="0"/>
                <a:ea typeface="Arial" pitchFamily="34" charset="-122"/>
                <a:cs typeface="Arial" pitchFamily="34" charset="-120"/>
              </a:rPr>
              <a:t>74.</a:t>
            </a:r>
            <a:endParaRPr lang="en-US" sz="6000" dirty="0"/>
          </a:p>
        </p:txBody>
      </p:sp>
      <p:sp>
        <p:nvSpPr>
          <p:cNvPr id="4" name="line 2"/>
          <p:cNvSpPr txBox="1"/>
          <p:nvPr/>
        </p:nvSpPr>
        <p:spPr>
          <a:xfrm>
            <a:off x="1463040" y="2350008"/>
            <a:ext cx="9144000" cy="914400"/>
          </a:xfrm>
          <a:prstGeom prst="rect">
            <a:avLst/>
          </a:prstGeom>
          <a:noFill/>
          <a:ln/>
        </p:spPr>
        <p:txBody>
          <a:bodyPr wrap="square" lIns="0" tIns="0" rIns="0" bIns="0" rtlCol="0" anchor="ctr"/>
          <a:lstStyle/>
          <a:p>
            <a:pPr indent="0" marL="0">
              <a:buNone/>
            </a:pPr>
            <a:r>
              <a:rPr lang="en-US" sz="6000" b="1" dirty="0">
                <a:solidFill>
                  <a:srgbClr val="F5F5F7"/>
                </a:solidFill>
                <a:latin typeface="Arial" pitchFamily="34" charset="0"/>
                <a:ea typeface="Arial" pitchFamily="34" charset="-122"/>
                <a:cs typeface="Arial" pitchFamily="34" charset="-120"/>
              </a:rPr>
              <a:t>9 PM.</a:t>
            </a:r>
            <a:endParaRPr lang="en-US" sz="6000" dirty="0"/>
          </a:p>
        </p:txBody>
      </p:sp>
      <p:sp>
        <p:nvSpPr>
          <p:cNvPr id="5" name="line 3"/>
          <p:cNvSpPr txBox="1"/>
          <p:nvPr/>
        </p:nvSpPr>
        <p:spPr>
          <a:xfrm>
            <a:off x="1463040" y="3374136"/>
            <a:ext cx="9144000" cy="914400"/>
          </a:xfrm>
          <a:prstGeom prst="rect">
            <a:avLst/>
          </a:prstGeom>
          <a:noFill/>
          <a:ln/>
        </p:spPr>
        <p:txBody>
          <a:bodyPr wrap="square" lIns="0" tIns="0" rIns="0" bIns="0" rtlCol="0" anchor="ctr"/>
          <a:lstStyle/>
          <a:p>
            <a:pPr indent="0" marL="0">
              <a:buNone/>
            </a:pPr>
            <a:r>
              <a:rPr lang="en-US" sz="6000" b="1" dirty="0">
                <a:solidFill>
                  <a:srgbClr val="F5F5F7"/>
                </a:solidFill>
                <a:latin typeface="Arial" pitchFamily="34" charset="0"/>
                <a:ea typeface="Arial" pitchFamily="34" charset="-122"/>
                <a:cs typeface="Arial" pitchFamily="34" charset="-120"/>
              </a:rPr>
              <a:t>Bank closed.</a:t>
            </a:r>
            <a:endParaRPr lang="en-US" sz="6000" dirty="0"/>
          </a:p>
        </p:txBody>
      </p:sp>
      <p:sp>
        <p:nvSpPr>
          <p:cNvPr id="6" name="line 4"/>
          <p:cNvSpPr txBox="1"/>
          <p:nvPr/>
        </p:nvSpPr>
        <p:spPr>
          <a:xfrm>
            <a:off x="1463040" y="4398264"/>
            <a:ext cx="9144000" cy="914400"/>
          </a:xfrm>
          <a:prstGeom prst="rect">
            <a:avLst/>
          </a:prstGeom>
          <a:noFill/>
          <a:ln/>
        </p:spPr>
        <p:txBody>
          <a:bodyPr wrap="square" lIns="0" tIns="0" rIns="0" bIns="0" rtlCol="0" anchor="ctr"/>
          <a:lstStyle/>
          <a:p>
            <a:pPr indent="0" marL="0">
              <a:buNone/>
            </a:pPr>
            <a:r>
              <a:rPr lang="en-US" sz="6000" b="1" dirty="0">
                <a:solidFill>
                  <a:srgbClr val="E2C28A"/>
                </a:solidFill>
                <a:latin typeface="Arial" pitchFamily="34" charset="0"/>
                <a:ea typeface="Arial" pitchFamily="34" charset="-122"/>
                <a:cs typeface="Arial" pitchFamily="34" charset="-120"/>
              </a:rPr>
              <a:t>Alone.</a:t>
            </a:r>
            <a:endParaRPr lang="en-US" sz="6000" dirty="0"/>
          </a:p>
        </p:txBody>
      </p:sp>
      <p:sp>
        <p:nvSpPr>
          <p:cNvPr id="7" name="source"/>
          <p:cNvSpPr txBox="1"/>
          <p:nvPr/>
        </p:nvSpPr>
        <p:spPr>
          <a:xfrm>
            <a:off x="822960" y="6400800"/>
            <a:ext cx="10545775" cy="256032"/>
          </a:xfrm>
          <a:prstGeom prst="rect">
            <a:avLst/>
          </a:prstGeom>
          <a:noFill/>
          <a:ln/>
        </p:spPr>
        <p:txBody>
          <a:bodyPr wrap="square" lIns="0" tIns="0" rIns="0" bIns="0" rtlCol="0" anchor="t"/>
          <a:lstStyle/>
          <a:p>
            <a:pPr indent="0" marL="0">
              <a:buNone/>
            </a:pPr>
            <a:r>
              <a:rPr lang="en-US" sz="1050" dirty="0">
                <a:solidFill>
                  <a:srgbClr val="6E6E73"/>
                </a:solidFill>
                <a:latin typeface="Arial" pitchFamily="34" charset="0"/>
                <a:ea typeface="Arial" pitchFamily="34" charset="-122"/>
                <a:cs typeface="Arial" pitchFamily="34" charset="-120"/>
              </a:rPr>
              <a:t>A demo persona, not a real person</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he number"/>
          <p:cNvSpPr txBox="1"/>
          <p:nvPr/>
        </p:nvSpPr>
        <p:spPr>
          <a:xfrm>
            <a:off x="822960" y="868680"/>
            <a:ext cx="10515600" cy="2286000"/>
          </a:xfrm>
          <a:prstGeom prst="rect">
            <a:avLst/>
          </a:prstGeom>
          <a:noFill/>
          <a:ln/>
        </p:spPr>
        <p:txBody>
          <a:bodyPr wrap="square" lIns="0" tIns="0" rIns="0" bIns="0" rtlCol="0" anchor="ctr"/>
          <a:lstStyle/>
          <a:p>
            <a:pPr indent="0" marL="0">
              <a:buNone/>
            </a:pPr>
            <a:r>
              <a:rPr lang="en-US" sz="16000" b="1" dirty="0">
                <a:solidFill>
                  <a:srgbClr val="E2C28A"/>
                </a:solidFill>
                <a:latin typeface="Arial" pitchFamily="34" charset="0"/>
                <a:ea typeface="Arial" pitchFamily="34" charset="-122"/>
                <a:cs typeface="Arial" pitchFamily="34" charset="-120"/>
              </a:rPr>
              <a:t>₹4 lakh</a:t>
            </a:r>
            <a:endParaRPr lang="en-US" sz="16000" dirty="0"/>
          </a:p>
        </p:txBody>
      </p:sp>
      <p:sp>
        <p:nvSpPr>
          <p:cNvPr id="3" name="what it means"/>
          <p:cNvSpPr txBox="1"/>
          <p:nvPr/>
        </p:nvSpPr>
        <p:spPr>
          <a:xfrm>
            <a:off x="896112" y="3246120"/>
            <a:ext cx="10515600" cy="640080"/>
          </a:xfrm>
          <a:prstGeom prst="rect">
            <a:avLst/>
          </a:prstGeom>
          <a:noFill/>
          <a:ln/>
        </p:spPr>
        <p:txBody>
          <a:bodyPr wrap="square" lIns="0" tIns="0" rIns="0" bIns="0" rtlCol="0" anchor="t"/>
          <a:lstStyle/>
          <a:p>
            <a:pPr indent="0" marL="0">
              <a:buNone/>
            </a:pPr>
            <a:r>
              <a:rPr lang="en-US" sz="3000" dirty="0">
                <a:solidFill>
                  <a:srgbClr val="F5F5F7"/>
                </a:solidFill>
                <a:latin typeface="Arial" pitchFamily="34" charset="0"/>
                <a:ea typeface="Arial" pitchFamily="34" charset="-122"/>
                <a:cs typeface="Arial" pitchFamily="34" charset="-120"/>
              </a:rPr>
              <a:t>lost to cyber fraud in India, every minute, on average.</a:t>
            </a:r>
            <a:endParaRPr lang="en-US" sz="3000" dirty="0"/>
          </a:p>
        </p:txBody>
      </p:sp>
      <p:sp>
        <p:nvSpPr>
          <p:cNvPr id="4" name="stat 1 rule"/>
          <p:cNvSpPr/>
          <p:nvPr/>
        </p:nvSpPr>
        <p:spPr>
          <a:xfrm>
            <a:off x="896112" y="4434840"/>
            <a:ext cx="4572000" cy="0"/>
          </a:xfrm>
          <a:prstGeom prst="line">
            <a:avLst/>
          </a:prstGeom>
          <a:noFill/>
          <a:ln w="9525">
            <a:solidFill>
              <a:srgbClr val="3A3A3E"/>
            </a:solidFill>
            <a:prstDash val="solid"/>
          </a:ln>
        </p:spPr>
      </p:sp>
      <p:sp>
        <p:nvSpPr>
          <p:cNvPr id="5" name="stat 1"/>
          <p:cNvSpPr txBox="1"/>
          <p:nvPr/>
        </p:nvSpPr>
        <p:spPr>
          <a:xfrm>
            <a:off x="896112" y="4572000"/>
            <a:ext cx="4572000" cy="594360"/>
          </a:xfrm>
          <a:prstGeom prst="rect">
            <a:avLst/>
          </a:prstGeom>
          <a:noFill/>
          <a:ln/>
        </p:spPr>
        <p:txBody>
          <a:bodyPr wrap="square" lIns="0" tIns="0" rIns="0" bIns="0" rtlCol="0" anchor="t"/>
          <a:lstStyle/>
          <a:p>
            <a:pPr indent="0" marL="0">
              <a:buNone/>
            </a:pPr>
            <a:r>
              <a:rPr lang="en-US" sz="3200" b="1" dirty="0">
                <a:solidFill>
                  <a:srgbClr val="F5F5F7"/>
                </a:solidFill>
                <a:latin typeface="Arial" pitchFamily="34" charset="0"/>
                <a:ea typeface="Arial" pitchFamily="34" charset="-122"/>
                <a:cs typeface="Arial" pitchFamily="34" charset="-120"/>
              </a:rPr>
              <a:t>₹22,495 crore</a:t>
            </a:r>
            <a:endParaRPr lang="en-US" sz="3200" dirty="0"/>
          </a:p>
        </p:txBody>
      </p:sp>
      <p:sp>
        <p:nvSpPr>
          <p:cNvPr id="6" name="stat 1 label"/>
          <p:cNvSpPr txBox="1"/>
          <p:nvPr/>
        </p:nvSpPr>
        <p:spPr>
          <a:xfrm>
            <a:off x="896112" y="5166360"/>
            <a:ext cx="4572000" cy="365760"/>
          </a:xfrm>
          <a:prstGeom prst="rect">
            <a:avLst/>
          </a:prstGeom>
          <a:noFill/>
          <a:ln/>
        </p:spPr>
        <p:txBody>
          <a:bodyPr wrap="square" lIns="0" tIns="0" rIns="0" bIns="0" rtlCol="0" anchor="t"/>
          <a:lstStyle/>
          <a:p>
            <a:pPr indent="0" marL="0">
              <a:buNone/>
            </a:pPr>
            <a:r>
              <a:rPr lang="en-US" sz="1700" dirty="0">
                <a:solidFill>
                  <a:srgbClr val="A1A1A6"/>
                </a:solidFill>
                <a:latin typeface="Arial" pitchFamily="34" charset="0"/>
                <a:ea typeface="Arial" pitchFamily="34" charset="-122"/>
                <a:cs typeface="Arial" pitchFamily="34" charset="-120"/>
              </a:rPr>
              <a:t>lost in 2025, across 24 lakh complaints</a:t>
            </a:r>
            <a:endParaRPr lang="en-US" sz="1700" dirty="0"/>
          </a:p>
        </p:txBody>
      </p:sp>
      <p:sp>
        <p:nvSpPr>
          <p:cNvPr id="7" name="stat 2 rule"/>
          <p:cNvSpPr/>
          <p:nvPr/>
        </p:nvSpPr>
        <p:spPr>
          <a:xfrm>
            <a:off x="6016752" y="4434840"/>
            <a:ext cx="4572000" cy="0"/>
          </a:xfrm>
          <a:prstGeom prst="line">
            <a:avLst/>
          </a:prstGeom>
          <a:noFill/>
          <a:ln w="9525">
            <a:solidFill>
              <a:srgbClr val="3A3A3E"/>
            </a:solidFill>
            <a:prstDash val="solid"/>
          </a:ln>
        </p:spPr>
      </p:sp>
      <p:sp>
        <p:nvSpPr>
          <p:cNvPr id="8" name="stat 2"/>
          <p:cNvSpPr txBox="1"/>
          <p:nvPr/>
        </p:nvSpPr>
        <p:spPr>
          <a:xfrm>
            <a:off x="6016752" y="4572000"/>
            <a:ext cx="4572000" cy="594360"/>
          </a:xfrm>
          <a:prstGeom prst="rect">
            <a:avLst/>
          </a:prstGeom>
          <a:noFill/>
          <a:ln/>
        </p:spPr>
        <p:txBody>
          <a:bodyPr wrap="square" lIns="0" tIns="0" rIns="0" bIns="0" rtlCol="0" anchor="t"/>
          <a:lstStyle/>
          <a:p>
            <a:pPr indent="0" marL="0">
              <a:buNone/>
            </a:pPr>
            <a:r>
              <a:rPr lang="en-US" sz="3200" b="1" dirty="0">
                <a:solidFill>
                  <a:srgbClr val="F5F5F7"/>
                </a:solidFill>
                <a:latin typeface="Arial" pitchFamily="34" charset="0"/>
                <a:ea typeface="Arial" pitchFamily="34" charset="-122"/>
                <a:cs typeface="Arial" pitchFamily="34" charset="-120"/>
              </a:rPr>
              <a:t>₹4,005 crore</a:t>
            </a:r>
            <a:endParaRPr lang="en-US" sz="3200" dirty="0"/>
          </a:p>
        </p:txBody>
      </p:sp>
      <p:sp>
        <p:nvSpPr>
          <p:cNvPr id="9" name="stat 2 label"/>
          <p:cNvSpPr txBox="1"/>
          <p:nvPr/>
        </p:nvSpPr>
        <p:spPr>
          <a:xfrm>
            <a:off x="6016752" y="5166360"/>
            <a:ext cx="4572000" cy="365760"/>
          </a:xfrm>
          <a:prstGeom prst="rect">
            <a:avLst/>
          </a:prstGeom>
          <a:noFill/>
          <a:ln/>
        </p:spPr>
        <p:txBody>
          <a:bodyPr wrap="square" lIns="0" tIns="0" rIns="0" bIns="0" rtlCol="0" anchor="t"/>
          <a:lstStyle/>
          <a:p>
            <a:pPr indent="0" marL="0">
              <a:buNone/>
            </a:pPr>
            <a:r>
              <a:rPr lang="en-US" sz="1700" dirty="0">
                <a:solidFill>
                  <a:srgbClr val="A1A1A6"/>
                </a:solidFill>
                <a:latin typeface="Arial" pitchFamily="34" charset="0"/>
                <a:ea typeface="Arial" pitchFamily="34" charset="-122"/>
                <a:cs typeface="Arial" pitchFamily="34" charset="-120"/>
              </a:rPr>
              <a:t>of it, from senior citizens</a:t>
            </a:r>
            <a:endParaRPr lang="en-US" sz="1700" dirty="0"/>
          </a:p>
        </p:txBody>
      </p:sp>
      <p:sp>
        <p:nvSpPr>
          <p:cNvPr id="10" name="source"/>
          <p:cNvSpPr txBox="1"/>
          <p:nvPr/>
        </p:nvSpPr>
        <p:spPr>
          <a:xfrm>
            <a:off x="822960" y="6400800"/>
            <a:ext cx="10545775" cy="256032"/>
          </a:xfrm>
          <a:prstGeom prst="rect">
            <a:avLst/>
          </a:prstGeom>
          <a:noFill/>
          <a:ln/>
        </p:spPr>
        <p:txBody>
          <a:bodyPr wrap="square" lIns="0" tIns="0" rIns="0" bIns="0" rtlCol="0" anchor="t"/>
          <a:lstStyle/>
          <a:p>
            <a:pPr indent="0" marL="0">
              <a:buNone/>
            </a:pPr>
            <a:r>
              <a:rPr lang="en-US" sz="1050" dirty="0">
                <a:solidFill>
                  <a:srgbClr val="6E6E73"/>
                </a:solidFill>
                <a:latin typeface="Arial" pitchFamily="34" charset="0"/>
                <a:ea typeface="Arial" pitchFamily="34" charset="-122"/>
                <a:cs typeface="Arial" pitchFamily="34" charset="-120"/>
              </a:rPr>
              <a:t>MHA / I4C, Rajya Sabha, Feb 2026; seniors: MHA, Rajya Sabha, 5 Aug 2026. Spread evenly over the year, ₹22,495 crore is about ₹7,133 a second.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822960" y="868680"/>
            <a:ext cx="7315200" cy="310896"/>
          </a:xfrm>
          <a:prstGeom prst="rect">
            <a:avLst/>
          </a:prstGeom>
          <a:noFill/>
          <a:ln/>
        </p:spPr>
        <p:txBody>
          <a:bodyPr wrap="square" lIns="0" tIns="0" rIns="0" bIns="0" rtlCol="0" anchor="t"/>
          <a:lstStyle/>
          <a:p>
            <a:pPr indent="0" marL="0">
              <a:buNone/>
            </a:pPr>
            <a:r>
              <a:rPr lang="en-US" sz="1400" b="1" spc="300" kern="0" dirty="0">
                <a:solidFill>
                  <a:srgbClr val="6FA8FF"/>
                </a:solidFill>
                <a:latin typeface="Arial" pitchFamily="34" charset="0"/>
                <a:ea typeface="Arial" pitchFamily="34" charset="-122"/>
                <a:cs typeface="Arial" pitchFamily="34" charset="-120"/>
              </a:rPr>
              <a:t>INTRODUCING</a:t>
            </a:r>
            <a:endParaRPr lang="en-US" sz="1400" dirty="0"/>
          </a:p>
        </p:txBody>
      </p:sp>
      <p:sp>
        <p:nvSpPr>
          <p:cNvPr id="3" name="name"/>
          <p:cNvSpPr txBox="1"/>
          <p:nvPr/>
        </p:nvSpPr>
        <p:spPr>
          <a:xfrm>
            <a:off x="822960" y="1188720"/>
            <a:ext cx="7772400" cy="1234440"/>
          </a:xfrm>
          <a:prstGeom prst="rect">
            <a:avLst/>
          </a:prstGeom>
          <a:noFill/>
          <a:ln/>
        </p:spPr>
        <p:txBody>
          <a:bodyPr wrap="square" lIns="0" tIns="0" rIns="0" bIns="0" rtlCol="0" anchor="ctr"/>
          <a:lstStyle/>
          <a:p>
            <a:pPr indent="0" marL="0">
              <a:buNone/>
            </a:pPr>
            <a:r>
              <a:rPr lang="en-US" sz="8800" b="1" dirty="0">
                <a:solidFill>
                  <a:srgbClr val="F5F5F7"/>
                </a:solidFill>
                <a:latin typeface="Arial" pitchFamily="34" charset="0"/>
                <a:ea typeface="Arial" pitchFamily="34" charset="-122"/>
                <a:cs typeface="Arial" pitchFamily="34" charset="-120"/>
              </a:rPr>
              <a:t>Sahayak</a:t>
            </a:r>
            <a:pPr indent="0" marL="0">
              <a:buNone/>
            </a:pPr>
            <a:r>
              <a:rPr lang="en-US" sz="4800" b="1" dirty="0">
                <a:solidFill>
                  <a:srgbClr val="6FA8FF"/>
                </a:solidFill>
                <a:latin typeface="Nirmala UI" pitchFamily="34" charset="0"/>
                <a:ea typeface="Nirmala UI" pitchFamily="34" charset="-122"/>
                <a:cs typeface="Nirmala UI" pitchFamily="34" charset="-120"/>
              </a:rPr>
              <a:t>  सहायक</a:t>
            </a:r>
            <a:endParaRPr lang="en-US" sz="8800" dirty="0"/>
          </a:p>
        </p:txBody>
      </p:sp>
      <p:sp>
        <p:nvSpPr>
          <p:cNvPr id="4" name="tagline"/>
          <p:cNvSpPr txBox="1"/>
          <p:nvPr/>
        </p:nvSpPr>
        <p:spPr>
          <a:xfrm>
            <a:off x="822960" y="2514600"/>
            <a:ext cx="7315200" cy="457200"/>
          </a:xfrm>
          <a:prstGeom prst="rect">
            <a:avLst/>
          </a:prstGeom>
          <a:noFill/>
          <a:ln/>
        </p:spPr>
        <p:txBody>
          <a:bodyPr wrap="square" lIns="0" tIns="0" rIns="0" bIns="0" rtlCol="0" anchor="t"/>
          <a:lstStyle/>
          <a:p>
            <a:pPr indent="0" marL="0">
              <a:buNone/>
            </a:pPr>
            <a:r>
              <a:rPr lang="en-US" sz="2400" i="1" dirty="0">
                <a:solidFill>
                  <a:srgbClr val="A1A1A6"/>
                </a:solidFill>
                <a:latin typeface="Arial" pitchFamily="34" charset="0"/>
                <a:ea typeface="Arial" pitchFamily="34" charset="-122"/>
                <a:cs typeface="Arial" pitchFamily="34" charset="-120"/>
              </a:rPr>
              <a:t>Someone to ask, before you tap.</a:t>
            </a:r>
            <a:endParaRPr lang="en-US" sz="2400" dirty="0"/>
          </a:p>
        </p:txBody>
      </p:sp>
      <p:sp>
        <p:nvSpPr>
          <p:cNvPr id="5" name="point 1 rule"/>
          <p:cNvSpPr/>
          <p:nvPr/>
        </p:nvSpPr>
        <p:spPr>
          <a:xfrm>
            <a:off x="822960" y="3246120"/>
            <a:ext cx="6949440" cy="0"/>
          </a:xfrm>
          <a:prstGeom prst="line">
            <a:avLst/>
          </a:prstGeom>
          <a:noFill/>
          <a:ln w="9525">
            <a:solidFill>
              <a:srgbClr val="3A3A3E"/>
            </a:solidFill>
            <a:prstDash val="solid"/>
          </a:ln>
        </p:spPr>
      </p:sp>
      <p:sp>
        <p:nvSpPr>
          <p:cNvPr id="6" name="point 1"/>
          <p:cNvSpPr txBox="1"/>
          <p:nvPr/>
        </p:nvSpPr>
        <p:spPr>
          <a:xfrm>
            <a:off x="822960" y="3346704"/>
            <a:ext cx="6949440" cy="530352"/>
          </a:xfrm>
          <a:prstGeom prst="rect">
            <a:avLst/>
          </a:prstGeom>
          <a:noFill/>
          <a:ln/>
        </p:spPr>
        <p:txBody>
          <a:bodyPr wrap="square" lIns="0" tIns="0" rIns="0" bIns="0" rtlCol="0" anchor="t"/>
          <a:lstStyle/>
          <a:p>
            <a:pPr indent="0" marL="0">
              <a:buNone/>
            </a:pPr>
            <a:r>
              <a:rPr lang="en-US" sz="2600" b="1" dirty="0">
                <a:solidFill>
                  <a:srgbClr val="F5F5F7"/>
                </a:solidFill>
                <a:latin typeface="Arial" pitchFamily="34" charset="0"/>
                <a:ea typeface="Arial" pitchFamily="34" charset="-122"/>
                <a:cs typeface="Arial" pitchFamily="34" charset="-120"/>
              </a:rPr>
              <a:t>Spot a scam before the money moves.</a:t>
            </a:r>
            <a:endParaRPr lang="en-US" sz="2600" dirty="0"/>
          </a:p>
        </p:txBody>
      </p:sp>
      <p:sp>
        <p:nvSpPr>
          <p:cNvPr id="7" name="point 2 rule"/>
          <p:cNvSpPr/>
          <p:nvPr/>
        </p:nvSpPr>
        <p:spPr>
          <a:xfrm>
            <a:off x="822960" y="3904488"/>
            <a:ext cx="6949440" cy="0"/>
          </a:xfrm>
          <a:prstGeom prst="line">
            <a:avLst/>
          </a:prstGeom>
          <a:noFill/>
          <a:ln w="9525">
            <a:solidFill>
              <a:srgbClr val="3A3A3E"/>
            </a:solidFill>
            <a:prstDash val="solid"/>
          </a:ln>
        </p:spPr>
      </p:sp>
      <p:sp>
        <p:nvSpPr>
          <p:cNvPr id="8" name="point 2"/>
          <p:cNvSpPr txBox="1"/>
          <p:nvPr/>
        </p:nvSpPr>
        <p:spPr>
          <a:xfrm>
            <a:off x="822960" y="4005072"/>
            <a:ext cx="6949440" cy="530352"/>
          </a:xfrm>
          <a:prstGeom prst="rect">
            <a:avLst/>
          </a:prstGeom>
          <a:noFill/>
          <a:ln/>
        </p:spPr>
        <p:txBody>
          <a:bodyPr wrap="square" lIns="0" tIns="0" rIns="0" bIns="0" rtlCol="0" anchor="t"/>
          <a:lstStyle/>
          <a:p>
            <a:pPr indent="0" marL="0">
              <a:buNone/>
            </a:pPr>
            <a:r>
              <a:rPr lang="en-US" sz="2600" b="1" dirty="0">
                <a:solidFill>
                  <a:srgbClr val="6FA8FF"/>
                </a:solidFill>
                <a:latin typeface="Arial" pitchFamily="34" charset="0"/>
                <a:ea typeface="Arial" pitchFamily="34" charset="-122"/>
                <a:cs typeface="Arial" pitchFamily="34" charset="-120"/>
              </a:rPr>
              <a:t>Claim what you’re owed.</a:t>
            </a:r>
            <a:endParaRPr lang="en-US" sz="2600" dirty="0"/>
          </a:p>
        </p:txBody>
      </p:sp>
      <p:sp>
        <p:nvSpPr>
          <p:cNvPr id="9" name="pill: CSC counter + your phone"/>
          <p:cNvSpPr/>
          <p:nvPr/>
        </p:nvSpPr>
        <p:spPr>
          <a:xfrm>
            <a:off x="822960" y="4754880"/>
            <a:ext cx="2423160" cy="475488"/>
          </a:xfrm>
          <a:prstGeom prst="roundRect">
            <a:avLst>
              <a:gd name="adj" fmla="val 50000"/>
            </a:avLst>
          </a:prstGeom>
          <a:solidFill>
            <a:srgbClr val="1C1C1E"/>
          </a:solidFill>
          <a:ln w="9525">
            <a:solidFill>
              <a:srgbClr val="2C2C30"/>
            </a:solidFill>
            <a:prstDash val="solid"/>
          </a:ln>
        </p:spPr>
      </p:sp>
      <p:sp>
        <p:nvSpPr>
          <p:cNvPr id="10" name="pill text: CSC counter + your phone"/>
          <p:cNvSpPr txBox="1"/>
          <p:nvPr/>
        </p:nvSpPr>
        <p:spPr>
          <a:xfrm>
            <a:off x="822960" y="4754880"/>
            <a:ext cx="2423160" cy="475488"/>
          </a:xfrm>
          <a:prstGeom prst="rect">
            <a:avLst/>
          </a:prstGeom>
          <a:noFill/>
          <a:ln/>
        </p:spPr>
        <p:txBody>
          <a:bodyPr wrap="square" lIns="0" tIns="0" rIns="0" bIns="0" rtlCol="0" anchor="ctr"/>
          <a:lstStyle/>
          <a:p>
            <a:pPr algn="ctr" indent="0" marL="0">
              <a:buNone/>
            </a:pPr>
            <a:r>
              <a:rPr lang="en-US" sz="1500" dirty="0">
                <a:solidFill>
                  <a:srgbClr val="F5F5F7"/>
                </a:solidFill>
                <a:latin typeface="Arial" pitchFamily="34" charset="0"/>
                <a:ea typeface="Arial" pitchFamily="34" charset="-122"/>
                <a:cs typeface="Arial" pitchFamily="34" charset="-120"/>
              </a:rPr>
              <a:t>CSC counter + your phone</a:t>
            </a:r>
            <a:endParaRPr lang="en-US" sz="1500" dirty="0"/>
          </a:p>
        </p:txBody>
      </p:sp>
      <p:sp>
        <p:nvSpPr>
          <p:cNvPr id="11" name="pill: Works offline"/>
          <p:cNvSpPr/>
          <p:nvPr/>
        </p:nvSpPr>
        <p:spPr>
          <a:xfrm>
            <a:off x="3410712" y="4754880"/>
            <a:ext cx="1508760" cy="475488"/>
          </a:xfrm>
          <a:prstGeom prst="roundRect">
            <a:avLst>
              <a:gd name="adj" fmla="val 50000"/>
            </a:avLst>
          </a:prstGeom>
          <a:solidFill>
            <a:srgbClr val="1C1C1E"/>
          </a:solidFill>
          <a:ln w="9525">
            <a:solidFill>
              <a:srgbClr val="2C2C30"/>
            </a:solidFill>
            <a:prstDash val="solid"/>
          </a:ln>
        </p:spPr>
      </p:sp>
      <p:sp>
        <p:nvSpPr>
          <p:cNvPr id="12" name="pill text: Works offline"/>
          <p:cNvSpPr txBox="1"/>
          <p:nvPr/>
        </p:nvSpPr>
        <p:spPr>
          <a:xfrm>
            <a:off x="3410712" y="4754880"/>
            <a:ext cx="1508760" cy="475488"/>
          </a:xfrm>
          <a:prstGeom prst="rect">
            <a:avLst/>
          </a:prstGeom>
          <a:noFill/>
          <a:ln/>
        </p:spPr>
        <p:txBody>
          <a:bodyPr wrap="square" lIns="0" tIns="0" rIns="0" bIns="0" rtlCol="0" anchor="ctr"/>
          <a:lstStyle/>
          <a:p>
            <a:pPr algn="ctr" indent="0" marL="0">
              <a:buNone/>
            </a:pPr>
            <a:r>
              <a:rPr lang="en-US" sz="1500" dirty="0">
                <a:solidFill>
                  <a:srgbClr val="F5F5F7"/>
                </a:solidFill>
                <a:latin typeface="Arial" pitchFamily="34" charset="0"/>
                <a:ea typeface="Arial" pitchFamily="34" charset="-122"/>
                <a:cs typeface="Arial" pitchFamily="34" charset="-120"/>
              </a:rPr>
              <a:t>Works offline</a:t>
            </a:r>
            <a:endParaRPr lang="en-US" sz="1500" dirty="0"/>
          </a:p>
        </p:txBody>
      </p:sp>
      <p:sp>
        <p:nvSpPr>
          <p:cNvPr id="13" name="pill: 22 Indian languages"/>
          <p:cNvSpPr/>
          <p:nvPr/>
        </p:nvSpPr>
        <p:spPr>
          <a:xfrm>
            <a:off x="5084064" y="4754880"/>
            <a:ext cx="2194560" cy="475488"/>
          </a:xfrm>
          <a:prstGeom prst="roundRect">
            <a:avLst>
              <a:gd name="adj" fmla="val 50000"/>
            </a:avLst>
          </a:prstGeom>
          <a:solidFill>
            <a:srgbClr val="1C1C1E"/>
          </a:solidFill>
          <a:ln w="9525">
            <a:solidFill>
              <a:srgbClr val="2C2C30"/>
            </a:solidFill>
            <a:prstDash val="solid"/>
          </a:ln>
        </p:spPr>
      </p:sp>
      <p:sp>
        <p:nvSpPr>
          <p:cNvPr id="14" name="pill text: 22 Indian languages"/>
          <p:cNvSpPr txBox="1"/>
          <p:nvPr/>
        </p:nvSpPr>
        <p:spPr>
          <a:xfrm>
            <a:off x="5084064" y="4754880"/>
            <a:ext cx="2194560" cy="475488"/>
          </a:xfrm>
          <a:prstGeom prst="rect">
            <a:avLst/>
          </a:prstGeom>
          <a:noFill/>
          <a:ln/>
        </p:spPr>
        <p:txBody>
          <a:bodyPr wrap="square" lIns="0" tIns="0" rIns="0" bIns="0" rtlCol="0" anchor="ctr"/>
          <a:lstStyle/>
          <a:p>
            <a:pPr algn="ctr" indent="0" marL="0">
              <a:buNone/>
            </a:pPr>
            <a:r>
              <a:rPr lang="en-US" sz="1500" dirty="0">
                <a:solidFill>
                  <a:srgbClr val="F5F5F7"/>
                </a:solidFill>
                <a:latin typeface="Arial" pitchFamily="34" charset="0"/>
                <a:ea typeface="Arial" pitchFamily="34" charset="-122"/>
                <a:cs typeface="Arial" pitchFamily="34" charset="-120"/>
              </a:rPr>
              <a:t>22 Indian languages</a:t>
            </a:r>
            <a:endParaRPr lang="en-US" sz="1500" dirty="0"/>
          </a:p>
        </p:txBody>
      </p:sp>
      <p:sp>
        <p:nvSpPr>
          <p:cNvPr id="15" name="team"/>
          <p:cNvSpPr txBox="1"/>
          <p:nvPr/>
        </p:nvSpPr>
        <p:spPr>
          <a:xfrm>
            <a:off x="822960" y="6080760"/>
            <a:ext cx="6400800" cy="320040"/>
          </a:xfrm>
          <a:prstGeom prst="rect">
            <a:avLst/>
          </a:prstGeom>
          <a:noFill/>
          <a:ln/>
        </p:spPr>
        <p:txBody>
          <a:bodyPr wrap="square" lIns="0" tIns="0" rIns="0" bIns="0" rtlCol="0" anchor="t"/>
          <a:lstStyle/>
          <a:p>
            <a:pPr indent="0" marL="0">
              <a:buNone/>
            </a:pPr>
            <a:r>
              <a:rPr lang="en-US" sz="1500" dirty="0">
                <a:solidFill>
                  <a:srgbClr val="6E6E73"/>
                </a:solidFill>
                <a:latin typeface="Arial" pitchFamily="34" charset="0"/>
                <a:ea typeface="Arial" pitchFamily="34" charset="-122"/>
                <a:cs typeface="Arial" pitchFamily="34" charset="-120"/>
              </a:rPr>
              <a:t>Ishmiit Singh  ·  Roshan Raj</a:t>
            </a:r>
            <a:endParaRPr lang="en-US" sz="1500" dirty="0"/>
          </a:p>
        </p:txBody>
      </p:sp>
      <p:pic>
        <p:nvPicPr>
          <p:cNvPr id="16" name="Sahayak home screen" descr="Screenshot: Sahayak home screen">    </p:cNvPr>
          <p:cNvPicPr>
            <a:picLocks noChangeAspect="1"/>
          </p:cNvPicPr>
          <p:nvPr/>
        </p:nvPicPr>
        <p:blipFill>
          <a:blip r:embed="rId1"/>
          <a:stretch>
            <a:fillRect/>
          </a:stretch>
        </p:blipFill>
        <p:spPr>
          <a:xfrm>
            <a:off x="8686800" y="594360"/>
            <a:ext cx="2715748" cy="566928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ahayak's answer to the KYC SMS" descr="Screenshot: Sahayak's answer to the KYC SMS">    </p:cNvPr>
          <p:cNvPicPr>
            <a:picLocks noChangeAspect="1"/>
          </p:cNvPicPr>
          <p:nvPr/>
        </p:nvPicPr>
        <p:blipFill>
          <a:blip r:embed="rId1"/>
          <a:stretch>
            <a:fillRect/>
          </a:stretch>
        </p:blipFill>
        <p:spPr>
          <a:xfrm>
            <a:off x="914400" y="594360"/>
            <a:ext cx="2715748" cy="5669280"/>
          </a:xfrm>
          <a:prstGeom prst="rect">
            <a:avLst/>
          </a:prstGeom>
        </p:spPr>
      </p:pic>
      <p:sp>
        <p:nvSpPr>
          <p:cNvPr id="3" name="eyebrow"/>
          <p:cNvSpPr txBox="1"/>
          <p:nvPr/>
        </p:nvSpPr>
        <p:spPr>
          <a:xfrm>
            <a:off x="4526280" y="777240"/>
            <a:ext cx="7315200" cy="310896"/>
          </a:xfrm>
          <a:prstGeom prst="rect">
            <a:avLst/>
          </a:prstGeom>
          <a:noFill/>
          <a:ln/>
        </p:spPr>
        <p:txBody>
          <a:bodyPr wrap="square" lIns="0" tIns="0" rIns="0" bIns="0" rtlCol="0" anchor="t"/>
          <a:lstStyle/>
          <a:p>
            <a:pPr indent="0" marL="0">
              <a:buNone/>
            </a:pPr>
            <a:r>
              <a:rPr lang="en-US" sz="1400" b="1" spc="300" kern="0" dirty="0">
                <a:solidFill>
                  <a:srgbClr val="6FA8FF"/>
                </a:solidFill>
                <a:latin typeface="Arial" pitchFamily="34" charset="0"/>
                <a:ea typeface="Arial" pitchFamily="34" charset="-122"/>
                <a:cs typeface="Arial" pitchFamily="34" charset="-120"/>
              </a:rPr>
              <a:t>BACK TO HER MESSAGE</a:t>
            </a:r>
            <a:endParaRPr lang="en-US" sz="1400" dirty="0"/>
          </a:p>
        </p:txBody>
      </p:sp>
      <p:sp>
        <p:nvSpPr>
          <p:cNvPr id="4" name="verdict"/>
          <p:cNvSpPr txBox="1"/>
          <p:nvPr/>
        </p:nvSpPr>
        <p:spPr>
          <a:xfrm>
            <a:off x="4526280" y="1097280"/>
            <a:ext cx="6858000" cy="960120"/>
          </a:xfrm>
          <a:prstGeom prst="rect">
            <a:avLst/>
          </a:prstGeom>
          <a:noFill/>
          <a:ln/>
        </p:spPr>
        <p:txBody>
          <a:bodyPr wrap="square" lIns="0" tIns="0" rIns="0" bIns="0" rtlCol="0" anchor="ctr"/>
          <a:lstStyle/>
          <a:p>
            <a:pPr indent="0" marL="0">
              <a:buNone/>
            </a:pPr>
            <a:r>
              <a:rPr lang="en-US" sz="7000" b="1" dirty="0">
                <a:solidFill>
                  <a:srgbClr val="FF5A52"/>
                </a:solidFill>
                <a:latin typeface="Arial" pitchFamily="34" charset="0"/>
                <a:ea typeface="Arial" pitchFamily="34" charset="-122"/>
                <a:cs typeface="Arial" pitchFamily="34" charset="-120"/>
              </a:rPr>
              <a:t>Scam.</a:t>
            </a:r>
            <a:endParaRPr lang="en-US" sz="7000" dirty="0"/>
          </a:p>
        </p:txBody>
      </p:sp>
      <p:sp>
        <p:nvSpPr>
          <p:cNvPr id="5" name="eyebrow"/>
          <p:cNvSpPr txBox="1"/>
          <p:nvPr/>
        </p:nvSpPr>
        <p:spPr>
          <a:xfrm>
            <a:off x="4526280" y="2286000"/>
            <a:ext cx="7315200" cy="310896"/>
          </a:xfrm>
          <a:prstGeom prst="rect">
            <a:avLst/>
          </a:prstGeom>
          <a:noFill/>
          <a:ln/>
        </p:spPr>
        <p:txBody>
          <a:bodyPr wrap="square" lIns="0" tIns="0" rIns="0" bIns="0" rtlCol="0" anchor="t"/>
          <a:lstStyle/>
          <a:p>
            <a:pPr indent="0" marL="0">
              <a:buNone/>
            </a:pPr>
            <a:r>
              <a:rPr lang="en-US" sz="1400" b="1" spc="300" kern="0" dirty="0">
                <a:solidFill>
                  <a:srgbClr val="6E6E73"/>
                </a:solidFill>
                <a:latin typeface="Arial" pitchFamily="34" charset="0"/>
                <a:ea typeface="Arial" pitchFamily="34" charset="-122"/>
                <a:cs typeface="Arial" pitchFamily="34" charset="-120"/>
              </a:rPr>
              <a:t>WHY</a:t>
            </a:r>
            <a:endParaRPr lang="en-US" sz="1400" dirty="0"/>
          </a:p>
        </p:txBody>
      </p:sp>
      <p:sp>
        <p:nvSpPr>
          <p:cNvPr id="6" name="point 1 rule"/>
          <p:cNvSpPr/>
          <p:nvPr/>
        </p:nvSpPr>
        <p:spPr>
          <a:xfrm>
            <a:off x="4526280" y="2606040"/>
            <a:ext cx="6858000" cy="0"/>
          </a:xfrm>
          <a:prstGeom prst="line">
            <a:avLst/>
          </a:prstGeom>
          <a:noFill/>
          <a:ln w="9525">
            <a:solidFill>
              <a:srgbClr val="3A3A3E"/>
            </a:solidFill>
            <a:prstDash val="solid"/>
          </a:ln>
        </p:spPr>
      </p:sp>
      <p:sp>
        <p:nvSpPr>
          <p:cNvPr id="7" name="point 1"/>
          <p:cNvSpPr txBox="1"/>
          <p:nvPr/>
        </p:nvSpPr>
        <p:spPr>
          <a:xfrm>
            <a:off x="4526280" y="2706624"/>
            <a:ext cx="6858000" cy="374904"/>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Personal number</a:t>
            </a:r>
            <a:endParaRPr lang="en-US" sz="2100" dirty="0"/>
          </a:p>
        </p:txBody>
      </p:sp>
      <p:sp>
        <p:nvSpPr>
          <p:cNvPr id="8" name="point 2 rule"/>
          <p:cNvSpPr/>
          <p:nvPr/>
        </p:nvSpPr>
        <p:spPr>
          <a:xfrm>
            <a:off x="4526280" y="3108960"/>
            <a:ext cx="6858000" cy="0"/>
          </a:xfrm>
          <a:prstGeom prst="line">
            <a:avLst/>
          </a:prstGeom>
          <a:noFill/>
          <a:ln w="9525">
            <a:solidFill>
              <a:srgbClr val="3A3A3E"/>
            </a:solidFill>
            <a:prstDash val="solid"/>
          </a:ln>
        </p:spPr>
      </p:sp>
      <p:sp>
        <p:nvSpPr>
          <p:cNvPr id="9" name="point 2"/>
          <p:cNvSpPr txBox="1"/>
          <p:nvPr/>
        </p:nvSpPr>
        <p:spPr>
          <a:xfrm>
            <a:off x="4526280" y="3209544"/>
            <a:ext cx="6858000" cy="374904"/>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Fake SBI link</a:t>
            </a:r>
            <a:endParaRPr lang="en-US" sz="2100" dirty="0"/>
          </a:p>
        </p:txBody>
      </p:sp>
      <p:sp>
        <p:nvSpPr>
          <p:cNvPr id="10" name="point 3 rule"/>
          <p:cNvSpPr/>
          <p:nvPr/>
        </p:nvSpPr>
        <p:spPr>
          <a:xfrm>
            <a:off x="4526280" y="3611880"/>
            <a:ext cx="6858000" cy="0"/>
          </a:xfrm>
          <a:prstGeom prst="line">
            <a:avLst/>
          </a:prstGeom>
          <a:noFill/>
          <a:ln w="9525">
            <a:solidFill>
              <a:srgbClr val="3A3A3E"/>
            </a:solidFill>
            <a:prstDash val="solid"/>
          </a:ln>
        </p:spPr>
      </p:sp>
      <p:sp>
        <p:nvSpPr>
          <p:cNvPr id="11" name="point 3"/>
          <p:cNvSpPr txBox="1"/>
          <p:nvPr/>
        </p:nvSpPr>
        <p:spPr>
          <a:xfrm>
            <a:off x="4526280" y="3712464"/>
            <a:ext cx="6858000" cy="374904"/>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KYC never by link</a:t>
            </a:r>
            <a:endParaRPr lang="en-US" sz="2100" dirty="0"/>
          </a:p>
        </p:txBody>
      </p:sp>
      <p:sp>
        <p:nvSpPr>
          <p:cNvPr id="12" name="eyebrow"/>
          <p:cNvSpPr txBox="1"/>
          <p:nvPr/>
        </p:nvSpPr>
        <p:spPr>
          <a:xfrm>
            <a:off x="4526280" y="4251960"/>
            <a:ext cx="7315200" cy="310896"/>
          </a:xfrm>
          <a:prstGeom prst="rect">
            <a:avLst/>
          </a:prstGeom>
          <a:noFill/>
          <a:ln/>
        </p:spPr>
        <p:txBody>
          <a:bodyPr wrap="square" lIns="0" tIns="0" rIns="0" bIns="0" rtlCol="0" anchor="t"/>
          <a:lstStyle/>
          <a:p>
            <a:pPr indent="0" marL="0">
              <a:buNone/>
            </a:pPr>
            <a:r>
              <a:rPr lang="en-US" sz="1400" b="1" spc="300" kern="0" dirty="0">
                <a:solidFill>
                  <a:srgbClr val="6E6E73"/>
                </a:solidFill>
                <a:latin typeface="Arial" pitchFamily="34" charset="0"/>
                <a:ea typeface="Arial" pitchFamily="34" charset="-122"/>
                <a:cs typeface="Arial" pitchFamily="34" charset="-120"/>
              </a:rPr>
              <a:t>WHAT TO DO</a:t>
            </a:r>
            <a:endParaRPr lang="en-US" sz="1400" dirty="0"/>
          </a:p>
        </p:txBody>
      </p:sp>
      <p:sp>
        <p:nvSpPr>
          <p:cNvPr id="13" name="point 1 rule"/>
          <p:cNvSpPr/>
          <p:nvPr/>
        </p:nvSpPr>
        <p:spPr>
          <a:xfrm>
            <a:off x="4526280" y="4572000"/>
            <a:ext cx="6858000" cy="0"/>
          </a:xfrm>
          <a:prstGeom prst="line">
            <a:avLst/>
          </a:prstGeom>
          <a:noFill/>
          <a:ln w="9525">
            <a:solidFill>
              <a:srgbClr val="3A3A3E"/>
            </a:solidFill>
            <a:prstDash val="solid"/>
          </a:ln>
        </p:spPr>
      </p:sp>
      <p:sp>
        <p:nvSpPr>
          <p:cNvPr id="14" name="point 1"/>
          <p:cNvSpPr txBox="1"/>
          <p:nvPr/>
        </p:nvSpPr>
        <p:spPr>
          <a:xfrm>
            <a:off x="4526280" y="4672584"/>
            <a:ext cx="6858000" cy="374904"/>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Don’t tap · keep the proof</a:t>
            </a:r>
            <a:endParaRPr lang="en-US" sz="2100" dirty="0"/>
          </a:p>
        </p:txBody>
      </p:sp>
      <p:sp>
        <p:nvSpPr>
          <p:cNvPr id="15" name="point 2 rule"/>
          <p:cNvSpPr/>
          <p:nvPr/>
        </p:nvSpPr>
        <p:spPr>
          <a:xfrm>
            <a:off x="4526280" y="5074920"/>
            <a:ext cx="6858000" cy="0"/>
          </a:xfrm>
          <a:prstGeom prst="line">
            <a:avLst/>
          </a:prstGeom>
          <a:noFill/>
          <a:ln w="9525">
            <a:solidFill>
              <a:srgbClr val="3A3A3E"/>
            </a:solidFill>
            <a:prstDash val="solid"/>
          </a:ln>
        </p:spPr>
      </p:sp>
      <p:sp>
        <p:nvSpPr>
          <p:cNvPr id="16" name="point 2"/>
          <p:cNvSpPr txBox="1"/>
          <p:nvPr/>
        </p:nvSpPr>
        <p:spPr>
          <a:xfrm>
            <a:off x="4526280" y="5175504"/>
            <a:ext cx="6858000" cy="374904"/>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Money gone? 1930</a:t>
            </a:r>
            <a:endParaRPr lang="en-US" sz="2100" dirty="0"/>
          </a:p>
        </p:txBody>
      </p:sp>
      <p:sp>
        <p:nvSpPr>
          <p:cNvPr id="17" name="point 3 rule"/>
          <p:cNvSpPr/>
          <p:nvPr/>
        </p:nvSpPr>
        <p:spPr>
          <a:xfrm>
            <a:off x="4526280" y="5577840"/>
            <a:ext cx="6858000" cy="0"/>
          </a:xfrm>
          <a:prstGeom prst="line">
            <a:avLst/>
          </a:prstGeom>
          <a:noFill/>
          <a:ln w="9525">
            <a:solidFill>
              <a:srgbClr val="3A3A3E"/>
            </a:solidFill>
            <a:prstDash val="solid"/>
          </a:ln>
        </p:spPr>
      </p:sp>
      <p:sp>
        <p:nvSpPr>
          <p:cNvPr id="18" name="point 3"/>
          <p:cNvSpPr txBox="1"/>
          <p:nvPr/>
        </p:nvSpPr>
        <p:spPr>
          <a:xfrm>
            <a:off x="4526280" y="5678424"/>
            <a:ext cx="6858000" cy="374904"/>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Warn the family</a:t>
            </a:r>
            <a:endParaRPr lang="en-US" sz="2100" dirty="0"/>
          </a:p>
        </p:txBody>
      </p:sp>
      <p:sp>
        <p:nvSpPr>
          <p:cNvPr id="19" name="source"/>
          <p:cNvSpPr txBox="1"/>
          <p:nvPr/>
        </p:nvSpPr>
        <p:spPr>
          <a:xfrm>
            <a:off x="822960" y="6400800"/>
            <a:ext cx="10545775" cy="256032"/>
          </a:xfrm>
          <a:prstGeom prst="rect">
            <a:avLst/>
          </a:prstGeom>
          <a:noFill/>
          <a:ln/>
        </p:spPr>
        <p:txBody>
          <a:bodyPr wrap="square" lIns="0" tIns="0" rIns="0" bIns="0" rtlCol="0" anchor="t"/>
          <a:lstStyle/>
          <a:p>
            <a:pPr indent="0" marL="0">
              <a:buNone/>
            </a:pPr>
            <a:r>
              <a:rPr lang="en-US" sz="1050" dirty="0">
                <a:solidFill>
                  <a:srgbClr val="6E6E73"/>
                </a:solidFill>
                <a:latin typeface="Arial" pitchFamily="34" charset="0"/>
                <a:ea typeface="Arial" pitchFamily="34" charset="-122"/>
                <a:cs typeface="Arial" pitchFamily="34" charset="-120"/>
              </a:rPr>
              <a:t>Demo persona and SMS written by the team · the app’s answer, on a phone, 14 Oct 2026</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822960" y="777240"/>
            <a:ext cx="7315200" cy="310896"/>
          </a:xfrm>
          <a:prstGeom prst="rect">
            <a:avLst/>
          </a:prstGeom>
          <a:noFill/>
          <a:ln/>
        </p:spPr>
        <p:txBody>
          <a:bodyPr wrap="square" lIns="0" tIns="0" rIns="0" bIns="0" rtlCol="0" anchor="t"/>
          <a:lstStyle/>
          <a:p>
            <a:pPr indent="0" marL="0">
              <a:buNone/>
            </a:pPr>
            <a:r>
              <a:rPr lang="en-US" sz="1400" b="1" spc="300" kern="0" dirty="0">
                <a:solidFill>
                  <a:srgbClr val="E2C28A"/>
                </a:solidFill>
                <a:latin typeface="Arial" pitchFamily="34" charset="0"/>
                <a:ea typeface="Arial" pitchFamily="34" charset="-122"/>
                <a:cs typeface="Arial" pitchFamily="34" charset="-120"/>
              </a:rPr>
              <a:t>WHAT SHE’S OWED</a:t>
            </a:r>
            <a:endParaRPr lang="en-US" sz="1400" dirty="0"/>
          </a:p>
        </p:txBody>
      </p:sp>
      <p:sp>
        <p:nvSpPr>
          <p:cNvPr id="3" name="cover"/>
          <p:cNvSpPr txBox="1"/>
          <p:nvPr/>
        </p:nvSpPr>
        <p:spPr>
          <a:xfrm>
            <a:off x="822960" y="1097280"/>
            <a:ext cx="7132320" cy="1325880"/>
          </a:xfrm>
          <a:prstGeom prst="rect">
            <a:avLst/>
          </a:prstGeom>
          <a:noFill/>
          <a:ln/>
        </p:spPr>
        <p:txBody>
          <a:bodyPr wrap="square" lIns="0" tIns="0" rIns="0" bIns="0" rtlCol="0" anchor="ctr"/>
          <a:lstStyle/>
          <a:p>
            <a:pPr indent="0" marL="0">
              <a:buNone/>
            </a:pPr>
            <a:r>
              <a:rPr lang="en-US" sz="10000" b="1" dirty="0">
                <a:solidFill>
                  <a:srgbClr val="6FA8FF"/>
                </a:solidFill>
                <a:latin typeface="Arial" pitchFamily="34" charset="0"/>
                <a:ea typeface="Arial" pitchFamily="34" charset="-122"/>
                <a:cs typeface="Arial" pitchFamily="34" charset="-120"/>
              </a:rPr>
              <a:t>₹5 lakh</a:t>
            </a:r>
            <a:endParaRPr lang="en-US" sz="10000" dirty="0"/>
          </a:p>
        </p:txBody>
      </p:sp>
      <p:sp>
        <p:nvSpPr>
          <p:cNvPr id="4" name="what it is"/>
          <p:cNvSpPr txBox="1"/>
          <p:nvPr/>
        </p:nvSpPr>
        <p:spPr>
          <a:xfrm>
            <a:off x="822960" y="2514600"/>
            <a:ext cx="7132320" cy="502920"/>
          </a:xfrm>
          <a:prstGeom prst="rect">
            <a:avLst/>
          </a:prstGeom>
          <a:noFill/>
          <a:ln/>
        </p:spPr>
        <p:txBody>
          <a:bodyPr wrap="square" lIns="0" tIns="0" rIns="0" bIns="0" rtlCol="0" anchor="t"/>
          <a:lstStyle/>
          <a:p>
            <a:pPr indent="0" marL="0">
              <a:buNone/>
            </a:pPr>
            <a:r>
              <a:rPr lang="en-US" sz="2800" b="1" dirty="0">
                <a:solidFill>
                  <a:srgbClr val="F5F5F7"/>
                </a:solidFill>
                <a:latin typeface="Arial" pitchFamily="34" charset="0"/>
                <a:ea typeface="Arial" pitchFamily="34" charset="-122"/>
                <a:cs typeface="Arial" pitchFamily="34" charset="-120"/>
              </a:rPr>
              <a:t>of free hospital care, every year.</a:t>
            </a:r>
            <a:endParaRPr lang="en-US" sz="2800" dirty="0"/>
          </a:p>
        </p:txBody>
      </p:sp>
      <p:sp>
        <p:nvSpPr>
          <p:cNvPr id="5" name="point 1 rule"/>
          <p:cNvSpPr/>
          <p:nvPr/>
        </p:nvSpPr>
        <p:spPr>
          <a:xfrm>
            <a:off x="822960" y="3337560"/>
            <a:ext cx="6949440" cy="0"/>
          </a:xfrm>
          <a:prstGeom prst="line">
            <a:avLst/>
          </a:prstGeom>
          <a:noFill/>
          <a:ln w="9525">
            <a:solidFill>
              <a:srgbClr val="3A3A3E"/>
            </a:solidFill>
            <a:prstDash val="solid"/>
          </a:ln>
        </p:spPr>
      </p:sp>
      <p:sp>
        <p:nvSpPr>
          <p:cNvPr id="6" name="point 1"/>
          <p:cNvSpPr txBox="1"/>
          <p:nvPr/>
        </p:nvSpPr>
        <p:spPr>
          <a:xfrm>
            <a:off x="822960" y="3438144"/>
            <a:ext cx="6949440" cy="438912"/>
          </a:xfrm>
          <a:prstGeom prst="rect">
            <a:avLst/>
          </a:prstGeom>
          <a:noFill/>
          <a:ln/>
        </p:spPr>
        <p:txBody>
          <a:bodyPr wrap="square" lIns="0" tIns="0" rIns="0" bIns="0" rtlCol="0" anchor="t"/>
          <a:lstStyle/>
          <a:p>
            <a:pPr indent="0" marL="0">
              <a:buNone/>
            </a:pPr>
            <a:r>
              <a:rPr lang="en-US" sz="2000" b="1" dirty="0">
                <a:solidFill>
                  <a:srgbClr val="F5F5F7"/>
                </a:solidFill>
                <a:latin typeface="Arial" pitchFamily="34" charset="0"/>
                <a:ea typeface="Arial" pitchFamily="34" charset="-122"/>
                <a:cs typeface="Arial" pitchFamily="34" charset="-120"/>
              </a:rPr>
              <a:t>Vay Vandana card</a:t>
            </a:r>
            <a:pPr indent="0" marL="0">
              <a:buNone/>
            </a:pPr>
            <a:r>
              <a:rPr lang="en-US" sz="2000" dirty="0">
                <a:solidFill>
                  <a:srgbClr val="A1A1A6"/>
                </a:solidFill>
                <a:latin typeface="Arial" pitchFamily="34" charset="0"/>
                <a:ea typeface="Arial" pitchFamily="34" charset="-122"/>
                <a:cs typeface="Arial" pitchFamily="34" charset="-120"/>
              </a:rPr>
              <a:t> · every Indian 70+</a:t>
            </a:r>
            <a:endParaRPr lang="en-US" sz="2000" dirty="0"/>
          </a:p>
        </p:txBody>
      </p:sp>
      <p:sp>
        <p:nvSpPr>
          <p:cNvPr id="7" name="point 2 rule"/>
          <p:cNvSpPr/>
          <p:nvPr/>
        </p:nvSpPr>
        <p:spPr>
          <a:xfrm>
            <a:off x="822960" y="3904488"/>
            <a:ext cx="6949440" cy="0"/>
          </a:xfrm>
          <a:prstGeom prst="line">
            <a:avLst/>
          </a:prstGeom>
          <a:noFill/>
          <a:ln w="9525">
            <a:solidFill>
              <a:srgbClr val="3A3A3E"/>
            </a:solidFill>
            <a:prstDash val="solid"/>
          </a:ln>
        </p:spPr>
      </p:sp>
      <p:sp>
        <p:nvSpPr>
          <p:cNvPr id="8" name="point 2"/>
          <p:cNvSpPr txBox="1"/>
          <p:nvPr/>
        </p:nvSpPr>
        <p:spPr>
          <a:xfrm>
            <a:off x="822960" y="4005072"/>
            <a:ext cx="6949440" cy="438912"/>
          </a:xfrm>
          <a:prstGeom prst="rect">
            <a:avLst/>
          </a:prstGeom>
          <a:noFill/>
          <a:ln/>
        </p:spPr>
        <p:txBody>
          <a:bodyPr wrap="square" lIns="0" tIns="0" rIns="0" bIns="0" rtlCol="0" anchor="t"/>
          <a:lstStyle/>
          <a:p>
            <a:pPr indent="0" marL="0">
              <a:buNone/>
            </a:pPr>
            <a:r>
              <a:rPr lang="en-US" sz="2000" b="1" dirty="0">
                <a:solidFill>
                  <a:srgbClr val="E2C28A"/>
                </a:solidFill>
                <a:latin typeface="Arial" pitchFamily="34" charset="0"/>
                <a:ea typeface="Arial" pitchFamily="34" charset="-122"/>
                <a:cs typeface="Arial" pitchFamily="34" charset="-120"/>
              </a:rPr>
              <a:t>Fewer than 1 in 5</a:t>
            </a:r>
            <a:pPr indent="0" marL="0">
              <a:buNone/>
            </a:pPr>
            <a:r>
              <a:rPr lang="en-US" sz="2000" dirty="0">
                <a:solidFill>
                  <a:srgbClr val="A1A1A6"/>
                </a:solidFill>
                <a:latin typeface="Arial" pitchFamily="34" charset="0"/>
                <a:ea typeface="Arial" pitchFamily="34" charset="-122"/>
                <a:cs typeface="Arial" pitchFamily="34" charset="-120"/>
              </a:rPr>
              <a:t> · had it by Feb 2026</a:t>
            </a:r>
            <a:endParaRPr lang="en-US" sz="2000" dirty="0"/>
          </a:p>
        </p:txBody>
      </p:sp>
      <p:sp>
        <p:nvSpPr>
          <p:cNvPr id="9" name="point 3 rule"/>
          <p:cNvSpPr/>
          <p:nvPr/>
        </p:nvSpPr>
        <p:spPr>
          <a:xfrm>
            <a:off x="822960" y="4471416"/>
            <a:ext cx="6949440" cy="0"/>
          </a:xfrm>
          <a:prstGeom prst="line">
            <a:avLst/>
          </a:prstGeom>
          <a:noFill/>
          <a:ln w="9525">
            <a:solidFill>
              <a:srgbClr val="3A3A3E"/>
            </a:solidFill>
            <a:prstDash val="solid"/>
          </a:ln>
        </p:spPr>
      </p:sp>
      <p:sp>
        <p:nvSpPr>
          <p:cNvPr id="10" name="point 3"/>
          <p:cNvSpPr txBox="1"/>
          <p:nvPr/>
        </p:nvSpPr>
        <p:spPr>
          <a:xfrm>
            <a:off x="822960" y="4572000"/>
            <a:ext cx="6949440" cy="438912"/>
          </a:xfrm>
          <a:prstGeom prst="rect">
            <a:avLst/>
          </a:prstGeom>
          <a:noFill/>
          <a:ln/>
        </p:spPr>
        <p:txBody>
          <a:bodyPr wrap="square" lIns="0" tIns="0" rIns="0" bIns="0" rtlCol="0" anchor="t"/>
          <a:lstStyle/>
          <a:p>
            <a:pPr indent="0" marL="0">
              <a:buNone/>
            </a:pPr>
            <a:r>
              <a:rPr lang="en-US" sz="2000" b="1" dirty="0">
                <a:solidFill>
                  <a:srgbClr val="F5F5F7"/>
                </a:solidFill>
                <a:latin typeface="Arial" pitchFamily="34" charset="0"/>
                <a:ea typeface="Arial" pitchFamily="34" charset="-122"/>
                <a:cs typeface="Arial" pitchFamily="34" charset="-120"/>
              </a:rPr>
              <a:t>5 questions</a:t>
            </a:r>
            <a:pPr indent="0" marL="0">
              <a:buNone/>
            </a:pPr>
            <a:r>
              <a:rPr lang="en-US" sz="2000" dirty="0">
                <a:solidFill>
                  <a:srgbClr val="A1A1A6"/>
                </a:solidFill>
                <a:latin typeface="Arial" pitchFamily="34" charset="0"/>
                <a:ea typeface="Arial" pitchFamily="34" charset="-122"/>
                <a:cs typeface="Arial" pitchFamily="34" charset="-120"/>
              </a:rPr>
              <a:t> · the words to say</a:t>
            </a:r>
            <a:endParaRPr lang="en-US" sz="2000" dirty="0"/>
          </a:p>
        </p:txBody>
      </p:sp>
      <p:sp>
        <p:nvSpPr>
          <p:cNvPr id="11" name="both"/>
          <p:cNvSpPr txBox="1"/>
          <p:nvPr/>
        </p:nvSpPr>
        <p:spPr>
          <a:xfrm>
            <a:off x="822960" y="5257800"/>
            <a:ext cx="7132320" cy="457200"/>
          </a:xfrm>
          <a:prstGeom prst="rect">
            <a:avLst/>
          </a:prstGeom>
          <a:noFill/>
          <a:ln/>
        </p:spPr>
        <p:txBody>
          <a:bodyPr wrap="square" lIns="0" tIns="0" rIns="0" bIns="0" rtlCol="0" anchor="t"/>
          <a:lstStyle/>
          <a:p>
            <a:pPr indent="0" marL="0">
              <a:buNone/>
            </a:pPr>
            <a:r>
              <a:rPr lang="en-US" sz="2400" b="1" dirty="0">
                <a:solidFill>
                  <a:srgbClr val="F5F5F7"/>
                </a:solidFill>
                <a:latin typeface="Arial" pitchFamily="34" charset="0"/>
                <a:ea typeface="Arial" pitchFamily="34" charset="-122"/>
                <a:cs typeface="Arial" pitchFamily="34" charset="-120"/>
              </a:rPr>
              <a:t>Stop the scam. </a:t>
            </a:r>
            <a:pPr indent="0" marL="0">
              <a:buNone/>
            </a:pPr>
            <a:r>
              <a:rPr lang="en-US" sz="2400" b="1" dirty="0">
                <a:solidFill>
                  <a:srgbClr val="6FA8FF"/>
                </a:solidFill>
                <a:latin typeface="Arial" pitchFamily="34" charset="0"/>
                <a:ea typeface="Arial" pitchFamily="34" charset="-122"/>
                <a:cs typeface="Arial" pitchFamily="34" charset="-120"/>
              </a:rPr>
              <a:t>Claim what you’re owed.</a:t>
            </a:r>
            <a:endParaRPr lang="en-US" sz="2400" dirty="0"/>
          </a:p>
        </p:txBody>
      </p:sp>
      <p:sp>
        <p:nvSpPr>
          <p:cNvPr id="12" name="source"/>
          <p:cNvSpPr txBox="1"/>
          <p:nvPr/>
        </p:nvSpPr>
        <p:spPr>
          <a:xfrm>
            <a:off x="822960" y="6400800"/>
            <a:ext cx="10545775" cy="256032"/>
          </a:xfrm>
          <a:prstGeom prst="rect">
            <a:avLst/>
          </a:prstGeom>
          <a:noFill/>
          <a:ln/>
        </p:spPr>
        <p:txBody>
          <a:bodyPr wrap="square" lIns="0" tIns="0" rIns="0" bIns="0" rtlCol="0" anchor="t"/>
          <a:lstStyle/>
          <a:p>
            <a:pPr indent="0" marL="0">
              <a:buNone/>
            </a:pPr>
            <a:r>
              <a:rPr lang="en-US" sz="1050" dirty="0">
                <a:solidFill>
                  <a:srgbClr val="6E6E73"/>
                </a:solidFill>
                <a:latin typeface="Arial" pitchFamily="34" charset="0"/>
                <a:ea typeface="Arial" pitchFamily="34" charset="-122"/>
                <a:cs typeface="Arial" pitchFamily="34" charset="-120"/>
              </a:rPr>
              <a:t>1.1 of ~6 crore aged 70+ had the card (MoHFW, Feb 2026) · shared with a spouse also 70+; hospital care only · screenshot: result for a 74-year-old</a:t>
            </a:r>
            <a:endParaRPr lang="en-US" sz="1050" dirty="0"/>
          </a:p>
        </p:txBody>
      </p:sp>
      <p:pic>
        <p:nvPicPr>
          <p:cNvPr id="13" name="Sahayak's benefits result for a 74-year-old" descr="Screenshot: Sahayak's benefits result for a 74-year-old">    </p:cNvPr>
          <p:cNvPicPr>
            <a:picLocks noChangeAspect="1"/>
          </p:cNvPicPr>
          <p:nvPr/>
        </p:nvPicPr>
        <p:blipFill>
          <a:blip r:embed="rId1"/>
          <a:stretch>
            <a:fillRect/>
          </a:stretch>
        </p:blipFill>
        <p:spPr>
          <a:xfrm>
            <a:off x="8686800" y="594360"/>
            <a:ext cx="2715748" cy="56692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822960" y="731520"/>
            <a:ext cx="9144000" cy="777240"/>
          </a:xfrm>
          <a:prstGeom prst="rect">
            <a:avLst/>
          </a:prstGeom>
          <a:noFill/>
          <a:ln/>
        </p:spPr>
        <p:txBody>
          <a:bodyPr wrap="square" lIns="0" tIns="0" rIns="0" bIns="0" rtlCol="0" anchor="t"/>
          <a:lstStyle/>
          <a:p>
            <a:pPr indent="0" marL="0">
              <a:buNone/>
            </a:pPr>
            <a:r>
              <a:rPr lang="en-US" sz="4400" b="1" dirty="0">
                <a:solidFill>
                  <a:srgbClr val="F5F5F7"/>
                </a:solidFill>
                <a:latin typeface="Arial" pitchFamily="34" charset="0"/>
                <a:ea typeface="Arial" pitchFamily="34" charset="-122"/>
                <a:cs typeface="Arial" pitchFamily="34" charset="-120"/>
              </a:rPr>
              <a:t>How it works</a:t>
            </a:r>
            <a:endParaRPr lang="en-US" sz="4400" dirty="0"/>
          </a:p>
        </p:txBody>
      </p:sp>
      <p:sp>
        <p:nvSpPr>
          <p:cNvPr id="3" name="card 1"/>
          <p:cNvSpPr/>
          <p:nvPr/>
        </p:nvSpPr>
        <p:spPr>
          <a:xfrm>
            <a:off x="822960" y="1965960"/>
            <a:ext cx="3337560" cy="2834640"/>
          </a:xfrm>
          <a:prstGeom prst="roundRect">
            <a:avLst>
              <a:gd name="adj" fmla="val 5806"/>
            </a:avLst>
          </a:prstGeom>
          <a:solidFill>
            <a:srgbClr val="161618"/>
          </a:solidFill>
          <a:ln w="12700">
            <a:solidFill>
              <a:srgbClr val="2C2C30"/>
            </a:solidFill>
            <a:prstDash val="solid"/>
          </a:ln>
        </p:spPr>
      </p:sp>
      <p:sp>
        <p:nvSpPr>
          <p:cNvPr id="4" name="number 1"/>
          <p:cNvSpPr/>
          <p:nvPr/>
        </p:nvSpPr>
        <p:spPr>
          <a:xfrm>
            <a:off x="1143000" y="2286000"/>
            <a:ext cx="457200" cy="457200"/>
          </a:xfrm>
          <a:prstGeom prst="ellipse">
            <a:avLst/>
          </a:prstGeom>
          <a:solidFill>
            <a:srgbClr val="6FA8FF"/>
          </a:solidFill>
          <a:ln/>
        </p:spPr>
      </p:sp>
      <p:sp>
        <p:nvSpPr>
          <p:cNvPr id="5" name="number 1 label"/>
          <p:cNvSpPr txBox="1"/>
          <p:nvPr/>
        </p:nvSpPr>
        <p:spPr>
          <a:xfrm>
            <a:off x="1143000" y="2286000"/>
            <a:ext cx="457200" cy="45720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1</a:t>
            </a:r>
            <a:endParaRPr lang="en-US" sz="1800" dirty="0"/>
          </a:p>
        </p:txBody>
      </p:sp>
      <p:sp>
        <p:nvSpPr>
          <p:cNvPr id="6" name="card 1 title"/>
          <p:cNvSpPr txBox="1"/>
          <p:nvPr/>
        </p:nvSpPr>
        <p:spPr>
          <a:xfrm>
            <a:off x="1143000" y="2926080"/>
            <a:ext cx="2834640" cy="548640"/>
          </a:xfrm>
          <a:prstGeom prst="rect">
            <a:avLst/>
          </a:prstGeom>
          <a:noFill/>
          <a:ln/>
        </p:spPr>
        <p:txBody>
          <a:bodyPr wrap="square" lIns="0" tIns="0" rIns="0" bIns="0" rtlCol="0" anchor="t"/>
          <a:lstStyle/>
          <a:p>
            <a:pPr indent="0" marL="0">
              <a:buNone/>
            </a:pPr>
            <a:r>
              <a:rPr lang="en-US" sz="2800" b="1" dirty="0">
                <a:solidFill>
                  <a:srgbClr val="F5F5F7"/>
                </a:solidFill>
                <a:latin typeface="Arial" pitchFamily="34" charset="0"/>
                <a:ea typeface="Arial" pitchFamily="34" charset="-122"/>
                <a:cs typeface="Arial" pitchFamily="34" charset="-120"/>
              </a:rPr>
              <a:t>You ask.</a:t>
            </a:r>
            <a:endParaRPr lang="en-US" sz="2800" dirty="0"/>
          </a:p>
        </p:txBody>
      </p:sp>
      <p:sp>
        <p:nvSpPr>
          <p:cNvPr id="7" name="card 1 points"/>
          <p:cNvSpPr txBox="1"/>
          <p:nvPr/>
        </p:nvSpPr>
        <p:spPr>
          <a:xfrm>
            <a:off x="1143000" y="3611880"/>
            <a:ext cx="2834640" cy="1097280"/>
          </a:xfrm>
          <a:prstGeom prst="rect">
            <a:avLst/>
          </a:prstGeom>
          <a:noFill/>
          <a:ln/>
        </p:spPr>
        <p:txBody>
          <a:bodyPr wrap="square" lIns="0" tIns="0" rIns="0" bIns="0" rtlCol="0" anchor="t"/>
          <a:lstStyle/>
          <a:p>
            <a:pPr indent="0" marL="0">
              <a:spcAft>
                <a:spcPts val="500"/>
              </a:spcAft>
              <a:buNone/>
            </a:pPr>
            <a:r>
              <a:rPr lang="en-US" sz="2200" dirty="0">
                <a:solidFill>
                  <a:srgbClr val="A1A1A6"/>
                </a:solidFill>
                <a:latin typeface="Arial" pitchFamily="34" charset="0"/>
                <a:ea typeface="Arial" pitchFamily="34" charset="-122"/>
                <a:cs typeface="Arial" pitchFamily="34" charset="-120"/>
              </a:rPr>
              <a:t>Type · Speak</a:t>
            </a:r>
            <a:endParaRPr lang="en-US" sz="2200" dirty="0"/>
          </a:p>
          <a:p>
            <a:pPr indent="0" marL="0">
              <a:spcAft>
                <a:spcPts val="500"/>
              </a:spcAft>
              <a:buNone/>
            </a:pPr>
            <a:r>
              <a:rPr lang="en-US" sz="2200" dirty="0">
                <a:solidFill>
                  <a:srgbClr val="A1A1A6"/>
                </a:solidFill>
                <a:latin typeface="Arial" pitchFamily="34" charset="0"/>
                <a:ea typeface="Arial" pitchFamily="34" charset="-122"/>
                <a:cs typeface="Arial" pitchFamily="34" charset="-120"/>
              </a:rPr>
              <a:t>A call · A UPI QR</a:t>
            </a:r>
            <a:endParaRPr lang="en-US" sz="2200" dirty="0"/>
          </a:p>
        </p:txBody>
      </p:sp>
      <p:sp>
        <p:nvSpPr>
          <p:cNvPr id="8" name="card 2"/>
          <p:cNvSpPr/>
          <p:nvPr/>
        </p:nvSpPr>
        <p:spPr>
          <a:xfrm>
            <a:off x="4434840" y="1965960"/>
            <a:ext cx="3337560" cy="2834640"/>
          </a:xfrm>
          <a:prstGeom prst="roundRect">
            <a:avLst>
              <a:gd name="adj" fmla="val 5806"/>
            </a:avLst>
          </a:prstGeom>
          <a:solidFill>
            <a:srgbClr val="161618"/>
          </a:solidFill>
          <a:ln w="12700">
            <a:solidFill>
              <a:srgbClr val="2C2C30"/>
            </a:solidFill>
            <a:prstDash val="solid"/>
          </a:ln>
        </p:spPr>
      </p:sp>
      <p:sp>
        <p:nvSpPr>
          <p:cNvPr id="9" name="number 2"/>
          <p:cNvSpPr/>
          <p:nvPr/>
        </p:nvSpPr>
        <p:spPr>
          <a:xfrm>
            <a:off x="4754880" y="2286000"/>
            <a:ext cx="457200" cy="457200"/>
          </a:xfrm>
          <a:prstGeom prst="ellipse">
            <a:avLst/>
          </a:prstGeom>
          <a:solidFill>
            <a:srgbClr val="4FD68A"/>
          </a:solidFill>
          <a:ln/>
        </p:spPr>
      </p:sp>
      <p:sp>
        <p:nvSpPr>
          <p:cNvPr id="10" name="number 2 label"/>
          <p:cNvSpPr txBox="1"/>
          <p:nvPr/>
        </p:nvSpPr>
        <p:spPr>
          <a:xfrm>
            <a:off x="4754880" y="2286000"/>
            <a:ext cx="457200" cy="45720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2</a:t>
            </a:r>
            <a:endParaRPr lang="en-US" sz="1800" dirty="0"/>
          </a:p>
        </p:txBody>
      </p:sp>
      <p:sp>
        <p:nvSpPr>
          <p:cNvPr id="11" name="card 2 title"/>
          <p:cNvSpPr txBox="1"/>
          <p:nvPr/>
        </p:nvSpPr>
        <p:spPr>
          <a:xfrm>
            <a:off x="4754880" y="2926080"/>
            <a:ext cx="2834640" cy="548640"/>
          </a:xfrm>
          <a:prstGeom prst="rect">
            <a:avLst/>
          </a:prstGeom>
          <a:noFill/>
          <a:ln/>
        </p:spPr>
        <p:txBody>
          <a:bodyPr wrap="square" lIns="0" tIns="0" rIns="0" bIns="0" rtlCol="0" anchor="t"/>
          <a:lstStyle/>
          <a:p>
            <a:pPr indent="0" marL="0">
              <a:buNone/>
            </a:pPr>
            <a:r>
              <a:rPr lang="en-US" sz="2800" b="1" dirty="0">
                <a:solidFill>
                  <a:srgbClr val="F5F5F7"/>
                </a:solidFill>
                <a:latin typeface="Arial" pitchFamily="34" charset="0"/>
                <a:ea typeface="Arial" pitchFamily="34" charset="-122"/>
                <a:cs typeface="Arial" pitchFamily="34" charset="-120"/>
              </a:rPr>
              <a:t>Rules decide.</a:t>
            </a:r>
            <a:endParaRPr lang="en-US" sz="2800" dirty="0"/>
          </a:p>
        </p:txBody>
      </p:sp>
      <p:sp>
        <p:nvSpPr>
          <p:cNvPr id="12" name="card 2 points"/>
          <p:cNvSpPr txBox="1"/>
          <p:nvPr/>
        </p:nvSpPr>
        <p:spPr>
          <a:xfrm>
            <a:off x="4754880" y="3611880"/>
            <a:ext cx="2834640" cy="1097280"/>
          </a:xfrm>
          <a:prstGeom prst="rect">
            <a:avLst/>
          </a:prstGeom>
          <a:noFill/>
          <a:ln/>
        </p:spPr>
        <p:txBody>
          <a:bodyPr wrap="square" lIns="0" tIns="0" rIns="0" bIns="0" rtlCol="0" anchor="t"/>
          <a:lstStyle/>
          <a:p>
            <a:pPr indent="0" marL="0">
              <a:spcAft>
                <a:spcPts val="500"/>
              </a:spcAft>
              <a:buNone/>
            </a:pPr>
            <a:r>
              <a:rPr lang="en-US" sz="2200" dirty="0">
                <a:solidFill>
                  <a:srgbClr val="A1A1A6"/>
                </a:solidFill>
                <a:latin typeface="Arial" pitchFamily="34" charset="0"/>
                <a:ea typeface="Arial" pitchFamily="34" charset="-122"/>
                <a:cs typeface="Arial" pitchFamily="34" charset="-120"/>
              </a:rPr>
              <a:t>64 signals</a:t>
            </a:r>
            <a:endParaRPr lang="en-US" sz="2200" dirty="0"/>
          </a:p>
          <a:p>
            <a:pPr indent="0" marL="0">
              <a:spcAft>
                <a:spcPts val="500"/>
              </a:spcAft>
              <a:buNone/>
            </a:pPr>
            <a:r>
              <a:rPr lang="en-US" sz="2200" dirty="0">
                <a:solidFill>
                  <a:srgbClr val="A1A1A6"/>
                </a:solidFill>
                <a:latin typeface="Arial" pitchFamily="34" charset="0"/>
                <a:ea typeface="Arial" pitchFamily="34" charset="-122"/>
                <a:cs typeface="Arial" pitchFamily="34" charset="-120"/>
              </a:rPr>
              <a:t>On the device</a:t>
            </a:r>
            <a:endParaRPr lang="en-US" sz="2200" dirty="0"/>
          </a:p>
        </p:txBody>
      </p:sp>
      <p:sp>
        <p:nvSpPr>
          <p:cNvPr id="13" name="card 3"/>
          <p:cNvSpPr/>
          <p:nvPr/>
        </p:nvSpPr>
        <p:spPr>
          <a:xfrm>
            <a:off x="8046720" y="1965960"/>
            <a:ext cx="3337560" cy="2834640"/>
          </a:xfrm>
          <a:prstGeom prst="roundRect">
            <a:avLst>
              <a:gd name="adj" fmla="val 5806"/>
            </a:avLst>
          </a:prstGeom>
          <a:solidFill>
            <a:srgbClr val="161618"/>
          </a:solidFill>
          <a:ln w="12700">
            <a:solidFill>
              <a:srgbClr val="2C2C30"/>
            </a:solidFill>
            <a:prstDash val="solid"/>
          </a:ln>
        </p:spPr>
      </p:sp>
      <p:sp>
        <p:nvSpPr>
          <p:cNvPr id="14" name="number 3"/>
          <p:cNvSpPr/>
          <p:nvPr/>
        </p:nvSpPr>
        <p:spPr>
          <a:xfrm>
            <a:off x="8366760" y="2286000"/>
            <a:ext cx="457200" cy="457200"/>
          </a:xfrm>
          <a:prstGeom prst="ellipse">
            <a:avLst/>
          </a:prstGeom>
          <a:solidFill>
            <a:srgbClr val="E2C28A"/>
          </a:solidFill>
          <a:ln/>
        </p:spPr>
      </p:sp>
      <p:sp>
        <p:nvSpPr>
          <p:cNvPr id="15" name="number 3 label"/>
          <p:cNvSpPr txBox="1"/>
          <p:nvPr/>
        </p:nvSpPr>
        <p:spPr>
          <a:xfrm>
            <a:off x="8366760" y="2286000"/>
            <a:ext cx="457200" cy="45720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3</a:t>
            </a:r>
            <a:endParaRPr lang="en-US" sz="1800" dirty="0"/>
          </a:p>
        </p:txBody>
      </p:sp>
      <p:sp>
        <p:nvSpPr>
          <p:cNvPr id="16" name="card 3 title"/>
          <p:cNvSpPr txBox="1"/>
          <p:nvPr/>
        </p:nvSpPr>
        <p:spPr>
          <a:xfrm>
            <a:off x="8366760" y="2926080"/>
            <a:ext cx="2834640" cy="548640"/>
          </a:xfrm>
          <a:prstGeom prst="rect">
            <a:avLst/>
          </a:prstGeom>
          <a:noFill/>
          <a:ln/>
        </p:spPr>
        <p:txBody>
          <a:bodyPr wrap="square" lIns="0" tIns="0" rIns="0" bIns="0" rtlCol="0" anchor="t"/>
          <a:lstStyle/>
          <a:p>
            <a:pPr indent="0" marL="0">
              <a:buNone/>
            </a:pPr>
            <a:r>
              <a:rPr lang="en-US" sz="2800" b="1" dirty="0">
                <a:solidFill>
                  <a:srgbClr val="F5F5F7"/>
                </a:solidFill>
                <a:latin typeface="Arial" pitchFamily="34" charset="0"/>
                <a:ea typeface="Arial" pitchFamily="34" charset="-122"/>
                <a:cs typeface="Arial" pitchFamily="34" charset="-120"/>
              </a:rPr>
              <a:t>A clear answer.</a:t>
            </a:r>
            <a:endParaRPr lang="en-US" sz="2800" dirty="0"/>
          </a:p>
        </p:txBody>
      </p:sp>
      <p:sp>
        <p:nvSpPr>
          <p:cNvPr id="17" name="card 3 points"/>
          <p:cNvSpPr txBox="1"/>
          <p:nvPr/>
        </p:nvSpPr>
        <p:spPr>
          <a:xfrm>
            <a:off x="8366760" y="3611880"/>
            <a:ext cx="2834640" cy="1097280"/>
          </a:xfrm>
          <a:prstGeom prst="rect">
            <a:avLst/>
          </a:prstGeom>
          <a:noFill/>
          <a:ln/>
        </p:spPr>
        <p:txBody>
          <a:bodyPr wrap="square" lIns="0" tIns="0" rIns="0" bIns="0" rtlCol="0" anchor="t"/>
          <a:lstStyle/>
          <a:p>
            <a:pPr indent="0" marL="0">
              <a:spcAft>
                <a:spcPts val="500"/>
              </a:spcAft>
              <a:buNone/>
            </a:pPr>
            <a:r>
              <a:rPr lang="en-US" sz="2200" dirty="0">
                <a:solidFill>
                  <a:srgbClr val="A1A1A6"/>
                </a:solidFill>
                <a:latin typeface="Arial" pitchFamily="34" charset="0"/>
                <a:ea typeface="Arial" pitchFamily="34" charset="-122"/>
                <a:cs typeface="Arial" pitchFamily="34" charset="-120"/>
              </a:rPr>
              <a:t>4 answers</a:t>
            </a:r>
            <a:endParaRPr lang="en-US" sz="2200" dirty="0"/>
          </a:p>
          <a:p>
            <a:pPr indent="0" marL="0">
              <a:spcAft>
                <a:spcPts val="500"/>
              </a:spcAft>
              <a:buNone/>
            </a:pPr>
            <a:r>
              <a:rPr lang="en-US" sz="2200" b="1" dirty="0">
                <a:solidFill>
                  <a:srgbClr val="E2C28A"/>
                </a:solidFill>
                <a:latin typeface="Arial" pitchFamily="34" charset="0"/>
                <a:ea typeface="Arial" pitchFamily="34" charset="-122"/>
                <a:cs typeface="Arial" pitchFamily="34" charset="-120"/>
              </a:rPr>
              <a:t>Never “safe”.</a:t>
            </a:r>
            <a:endParaRPr lang="en-US" sz="2200" dirty="0"/>
          </a:p>
        </p:txBody>
      </p:sp>
      <p:sp>
        <p:nvSpPr>
          <p:cNvPr id="18" name="parity"/>
          <p:cNvSpPr txBox="1"/>
          <p:nvPr/>
        </p:nvSpPr>
        <p:spPr>
          <a:xfrm>
            <a:off x="822960" y="5212080"/>
            <a:ext cx="10545775" cy="411480"/>
          </a:xfrm>
          <a:prstGeom prst="rect">
            <a:avLst/>
          </a:prstGeom>
          <a:noFill/>
          <a:ln/>
        </p:spPr>
        <p:txBody>
          <a:bodyPr wrap="square" lIns="0" tIns="0" rIns="0" bIns="0" rtlCol="0" anchor="t"/>
          <a:lstStyle/>
          <a:p>
            <a:pPr indent="0" marL="0">
              <a:buNone/>
            </a:pPr>
            <a:r>
              <a:rPr lang="en-US" sz="2200" dirty="0">
                <a:solidFill>
                  <a:srgbClr val="A1A1A6"/>
                </a:solidFill>
                <a:latin typeface="Arial" pitchFamily="34" charset="0"/>
                <a:ea typeface="Arial" pitchFamily="34" charset="-122"/>
                <a:cs typeface="Arial" pitchFamily="34" charset="-120"/>
              </a:rPr>
              <a:t>Phone = counter: </a:t>
            </a:r>
            <a:pPr indent="0" marL="0">
              <a:buNone/>
            </a:pPr>
            <a:r>
              <a:rPr lang="en-US" sz="2200" b="1" dirty="0">
                <a:solidFill>
                  <a:srgbClr val="F5F5F7"/>
                </a:solidFill>
                <a:latin typeface="Arial" pitchFamily="34" charset="0"/>
                <a:ea typeface="Arial" pitchFamily="34" charset="-122"/>
                <a:cs typeface="Arial" pitchFamily="34" charset="-120"/>
              </a:rPr>
              <a:t>1,841 of 1,841 checks.</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822960" y="731520"/>
            <a:ext cx="10058400" cy="310896"/>
          </a:xfrm>
          <a:prstGeom prst="rect">
            <a:avLst/>
          </a:prstGeom>
          <a:noFill/>
          <a:ln/>
        </p:spPr>
        <p:txBody>
          <a:bodyPr wrap="square" lIns="0" tIns="0" rIns="0" bIns="0" rtlCol="0" anchor="t"/>
          <a:lstStyle/>
          <a:p>
            <a:pPr indent="0" marL="0">
              <a:buNone/>
            </a:pPr>
            <a:r>
              <a:rPr lang="en-US" sz="1400" b="1" spc="300" kern="0" dirty="0">
                <a:solidFill>
                  <a:srgbClr val="E2C28A"/>
                </a:solidFill>
                <a:latin typeface="Arial" pitchFamily="34" charset="0"/>
                <a:ea typeface="Arial" pitchFamily="34" charset="-122"/>
                <a:cs typeface="Arial" pitchFamily="34" charset="-120"/>
              </a:rPr>
              <a:t>WHY NOT LET AN AI MODEL DECIDE?</a:t>
            </a:r>
            <a:endParaRPr lang="en-US" sz="1400" dirty="0"/>
          </a:p>
        </p:txBody>
      </p:sp>
      <p:sp>
        <p:nvSpPr>
          <p:cNvPr id="3" name="title"/>
          <p:cNvSpPr txBox="1"/>
          <p:nvPr/>
        </p:nvSpPr>
        <p:spPr>
          <a:xfrm>
            <a:off x="822960" y="1051560"/>
            <a:ext cx="10058400" cy="777240"/>
          </a:xfrm>
          <a:prstGeom prst="rect">
            <a:avLst/>
          </a:prstGeom>
          <a:noFill/>
          <a:ln/>
        </p:spPr>
        <p:txBody>
          <a:bodyPr wrap="square" lIns="0" tIns="0" rIns="0" bIns="0" rtlCol="0" anchor="t"/>
          <a:lstStyle/>
          <a:p>
            <a:pPr indent="0" marL="0">
              <a:buNone/>
            </a:pPr>
            <a:r>
              <a:rPr lang="en-US" sz="4400" b="1" dirty="0">
                <a:solidFill>
                  <a:srgbClr val="F5F5F7"/>
                </a:solidFill>
                <a:latin typeface="Arial" pitchFamily="34" charset="0"/>
                <a:ea typeface="Arial" pitchFamily="34" charset="-122"/>
                <a:cs typeface="Arial" pitchFamily="34" charset="-120"/>
              </a:rPr>
              <a:t>So we tested one.</a:t>
            </a:r>
            <a:endParaRPr lang="en-US" sz="4400" dirty="0"/>
          </a:p>
        </p:txBody>
      </p:sp>
      <p:sp>
        <p:nvSpPr>
          <p:cNvPr id="4" name="A 3B language model panel"/>
          <p:cNvSpPr/>
          <p:nvPr/>
        </p:nvSpPr>
        <p:spPr>
          <a:xfrm>
            <a:off x="822960" y="2148840"/>
            <a:ext cx="5120640" cy="2788920"/>
          </a:xfrm>
          <a:prstGeom prst="roundRect">
            <a:avLst>
              <a:gd name="adj" fmla="val 5902"/>
            </a:avLst>
          </a:prstGeom>
          <a:solidFill>
            <a:srgbClr val="161618"/>
          </a:solidFill>
          <a:ln w="12700">
            <a:solidFill>
              <a:srgbClr val="2C2C30"/>
            </a:solidFill>
            <a:prstDash val="solid"/>
          </a:ln>
        </p:spPr>
      </p:sp>
      <p:sp>
        <p:nvSpPr>
          <p:cNvPr id="5" name="A 3B language model name"/>
          <p:cNvSpPr txBox="1"/>
          <p:nvPr/>
        </p:nvSpPr>
        <p:spPr>
          <a:xfrm>
            <a:off x="1188720" y="2423160"/>
            <a:ext cx="4389120" cy="457200"/>
          </a:xfrm>
          <a:prstGeom prst="rect">
            <a:avLst/>
          </a:prstGeom>
          <a:noFill/>
          <a:ln/>
        </p:spPr>
        <p:txBody>
          <a:bodyPr wrap="square" lIns="0" tIns="0" rIns="0" bIns="0" rtlCol="0" anchor="t"/>
          <a:lstStyle/>
          <a:p>
            <a:pPr indent="0" marL="0">
              <a:buNone/>
            </a:pPr>
            <a:r>
              <a:rPr lang="en-US" sz="2400" b="1" dirty="0">
                <a:solidFill>
                  <a:srgbClr val="F5F5F7"/>
                </a:solidFill>
                <a:latin typeface="Arial" pitchFamily="34" charset="0"/>
                <a:ea typeface="Arial" pitchFamily="34" charset="-122"/>
                <a:cs typeface="Arial" pitchFamily="34" charset="-120"/>
              </a:rPr>
              <a:t>A 3B language model</a:t>
            </a:r>
            <a:endParaRPr lang="en-US" sz="2400" dirty="0"/>
          </a:p>
        </p:txBody>
      </p:sp>
      <p:sp>
        <p:nvSpPr>
          <p:cNvPr id="6" name="A 3B language model Scams caught label"/>
          <p:cNvSpPr txBox="1"/>
          <p:nvPr/>
        </p:nvSpPr>
        <p:spPr>
          <a:xfrm>
            <a:off x="1188720" y="3063240"/>
            <a:ext cx="4389120" cy="274320"/>
          </a:xfrm>
          <a:prstGeom prst="rect">
            <a:avLst/>
          </a:prstGeom>
          <a:noFill/>
          <a:ln/>
        </p:spPr>
        <p:txBody>
          <a:bodyPr wrap="square" lIns="0" tIns="0" rIns="0" bIns="0" rtlCol="0" anchor="t"/>
          <a:lstStyle/>
          <a:p>
            <a:pPr indent="0" marL="0">
              <a:buNone/>
            </a:pPr>
            <a:r>
              <a:rPr lang="en-US" sz="1200" b="1" spc="150" kern="0" dirty="0">
                <a:solidFill>
                  <a:srgbClr val="6E6E73"/>
                </a:solidFill>
                <a:latin typeface="Arial" pitchFamily="34" charset="0"/>
                <a:ea typeface="Arial" pitchFamily="34" charset="-122"/>
                <a:cs typeface="Arial" pitchFamily="34" charset="-120"/>
              </a:rPr>
              <a:t>SCAMS CAUGHT</a:t>
            </a:r>
            <a:endParaRPr lang="en-US" sz="1200" dirty="0"/>
          </a:p>
        </p:txBody>
      </p:sp>
      <p:sp>
        <p:nvSpPr>
          <p:cNvPr id="7" name="A 3B language model Scams caught"/>
          <p:cNvSpPr txBox="1"/>
          <p:nvPr/>
        </p:nvSpPr>
        <p:spPr>
          <a:xfrm>
            <a:off x="1188720" y="3337560"/>
            <a:ext cx="4389120" cy="548640"/>
          </a:xfrm>
          <a:prstGeom prst="rect">
            <a:avLst/>
          </a:prstGeom>
          <a:noFill/>
          <a:ln/>
        </p:spPr>
        <p:txBody>
          <a:bodyPr wrap="square" lIns="0" tIns="0" rIns="0" bIns="0" rtlCol="0" anchor="t"/>
          <a:lstStyle/>
          <a:p>
            <a:pPr indent="0" marL="0">
              <a:buNone/>
            </a:pPr>
            <a:r>
              <a:rPr lang="en-US" sz="3600" b="1" dirty="0">
                <a:solidFill>
                  <a:srgbClr val="F5F5F7"/>
                </a:solidFill>
                <a:latin typeface="Arial" pitchFamily="34" charset="0"/>
                <a:ea typeface="Arial" pitchFamily="34" charset="-122"/>
                <a:cs typeface="Arial" pitchFamily="34" charset="-120"/>
              </a:rPr>
              <a:t>99 of 103</a:t>
            </a:r>
            <a:endParaRPr lang="en-US" sz="3600" dirty="0"/>
          </a:p>
        </p:txBody>
      </p:sp>
      <p:sp>
        <p:nvSpPr>
          <p:cNvPr id="8" name="A 3B language model Genuine messages flagged label"/>
          <p:cNvSpPr txBox="1"/>
          <p:nvPr/>
        </p:nvSpPr>
        <p:spPr>
          <a:xfrm>
            <a:off x="1188720" y="3977640"/>
            <a:ext cx="4389120" cy="274320"/>
          </a:xfrm>
          <a:prstGeom prst="rect">
            <a:avLst/>
          </a:prstGeom>
          <a:noFill/>
          <a:ln/>
        </p:spPr>
        <p:txBody>
          <a:bodyPr wrap="square" lIns="0" tIns="0" rIns="0" bIns="0" rtlCol="0" anchor="t"/>
          <a:lstStyle/>
          <a:p>
            <a:pPr indent="0" marL="0">
              <a:buNone/>
            </a:pPr>
            <a:r>
              <a:rPr lang="en-US" sz="1200" b="1" spc="150" kern="0" dirty="0">
                <a:solidFill>
                  <a:srgbClr val="6E6E73"/>
                </a:solidFill>
                <a:latin typeface="Arial" pitchFamily="34" charset="0"/>
                <a:ea typeface="Arial" pitchFamily="34" charset="-122"/>
                <a:cs typeface="Arial" pitchFamily="34" charset="-120"/>
              </a:rPr>
              <a:t>GENUINE MESSAGES FLAGGED</a:t>
            </a:r>
            <a:endParaRPr lang="en-US" sz="1200" dirty="0"/>
          </a:p>
        </p:txBody>
      </p:sp>
      <p:sp>
        <p:nvSpPr>
          <p:cNvPr id="9" name="A 3B language model Genuine messages flagged"/>
          <p:cNvSpPr txBox="1"/>
          <p:nvPr/>
        </p:nvSpPr>
        <p:spPr>
          <a:xfrm>
            <a:off x="1188720" y="4251960"/>
            <a:ext cx="4389120" cy="548640"/>
          </a:xfrm>
          <a:prstGeom prst="rect">
            <a:avLst/>
          </a:prstGeom>
          <a:noFill/>
          <a:ln/>
        </p:spPr>
        <p:txBody>
          <a:bodyPr wrap="square" lIns="0" tIns="0" rIns="0" bIns="0" rtlCol="0" anchor="t"/>
          <a:lstStyle/>
          <a:p>
            <a:pPr indent="0" marL="0">
              <a:buNone/>
            </a:pPr>
            <a:r>
              <a:rPr lang="en-US" sz="3600" b="1" dirty="0">
                <a:solidFill>
                  <a:srgbClr val="FF5A52"/>
                </a:solidFill>
                <a:latin typeface="Arial" pitchFamily="34" charset="0"/>
                <a:ea typeface="Arial" pitchFamily="34" charset="-122"/>
                <a:cs typeface="Arial" pitchFamily="34" charset="-120"/>
              </a:rPr>
              <a:t>21 of 34</a:t>
            </a:r>
            <a:endParaRPr lang="en-US" sz="3600" dirty="0"/>
          </a:p>
        </p:txBody>
      </p:sp>
      <p:sp>
        <p:nvSpPr>
          <p:cNvPr id="10" name="Sahayak panel"/>
          <p:cNvSpPr/>
          <p:nvPr/>
        </p:nvSpPr>
        <p:spPr>
          <a:xfrm>
            <a:off x="6172200" y="2148840"/>
            <a:ext cx="5120640" cy="2788920"/>
          </a:xfrm>
          <a:prstGeom prst="roundRect">
            <a:avLst>
              <a:gd name="adj" fmla="val 5902"/>
            </a:avLst>
          </a:prstGeom>
          <a:solidFill>
            <a:srgbClr val="111B2B"/>
          </a:solidFill>
          <a:ln w="12700">
            <a:solidFill>
              <a:srgbClr val="2F4A75"/>
            </a:solidFill>
            <a:prstDash val="solid"/>
          </a:ln>
        </p:spPr>
      </p:sp>
      <p:sp>
        <p:nvSpPr>
          <p:cNvPr id="11" name="Sahayak name"/>
          <p:cNvSpPr txBox="1"/>
          <p:nvPr/>
        </p:nvSpPr>
        <p:spPr>
          <a:xfrm>
            <a:off x="6537960" y="2423160"/>
            <a:ext cx="4389120" cy="457200"/>
          </a:xfrm>
          <a:prstGeom prst="rect">
            <a:avLst/>
          </a:prstGeom>
          <a:noFill/>
          <a:ln/>
        </p:spPr>
        <p:txBody>
          <a:bodyPr wrap="square" lIns="0" tIns="0" rIns="0" bIns="0" rtlCol="0" anchor="t"/>
          <a:lstStyle/>
          <a:p>
            <a:pPr indent="0" marL="0">
              <a:buNone/>
            </a:pPr>
            <a:r>
              <a:rPr lang="en-US" sz="2400" b="1" dirty="0">
                <a:solidFill>
                  <a:srgbClr val="6FA8FF"/>
                </a:solidFill>
                <a:latin typeface="Arial" pitchFamily="34" charset="0"/>
                <a:ea typeface="Arial" pitchFamily="34" charset="-122"/>
                <a:cs typeface="Arial" pitchFamily="34" charset="-120"/>
              </a:rPr>
              <a:t>Sahayak</a:t>
            </a:r>
            <a:endParaRPr lang="en-US" sz="2400" dirty="0"/>
          </a:p>
        </p:txBody>
      </p:sp>
      <p:sp>
        <p:nvSpPr>
          <p:cNvPr id="12" name="Sahayak Scams caught label"/>
          <p:cNvSpPr txBox="1"/>
          <p:nvPr/>
        </p:nvSpPr>
        <p:spPr>
          <a:xfrm>
            <a:off x="6537960" y="3063240"/>
            <a:ext cx="4389120" cy="274320"/>
          </a:xfrm>
          <a:prstGeom prst="rect">
            <a:avLst/>
          </a:prstGeom>
          <a:noFill/>
          <a:ln/>
        </p:spPr>
        <p:txBody>
          <a:bodyPr wrap="square" lIns="0" tIns="0" rIns="0" bIns="0" rtlCol="0" anchor="t"/>
          <a:lstStyle/>
          <a:p>
            <a:pPr indent="0" marL="0">
              <a:buNone/>
            </a:pPr>
            <a:r>
              <a:rPr lang="en-US" sz="1200" b="1" spc="150" kern="0" dirty="0">
                <a:solidFill>
                  <a:srgbClr val="6E6E73"/>
                </a:solidFill>
                <a:latin typeface="Arial" pitchFamily="34" charset="0"/>
                <a:ea typeface="Arial" pitchFamily="34" charset="-122"/>
                <a:cs typeface="Arial" pitchFamily="34" charset="-120"/>
              </a:rPr>
              <a:t>SCAMS CAUGHT</a:t>
            </a:r>
            <a:endParaRPr lang="en-US" sz="1200" dirty="0"/>
          </a:p>
        </p:txBody>
      </p:sp>
      <p:sp>
        <p:nvSpPr>
          <p:cNvPr id="13" name="Sahayak Scams caught"/>
          <p:cNvSpPr txBox="1"/>
          <p:nvPr/>
        </p:nvSpPr>
        <p:spPr>
          <a:xfrm>
            <a:off x="6537960" y="3337560"/>
            <a:ext cx="4389120" cy="548640"/>
          </a:xfrm>
          <a:prstGeom prst="rect">
            <a:avLst/>
          </a:prstGeom>
          <a:noFill/>
          <a:ln/>
        </p:spPr>
        <p:txBody>
          <a:bodyPr wrap="square" lIns="0" tIns="0" rIns="0" bIns="0" rtlCol="0" anchor="t"/>
          <a:lstStyle/>
          <a:p>
            <a:pPr indent="0" marL="0">
              <a:buNone/>
            </a:pPr>
            <a:r>
              <a:rPr lang="en-US" sz="3600" b="1" dirty="0">
                <a:solidFill>
                  <a:srgbClr val="F5F5F7"/>
                </a:solidFill>
                <a:latin typeface="Arial" pitchFamily="34" charset="0"/>
                <a:ea typeface="Arial" pitchFamily="34" charset="-122"/>
                <a:cs typeface="Arial" pitchFamily="34" charset="-120"/>
              </a:rPr>
              <a:t>67 of 103</a:t>
            </a:r>
            <a:endParaRPr lang="en-US" sz="3600" dirty="0"/>
          </a:p>
        </p:txBody>
      </p:sp>
      <p:sp>
        <p:nvSpPr>
          <p:cNvPr id="14" name="Sahayak Genuine messages flagged label"/>
          <p:cNvSpPr txBox="1"/>
          <p:nvPr/>
        </p:nvSpPr>
        <p:spPr>
          <a:xfrm>
            <a:off x="6537960" y="3977640"/>
            <a:ext cx="4389120" cy="274320"/>
          </a:xfrm>
          <a:prstGeom prst="rect">
            <a:avLst/>
          </a:prstGeom>
          <a:noFill/>
          <a:ln/>
        </p:spPr>
        <p:txBody>
          <a:bodyPr wrap="square" lIns="0" tIns="0" rIns="0" bIns="0" rtlCol="0" anchor="t"/>
          <a:lstStyle/>
          <a:p>
            <a:pPr indent="0" marL="0">
              <a:buNone/>
            </a:pPr>
            <a:r>
              <a:rPr lang="en-US" sz="1200" b="1" spc="150" kern="0" dirty="0">
                <a:solidFill>
                  <a:srgbClr val="6E6E73"/>
                </a:solidFill>
                <a:latin typeface="Arial" pitchFamily="34" charset="0"/>
                <a:ea typeface="Arial" pitchFamily="34" charset="-122"/>
                <a:cs typeface="Arial" pitchFamily="34" charset="-120"/>
              </a:rPr>
              <a:t>GENUINE MESSAGES FLAGGED</a:t>
            </a:r>
            <a:endParaRPr lang="en-US" sz="1200" dirty="0"/>
          </a:p>
        </p:txBody>
      </p:sp>
      <p:sp>
        <p:nvSpPr>
          <p:cNvPr id="15" name="Sahayak Genuine messages flagged"/>
          <p:cNvSpPr txBox="1"/>
          <p:nvPr/>
        </p:nvSpPr>
        <p:spPr>
          <a:xfrm>
            <a:off x="6537960" y="4251960"/>
            <a:ext cx="4389120" cy="548640"/>
          </a:xfrm>
          <a:prstGeom prst="rect">
            <a:avLst/>
          </a:prstGeom>
          <a:noFill/>
          <a:ln/>
        </p:spPr>
        <p:txBody>
          <a:bodyPr wrap="square" lIns="0" tIns="0" rIns="0" bIns="0" rtlCol="0" anchor="t"/>
          <a:lstStyle/>
          <a:p>
            <a:pPr indent="0" marL="0">
              <a:buNone/>
            </a:pPr>
            <a:r>
              <a:rPr lang="en-US" sz="3600" b="1" dirty="0">
                <a:solidFill>
                  <a:srgbClr val="F5F5F7"/>
                </a:solidFill>
                <a:latin typeface="Arial" pitchFamily="34" charset="0"/>
                <a:ea typeface="Arial" pitchFamily="34" charset="-122"/>
                <a:cs typeface="Arial" pitchFamily="34" charset="-120"/>
              </a:rPr>
              <a:t>11 of 34</a:t>
            </a:r>
            <a:endParaRPr lang="en-US" sz="3600" dirty="0"/>
          </a:p>
        </p:txBody>
      </p:sp>
      <p:sp>
        <p:nvSpPr>
          <p:cNvPr id="16" name="conclusion"/>
          <p:cNvSpPr txBox="1"/>
          <p:nvPr/>
        </p:nvSpPr>
        <p:spPr>
          <a:xfrm>
            <a:off x="822960" y="5120640"/>
            <a:ext cx="10545775" cy="868680"/>
          </a:xfrm>
          <a:prstGeom prst="rect">
            <a:avLst/>
          </a:prstGeom>
          <a:noFill/>
          <a:ln/>
        </p:spPr>
        <p:txBody>
          <a:bodyPr wrap="square" lIns="0" tIns="0" rIns="0" bIns="0" rtlCol="0" anchor="t"/>
          <a:lstStyle/>
          <a:p>
            <a:pPr indent="0" marL="0">
              <a:buNone/>
            </a:pPr>
            <a:r>
              <a:rPr lang="en-US" sz="2400" b="1" dirty="0">
                <a:solidFill>
                  <a:srgbClr val="A1A1A6"/>
                </a:solidFill>
                <a:latin typeface="Arial" pitchFamily="34" charset="0"/>
                <a:ea typeface="Arial" pitchFamily="34" charset="-122"/>
                <a:cs typeface="Arial" pitchFamily="34" charset="-120"/>
              </a:rPr>
              <a:t>A warning that cries wolf gets ignored.</a:t>
            </a:r>
            <a:endParaRPr lang="en-US" sz="2400" dirty="0"/>
          </a:p>
          <a:p>
            <a:pPr indent="0" marL="0">
              <a:buNone/>
            </a:pPr>
            <a:r>
              <a:rPr lang="en-US" sz="2400" b="1" dirty="0">
                <a:solidFill>
                  <a:srgbClr val="6FA8FF"/>
                </a:solidFill>
                <a:latin typeface="Arial" pitchFamily="34" charset="0"/>
                <a:ea typeface="Arial" pitchFamily="34" charset="-122"/>
                <a:cs typeface="Arial" pitchFamily="34" charset="-120"/>
              </a:rPr>
              <a:t>So rules decide, and every answer says why.</a:t>
            </a:r>
            <a:endParaRPr lang="en-US" sz="2400" dirty="0"/>
          </a:p>
        </p:txBody>
      </p:sp>
      <p:sp>
        <p:nvSpPr>
          <p:cNvPr id="17" name="source"/>
          <p:cNvSpPr txBox="1"/>
          <p:nvPr/>
        </p:nvSpPr>
        <p:spPr>
          <a:xfrm>
            <a:off x="822960" y="6400800"/>
            <a:ext cx="10545775" cy="256032"/>
          </a:xfrm>
          <a:prstGeom prst="rect">
            <a:avLst/>
          </a:prstGeom>
          <a:noFill/>
          <a:ln/>
        </p:spPr>
        <p:txBody>
          <a:bodyPr wrap="square" lIns="0" tIns="0" rIns="0" bIns="0" rtlCol="0" anchor="t"/>
          <a:lstStyle/>
          <a:p>
            <a:pPr indent="0" marL="0">
              <a:buNone/>
            </a:pPr>
            <a:r>
              <a:rPr lang="en-US" sz="1050" dirty="0">
                <a:solidFill>
                  <a:srgbClr val="6E6E73"/>
                </a:solidFill>
                <a:latin typeface="Arial" pitchFamily="34" charset="0"/>
                <a:ea typeface="Arial" pitchFamily="34" charset="-122"/>
                <a:cs typeface="Arial" pitchFamily="34" charset="-120"/>
              </a:rPr>
              <a:t>qwen2.5:3b, zero-shot, on the same 137 real published messages, first runs, 7 Oct 2026. In languages Sahayak can’t read yet, the model caught 14 of 15 scams.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822960" y="868680"/>
            <a:ext cx="3657600" cy="310896"/>
          </a:xfrm>
          <a:prstGeom prst="rect">
            <a:avLst/>
          </a:prstGeom>
          <a:noFill/>
          <a:ln/>
        </p:spPr>
        <p:txBody>
          <a:bodyPr wrap="square" lIns="0" tIns="0" rIns="0" bIns="0" rtlCol="0" anchor="t"/>
          <a:lstStyle/>
          <a:p>
            <a:pPr indent="0" marL="0">
              <a:buNone/>
            </a:pPr>
            <a:r>
              <a:rPr lang="en-US" sz="1400" b="1" spc="300" kern="0" dirty="0">
                <a:solidFill>
                  <a:srgbClr val="6E6E73"/>
                </a:solidFill>
                <a:latin typeface="Arial" pitchFamily="34" charset="0"/>
                <a:ea typeface="Arial" pitchFamily="34" charset="-122"/>
                <a:cs typeface="Arial" pitchFamily="34" charset="-120"/>
              </a:rPr>
              <a:t>WE COULD HAVE SHOWN YOU</a:t>
            </a:r>
            <a:endParaRPr lang="en-US" sz="1400" dirty="0"/>
          </a:p>
        </p:txBody>
      </p:sp>
      <p:sp>
        <p:nvSpPr>
          <p:cNvPr id="3" name="bigger number 1 rule"/>
          <p:cNvSpPr/>
          <p:nvPr/>
        </p:nvSpPr>
        <p:spPr>
          <a:xfrm>
            <a:off x="822960" y="1325880"/>
            <a:ext cx="3291840" cy="0"/>
          </a:xfrm>
          <a:prstGeom prst="line">
            <a:avLst/>
          </a:prstGeom>
          <a:noFill/>
          <a:ln w="9525">
            <a:solidFill>
              <a:srgbClr val="3A3A3E"/>
            </a:solidFill>
            <a:prstDash val="solid"/>
          </a:ln>
        </p:spPr>
      </p:sp>
      <p:sp>
        <p:nvSpPr>
          <p:cNvPr id="4" name="bigger number 1"/>
          <p:cNvSpPr txBox="1"/>
          <p:nvPr/>
        </p:nvSpPr>
        <p:spPr>
          <a:xfrm>
            <a:off x="822960" y="1463040"/>
            <a:ext cx="3291840" cy="640080"/>
          </a:xfrm>
          <a:prstGeom prst="rect">
            <a:avLst/>
          </a:prstGeom>
          <a:noFill/>
          <a:ln/>
        </p:spPr>
        <p:txBody>
          <a:bodyPr wrap="square" lIns="0" tIns="0" rIns="0" bIns="0" rtlCol="0" anchor="t"/>
          <a:lstStyle/>
          <a:p>
            <a:pPr indent="0" marL="0">
              <a:buNone/>
            </a:pPr>
            <a:r>
              <a:rPr lang="en-US" sz="4000" b="1" dirty="0">
                <a:solidFill>
                  <a:srgbClr val="6E6E73"/>
                </a:solidFill>
                <a:latin typeface="Arial" pitchFamily="34" charset="0"/>
                <a:ea typeface="Arial" pitchFamily="34" charset="-122"/>
                <a:cs typeface="Arial" pitchFamily="34" charset="-120"/>
              </a:rPr>
              <a:t>34 of 37</a:t>
            </a:r>
            <a:endParaRPr lang="en-US" sz="4000" dirty="0"/>
          </a:p>
        </p:txBody>
      </p:sp>
      <p:sp>
        <p:nvSpPr>
          <p:cNvPr id="5" name="bigger number 1 label"/>
          <p:cNvSpPr txBox="1"/>
          <p:nvPr/>
        </p:nvSpPr>
        <p:spPr>
          <a:xfrm>
            <a:off x="822960" y="2103120"/>
            <a:ext cx="3291840" cy="640080"/>
          </a:xfrm>
          <a:prstGeom prst="rect">
            <a:avLst/>
          </a:prstGeom>
          <a:noFill/>
          <a:ln/>
        </p:spPr>
        <p:txBody>
          <a:bodyPr wrap="square" lIns="0" tIns="0" rIns="0" bIns="0" rtlCol="0" anchor="t"/>
          <a:lstStyle/>
          <a:p>
            <a:pPr indent="0" marL="0">
              <a:buNone/>
            </a:pPr>
            <a:r>
              <a:rPr lang="en-US" sz="1500" dirty="0">
                <a:solidFill>
                  <a:srgbClr val="6E6E73"/>
                </a:solidFill>
                <a:latin typeface="Arial" pitchFamily="34" charset="0"/>
                <a:ea typeface="Arial" pitchFamily="34" charset="-122"/>
                <a:cs typeface="Arial" pitchFamily="34" charset="-120"/>
              </a:rPr>
              <a:t>on messages we wrote</a:t>
            </a:r>
            <a:endParaRPr lang="en-US" sz="1500" dirty="0"/>
          </a:p>
        </p:txBody>
      </p:sp>
      <p:sp>
        <p:nvSpPr>
          <p:cNvPr id="6" name="bigger number 2 rule"/>
          <p:cNvSpPr/>
          <p:nvPr/>
        </p:nvSpPr>
        <p:spPr>
          <a:xfrm>
            <a:off x="822960" y="2926080"/>
            <a:ext cx="3291840" cy="0"/>
          </a:xfrm>
          <a:prstGeom prst="line">
            <a:avLst/>
          </a:prstGeom>
          <a:noFill/>
          <a:ln w="9525">
            <a:solidFill>
              <a:srgbClr val="3A3A3E"/>
            </a:solidFill>
            <a:prstDash val="solid"/>
          </a:ln>
        </p:spPr>
      </p:sp>
      <p:sp>
        <p:nvSpPr>
          <p:cNvPr id="7" name="bigger number 2"/>
          <p:cNvSpPr txBox="1"/>
          <p:nvPr/>
        </p:nvSpPr>
        <p:spPr>
          <a:xfrm>
            <a:off x="822960" y="3063240"/>
            <a:ext cx="3291840" cy="640080"/>
          </a:xfrm>
          <a:prstGeom prst="rect">
            <a:avLst/>
          </a:prstGeom>
          <a:noFill/>
          <a:ln/>
        </p:spPr>
        <p:txBody>
          <a:bodyPr wrap="square" lIns="0" tIns="0" rIns="0" bIns="0" rtlCol="0" anchor="t"/>
          <a:lstStyle/>
          <a:p>
            <a:pPr indent="0" marL="0">
              <a:buNone/>
            </a:pPr>
            <a:r>
              <a:rPr lang="en-US" sz="4000" b="1" dirty="0">
                <a:solidFill>
                  <a:srgbClr val="6E6E73"/>
                </a:solidFill>
                <a:latin typeface="Arial" pitchFamily="34" charset="0"/>
                <a:ea typeface="Arial" pitchFamily="34" charset="-122"/>
                <a:cs typeface="Arial" pitchFamily="34" charset="-120"/>
              </a:rPr>
              <a:t>92 of 103</a:t>
            </a:r>
            <a:endParaRPr lang="en-US" sz="4000" dirty="0"/>
          </a:p>
        </p:txBody>
      </p:sp>
      <p:sp>
        <p:nvSpPr>
          <p:cNvPr id="8" name="bigger number 2 label"/>
          <p:cNvSpPr txBox="1"/>
          <p:nvPr/>
        </p:nvSpPr>
        <p:spPr>
          <a:xfrm>
            <a:off x="822960" y="3703320"/>
            <a:ext cx="3291840" cy="640080"/>
          </a:xfrm>
          <a:prstGeom prst="rect">
            <a:avLst/>
          </a:prstGeom>
          <a:noFill/>
          <a:ln/>
        </p:spPr>
        <p:txBody>
          <a:bodyPr wrap="square" lIns="0" tIns="0" rIns="0" bIns="0" rtlCol="0" anchor="t"/>
          <a:lstStyle/>
          <a:p>
            <a:pPr indent="0" marL="0">
              <a:buNone/>
            </a:pPr>
            <a:r>
              <a:rPr lang="en-US" sz="1500" dirty="0">
                <a:solidFill>
                  <a:srgbClr val="6E6E73"/>
                </a:solidFill>
                <a:latin typeface="Arial" pitchFamily="34" charset="0"/>
                <a:ea typeface="Arial" pitchFamily="34" charset="-122"/>
                <a:cs typeface="Arial" pitchFamily="34" charset="-120"/>
              </a:rPr>
              <a:t>on a blind red team, written by an AI that never saw our code</a:t>
            </a:r>
            <a:endParaRPr lang="en-US" sz="1500" dirty="0"/>
          </a:p>
        </p:txBody>
      </p:sp>
      <p:sp>
        <p:nvSpPr>
          <p:cNvPr id="9" name="divider"/>
          <p:cNvSpPr/>
          <p:nvPr/>
        </p:nvSpPr>
        <p:spPr>
          <a:xfrm>
            <a:off x="4572000" y="914400"/>
            <a:ext cx="0" cy="4023360"/>
          </a:xfrm>
          <a:prstGeom prst="line">
            <a:avLst/>
          </a:prstGeom>
          <a:noFill/>
          <a:ln w="9525">
            <a:solidFill>
              <a:srgbClr val="3A3A3E"/>
            </a:solidFill>
            <a:prstDash val="solid"/>
          </a:ln>
        </p:spPr>
      </p:sp>
      <p:sp>
        <p:nvSpPr>
          <p:cNvPr id="10" name="eyebrow"/>
          <p:cNvSpPr txBox="1"/>
          <p:nvPr/>
        </p:nvSpPr>
        <p:spPr>
          <a:xfrm>
            <a:off x="5120640" y="868680"/>
            <a:ext cx="5486400" cy="310896"/>
          </a:xfrm>
          <a:prstGeom prst="rect">
            <a:avLst/>
          </a:prstGeom>
          <a:noFill/>
          <a:ln/>
        </p:spPr>
        <p:txBody>
          <a:bodyPr wrap="square" lIns="0" tIns="0" rIns="0" bIns="0" rtlCol="0" anchor="t"/>
          <a:lstStyle/>
          <a:p>
            <a:pPr indent="0" marL="0">
              <a:buNone/>
            </a:pPr>
            <a:r>
              <a:rPr lang="en-US" sz="1400" b="1" spc="300" kern="0" dirty="0">
                <a:solidFill>
                  <a:srgbClr val="6FA8FF"/>
                </a:solidFill>
                <a:latin typeface="Arial" pitchFamily="34" charset="0"/>
                <a:ea typeface="Arial" pitchFamily="34" charset="-122"/>
                <a:cs typeface="Arial" pitchFamily="34" charset="-120"/>
              </a:rPr>
              <a:t>THE HONEST NUMBER</a:t>
            </a:r>
            <a:endParaRPr lang="en-US" sz="1400" dirty="0"/>
          </a:p>
        </p:txBody>
      </p:sp>
      <p:sp>
        <p:nvSpPr>
          <p:cNvPr id="11" name="headline number"/>
          <p:cNvSpPr txBox="1"/>
          <p:nvPr/>
        </p:nvSpPr>
        <p:spPr>
          <a:xfrm>
            <a:off x="5074920" y="1143000"/>
            <a:ext cx="6400800" cy="2103120"/>
          </a:xfrm>
          <a:prstGeom prst="rect">
            <a:avLst/>
          </a:prstGeom>
          <a:noFill/>
          <a:ln/>
        </p:spPr>
        <p:txBody>
          <a:bodyPr wrap="square" lIns="0" tIns="0" rIns="0" bIns="0" rtlCol="0" anchor="ctr"/>
          <a:lstStyle/>
          <a:p>
            <a:pPr indent="0" marL="0">
              <a:buNone/>
            </a:pPr>
            <a:r>
              <a:rPr lang="en-US" sz="15000" b="1" dirty="0">
                <a:solidFill>
                  <a:srgbClr val="6FA8FF"/>
                </a:solidFill>
                <a:latin typeface="Arial" pitchFamily="34" charset="0"/>
                <a:ea typeface="Arial" pitchFamily="34" charset="-122"/>
                <a:cs typeface="Arial" pitchFamily="34" charset="-120"/>
              </a:rPr>
              <a:t>7 in 10</a:t>
            </a:r>
            <a:endParaRPr lang="en-US" sz="15000" dirty="0"/>
          </a:p>
        </p:txBody>
      </p:sp>
      <p:sp>
        <p:nvSpPr>
          <p:cNvPr id="12" name="what it counts"/>
          <p:cNvSpPr txBox="1"/>
          <p:nvPr/>
        </p:nvSpPr>
        <p:spPr>
          <a:xfrm>
            <a:off x="5120640" y="3383280"/>
            <a:ext cx="6309360" cy="868680"/>
          </a:xfrm>
          <a:prstGeom prst="rect">
            <a:avLst/>
          </a:prstGeom>
          <a:noFill/>
          <a:ln/>
        </p:spPr>
        <p:txBody>
          <a:bodyPr wrap="square" lIns="0" tIns="0" rIns="0" bIns="0" rtlCol="0" anchor="t"/>
          <a:lstStyle/>
          <a:p>
            <a:pPr indent="0" marL="0">
              <a:buNone/>
            </a:pPr>
            <a:r>
              <a:rPr lang="en-US" sz="2500" b="1" dirty="0">
                <a:solidFill>
                  <a:srgbClr val="F5F5F7"/>
                </a:solidFill>
                <a:latin typeface="Arial" pitchFamily="34" charset="0"/>
                <a:ea typeface="Arial" pitchFamily="34" charset="-122"/>
                <a:cs typeface="Arial" pitchFamily="34" charset="-120"/>
              </a:rPr>
              <a:t>scams caught on 137 real messages people in India received.</a:t>
            </a:r>
            <a:endParaRPr lang="en-US" sz="2500" dirty="0"/>
          </a:p>
        </p:txBody>
      </p:sp>
      <p:sp>
        <p:nvSpPr>
          <p:cNvPr id="13" name="scored once"/>
          <p:cNvSpPr txBox="1"/>
          <p:nvPr/>
        </p:nvSpPr>
        <p:spPr>
          <a:xfrm>
            <a:off x="5120640" y="4297680"/>
            <a:ext cx="6309360" cy="411480"/>
          </a:xfrm>
          <a:prstGeom prst="rect">
            <a:avLst/>
          </a:prstGeom>
          <a:noFill/>
          <a:ln/>
        </p:spPr>
        <p:txBody>
          <a:bodyPr wrap="square" lIns="0" tIns="0" rIns="0" bIns="0" rtlCol="0" anchor="t"/>
          <a:lstStyle/>
          <a:p>
            <a:pPr indent="0" marL="0">
              <a:buNone/>
            </a:pPr>
            <a:r>
              <a:rPr lang="en-US" sz="2200" dirty="0">
                <a:solidFill>
                  <a:srgbClr val="A1A1A6"/>
                </a:solidFill>
                <a:latin typeface="Arial" pitchFamily="34" charset="0"/>
                <a:ea typeface="Arial" pitchFamily="34" charset="-122"/>
                <a:cs typeface="Arial" pitchFamily="34" charset="-120"/>
              </a:rPr>
              <a:t>Scored once.</a:t>
            </a:r>
            <a:endParaRPr lang="en-US" sz="2200" dirty="0"/>
          </a:p>
        </p:txBody>
      </p:sp>
      <p:sp>
        <p:nvSpPr>
          <p:cNvPr id="14" name="not yet rule"/>
          <p:cNvSpPr/>
          <p:nvPr/>
        </p:nvSpPr>
        <p:spPr>
          <a:xfrm>
            <a:off x="822960" y="5257800"/>
            <a:ext cx="10545775" cy="0"/>
          </a:xfrm>
          <a:prstGeom prst="line">
            <a:avLst/>
          </a:prstGeom>
          <a:noFill/>
          <a:ln w="9525">
            <a:solidFill>
              <a:srgbClr val="3A3A3E"/>
            </a:solidFill>
            <a:prstDash val="solid"/>
          </a:ln>
        </p:spPr>
      </p:sp>
      <p:sp>
        <p:nvSpPr>
          <p:cNvPr id="15" name="not yet"/>
          <p:cNvSpPr txBox="1"/>
          <p:nvPr/>
        </p:nvSpPr>
        <p:spPr>
          <a:xfrm>
            <a:off x="822960" y="5394960"/>
            <a:ext cx="10545775" cy="411480"/>
          </a:xfrm>
          <a:prstGeom prst="rect">
            <a:avLst/>
          </a:prstGeom>
          <a:noFill/>
          <a:ln/>
        </p:spPr>
        <p:txBody>
          <a:bodyPr wrap="square" lIns="0" tIns="0" rIns="0" bIns="0" rtlCol="0" anchor="t"/>
          <a:lstStyle/>
          <a:p>
            <a:pPr indent="0" marL="0">
              <a:buNone/>
            </a:pPr>
            <a:r>
              <a:rPr lang="en-US" sz="2100" b="1" dirty="0">
                <a:solidFill>
                  <a:srgbClr val="E2C28A"/>
                </a:solidFill>
                <a:latin typeface="Arial" pitchFamily="34" charset="0"/>
                <a:ea typeface="Arial" pitchFamily="34" charset="-122"/>
                <a:cs typeface="Arial" pitchFamily="34" charset="-120"/>
              </a:rPr>
              <a:t>Not yet: </a:t>
            </a:r>
            <a:pPr indent="0" marL="0">
              <a:buNone/>
            </a:pPr>
            <a:r>
              <a:rPr lang="en-US" sz="2100" dirty="0">
                <a:solidFill>
                  <a:srgbClr val="F5F5F7"/>
                </a:solidFill>
                <a:latin typeface="Arial" pitchFamily="34" charset="0"/>
                <a:ea typeface="Arial" pitchFamily="34" charset="-122"/>
                <a:cs typeface="Arial" pitchFamily="34" charset="-120"/>
              </a:rPr>
              <a:t>real users, and messages from people’s own phones. That’s next.</a:t>
            </a:r>
            <a:endParaRPr lang="en-US" sz="2100" dirty="0"/>
          </a:p>
        </p:txBody>
      </p:sp>
      <p:sp>
        <p:nvSpPr>
          <p:cNvPr id="16" name="source"/>
          <p:cNvSpPr txBox="1"/>
          <p:nvPr/>
        </p:nvSpPr>
        <p:spPr>
          <a:xfrm>
            <a:off x="822960" y="6400800"/>
            <a:ext cx="10545775" cy="256032"/>
          </a:xfrm>
          <a:prstGeom prst="rect">
            <a:avLst/>
          </a:prstGeom>
          <a:noFill/>
          <a:ln/>
        </p:spPr>
        <p:txBody>
          <a:bodyPr wrap="square" lIns="0" tIns="0" rIns="0" bIns="0" rtlCol="0" anchor="t"/>
          <a:lstStyle/>
          <a:p>
            <a:pPr indent="0" marL="0">
              <a:buNone/>
            </a:pPr>
            <a:r>
              <a:rPr lang="en-US" sz="1050" dirty="0">
                <a:solidFill>
                  <a:srgbClr val="6E6E73"/>
                </a:solidFill>
                <a:latin typeface="Arial" pitchFamily="34" charset="0"/>
                <a:ea typeface="Arial" pitchFamily="34" charset="-122"/>
                <a:cs typeface="Arial" pitchFamily="34" charset="-120"/>
              </a:rPr>
              <a:t>In Hindi, English and Hinglish: 67 of 97 scams caught, 11 of 34 genuine flagged; published by the Income Tax portal, PIB Fact Check and fact-checkers · first runs, bench/results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822960" y="777240"/>
            <a:ext cx="7315200" cy="310896"/>
          </a:xfrm>
          <a:prstGeom prst="rect">
            <a:avLst/>
          </a:prstGeom>
          <a:noFill/>
          <a:ln/>
        </p:spPr>
        <p:txBody>
          <a:bodyPr wrap="square" lIns="0" tIns="0" rIns="0" bIns="0" rtlCol="0" anchor="t"/>
          <a:lstStyle/>
          <a:p>
            <a:pPr indent="0" marL="0">
              <a:buNone/>
            </a:pPr>
            <a:r>
              <a:rPr lang="en-US" sz="1400" b="1" spc="300" kern="0" dirty="0">
                <a:solidFill>
                  <a:srgbClr val="6FA8FF"/>
                </a:solidFill>
                <a:latin typeface="Arial" pitchFamily="34" charset="0"/>
                <a:ea typeface="Arial" pitchFamily="34" charset="-122"/>
                <a:cs typeface="Arial" pitchFamily="34" charset="-120"/>
              </a:rPr>
              <a:t>THE PILOT</a:t>
            </a:r>
            <a:endParaRPr lang="en-US" sz="1400" dirty="0"/>
          </a:p>
        </p:txBody>
      </p:sp>
      <p:sp>
        <p:nvSpPr>
          <p:cNvPr id="3" name="scope"/>
          <p:cNvSpPr txBox="1"/>
          <p:nvPr/>
        </p:nvSpPr>
        <p:spPr>
          <a:xfrm>
            <a:off x="822960" y="1097280"/>
            <a:ext cx="10058400" cy="960120"/>
          </a:xfrm>
          <a:prstGeom prst="rect">
            <a:avLst/>
          </a:prstGeom>
          <a:noFill/>
          <a:ln/>
        </p:spPr>
        <p:txBody>
          <a:bodyPr wrap="square" lIns="0" tIns="0" rIns="0" bIns="0" rtlCol="0" anchor="ctr"/>
          <a:lstStyle/>
          <a:p>
            <a:pPr indent="0" marL="0">
              <a:buNone/>
            </a:pPr>
            <a:r>
              <a:rPr lang="en-US" sz="6400" b="1" dirty="0">
                <a:solidFill>
                  <a:srgbClr val="F5F5F7"/>
                </a:solidFill>
                <a:latin typeface="Arial" pitchFamily="34" charset="0"/>
                <a:ea typeface="Arial" pitchFamily="34" charset="-122"/>
                <a:cs typeface="Arial" pitchFamily="34" charset="-120"/>
              </a:rPr>
              <a:t>One district.</a:t>
            </a:r>
            <a:endParaRPr lang="en-US" sz="6400" dirty="0"/>
          </a:p>
        </p:txBody>
      </p:sp>
      <p:sp>
        <p:nvSpPr>
          <p:cNvPr id="4" name="stat 1 rule"/>
          <p:cNvSpPr/>
          <p:nvPr/>
        </p:nvSpPr>
        <p:spPr>
          <a:xfrm>
            <a:off x="822960" y="2377440"/>
            <a:ext cx="2286000" cy="0"/>
          </a:xfrm>
          <a:prstGeom prst="line">
            <a:avLst/>
          </a:prstGeom>
          <a:noFill/>
          <a:ln w="9525">
            <a:solidFill>
              <a:srgbClr val="3A3A3E"/>
            </a:solidFill>
            <a:prstDash val="solid"/>
          </a:ln>
        </p:spPr>
      </p:sp>
      <p:sp>
        <p:nvSpPr>
          <p:cNvPr id="5" name="stat 1"/>
          <p:cNvSpPr txBox="1"/>
          <p:nvPr/>
        </p:nvSpPr>
        <p:spPr>
          <a:xfrm>
            <a:off x="822960" y="2514600"/>
            <a:ext cx="2286000" cy="822960"/>
          </a:xfrm>
          <a:prstGeom prst="rect">
            <a:avLst/>
          </a:prstGeom>
          <a:noFill/>
          <a:ln/>
        </p:spPr>
        <p:txBody>
          <a:bodyPr wrap="square" lIns="0" tIns="0" rIns="0" bIns="0" rtlCol="0" anchor="t"/>
          <a:lstStyle/>
          <a:p>
            <a:pPr indent="0" marL="0">
              <a:buNone/>
            </a:pPr>
            <a:r>
              <a:rPr lang="en-US" sz="5200" b="1" dirty="0">
                <a:solidFill>
                  <a:srgbClr val="F5F5F7"/>
                </a:solidFill>
                <a:latin typeface="Arial" pitchFamily="34" charset="0"/>
                <a:ea typeface="Arial" pitchFamily="34" charset="-122"/>
                <a:cs typeface="Arial" pitchFamily="34" charset="-120"/>
              </a:rPr>
              <a:t>20</a:t>
            </a:r>
            <a:endParaRPr lang="en-US" sz="5200" dirty="0"/>
          </a:p>
        </p:txBody>
      </p:sp>
      <p:sp>
        <p:nvSpPr>
          <p:cNvPr id="6" name="stat 1 label"/>
          <p:cNvSpPr txBox="1"/>
          <p:nvPr/>
        </p:nvSpPr>
        <p:spPr>
          <a:xfrm>
            <a:off x="822960" y="3337560"/>
            <a:ext cx="2286000" cy="365760"/>
          </a:xfrm>
          <a:prstGeom prst="rect">
            <a:avLst/>
          </a:prstGeom>
          <a:noFill/>
          <a:ln/>
        </p:spPr>
        <p:txBody>
          <a:bodyPr wrap="square" lIns="0" tIns="0" rIns="0" bIns="0" rtlCol="0" anchor="t"/>
          <a:lstStyle/>
          <a:p>
            <a:pPr indent="0" marL="0">
              <a:buNone/>
            </a:pPr>
            <a:r>
              <a:rPr lang="en-US" sz="1800" dirty="0">
                <a:solidFill>
                  <a:srgbClr val="A1A1A6"/>
                </a:solidFill>
                <a:latin typeface="Arial" pitchFamily="34" charset="0"/>
                <a:ea typeface="Arial" pitchFamily="34" charset="-122"/>
                <a:cs typeface="Arial" pitchFamily="34" charset="-120"/>
              </a:rPr>
              <a:t>villages</a:t>
            </a:r>
            <a:endParaRPr lang="en-US" sz="1800" dirty="0"/>
          </a:p>
        </p:txBody>
      </p:sp>
      <p:sp>
        <p:nvSpPr>
          <p:cNvPr id="7" name="stat 2 rule"/>
          <p:cNvSpPr/>
          <p:nvPr/>
        </p:nvSpPr>
        <p:spPr>
          <a:xfrm>
            <a:off x="3337560" y="2377440"/>
            <a:ext cx="2286000" cy="0"/>
          </a:xfrm>
          <a:prstGeom prst="line">
            <a:avLst/>
          </a:prstGeom>
          <a:noFill/>
          <a:ln w="9525">
            <a:solidFill>
              <a:srgbClr val="3A3A3E"/>
            </a:solidFill>
            <a:prstDash val="solid"/>
          </a:ln>
        </p:spPr>
      </p:sp>
      <p:sp>
        <p:nvSpPr>
          <p:cNvPr id="8" name="stat 2"/>
          <p:cNvSpPr txBox="1"/>
          <p:nvPr/>
        </p:nvSpPr>
        <p:spPr>
          <a:xfrm>
            <a:off x="3337560" y="2514600"/>
            <a:ext cx="2286000" cy="822960"/>
          </a:xfrm>
          <a:prstGeom prst="rect">
            <a:avLst/>
          </a:prstGeom>
          <a:noFill/>
          <a:ln/>
        </p:spPr>
        <p:txBody>
          <a:bodyPr wrap="square" lIns="0" tIns="0" rIns="0" bIns="0" rtlCol="0" anchor="t"/>
          <a:lstStyle/>
          <a:p>
            <a:pPr indent="0" marL="0">
              <a:buNone/>
            </a:pPr>
            <a:r>
              <a:rPr lang="en-US" sz="5200" b="1" dirty="0">
                <a:solidFill>
                  <a:srgbClr val="F5F5F7"/>
                </a:solidFill>
                <a:latin typeface="Arial" pitchFamily="34" charset="0"/>
                <a:ea typeface="Arial" pitchFamily="34" charset="-122"/>
                <a:cs typeface="Arial" pitchFamily="34" charset="-120"/>
              </a:rPr>
              <a:t>50</a:t>
            </a:r>
            <a:endParaRPr lang="en-US" sz="5200" dirty="0"/>
          </a:p>
        </p:txBody>
      </p:sp>
      <p:sp>
        <p:nvSpPr>
          <p:cNvPr id="9" name="stat 2 label"/>
          <p:cNvSpPr txBox="1"/>
          <p:nvPr/>
        </p:nvSpPr>
        <p:spPr>
          <a:xfrm>
            <a:off x="3337560" y="3337560"/>
            <a:ext cx="2286000" cy="365760"/>
          </a:xfrm>
          <a:prstGeom prst="rect">
            <a:avLst/>
          </a:prstGeom>
          <a:noFill/>
          <a:ln/>
        </p:spPr>
        <p:txBody>
          <a:bodyPr wrap="square" lIns="0" tIns="0" rIns="0" bIns="0" rtlCol="0" anchor="t"/>
          <a:lstStyle/>
          <a:p>
            <a:pPr indent="0" marL="0">
              <a:buNone/>
            </a:pPr>
            <a:r>
              <a:rPr lang="en-US" sz="1800" dirty="0">
                <a:solidFill>
                  <a:srgbClr val="A1A1A6"/>
                </a:solidFill>
                <a:latin typeface="Arial" pitchFamily="34" charset="0"/>
                <a:ea typeface="Arial" pitchFamily="34" charset="-122"/>
                <a:cs typeface="Arial" pitchFamily="34" charset="-120"/>
              </a:rPr>
              <a:t>counters</a:t>
            </a:r>
            <a:endParaRPr lang="en-US" sz="1800" dirty="0"/>
          </a:p>
        </p:txBody>
      </p:sp>
      <p:sp>
        <p:nvSpPr>
          <p:cNvPr id="10" name="stat 3 rule"/>
          <p:cNvSpPr/>
          <p:nvPr/>
        </p:nvSpPr>
        <p:spPr>
          <a:xfrm>
            <a:off x="5852160" y="2377440"/>
            <a:ext cx="2286000" cy="0"/>
          </a:xfrm>
          <a:prstGeom prst="line">
            <a:avLst/>
          </a:prstGeom>
          <a:noFill/>
          <a:ln w="9525">
            <a:solidFill>
              <a:srgbClr val="3A3A3E"/>
            </a:solidFill>
            <a:prstDash val="solid"/>
          </a:ln>
        </p:spPr>
      </p:sp>
      <p:sp>
        <p:nvSpPr>
          <p:cNvPr id="11" name="stat 3"/>
          <p:cNvSpPr txBox="1"/>
          <p:nvPr/>
        </p:nvSpPr>
        <p:spPr>
          <a:xfrm>
            <a:off x="5852160" y="2514600"/>
            <a:ext cx="2286000" cy="822960"/>
          </a:xfrm>
          <a:prstGeom prst="rect">
            <a:avLst/>
          </a:prstGeom>
          <a:noFill/>
          <a:ln/>
        </p:spPr>
        <p:txBody>
          <a:bodyPr wrap="square" lIns="0" tIns="0" rIns="0" bIns="0" rtlCol="0" anchor="t"/>
          <a:lstStyle/>
          <a:p>
            <a:pPr indent="0" marL="0">
              <a:buNone/>
            </a:pPr>
            <a:r>
              <a:rPr lang="en-US" sz="5200" b="1" dirty="0">
                <a:solidFill>
                  <a:srgbClr val="F5F5F7"/>
                </a:solidFill>
                <a:latin typeface="Arial" pitchFamily="34" charset="0"/>
                <a:ea typeface="Arial" pitchFamily="34" charset="-122"/>
                <a:cs typeface="Arial" pitchFamily="34" charset="-120"/>
              </a:rPr>
              <a:t>6</a:t>
            </a:r>
            <a:endParaRPr lang="en-US" sz="5200" dirty="0"/>
          </a:p>
        </p:txBody>
      </p:sp>
      <p:sp>
        <p:nvSpPr>
          <p:cNvPr id="12" name="stat 3 label"/>
          <p:cNvSpPr txBox="1"/>
          <p:nvPr/>
        </p:nvSpPr>
        <p:spPr>
          <a:xfrm>
            <a:off x="5852160" y="3337560"/>
            <a:ext cx="2286000" cy="365760"/>
          </a:xfrm>
          <a:prstGeom prst="rect">
            <a:avLst/>
          </a:prstGeom>
          <a:noFill/>
          <a:ln/>
        </p:spPr>
        <p:txBody>
          <a:bodyPr wrap="square" lIns="0" tIns="0" rIns="0" bIns="0" rtlCol="0" anchor="t"/>
          <a:lstStyle/>
          <a:p>
            <a:pPr indent="0" marL="0">
              <a:buNone/>
            </a:pPr>
            <a:r>
              <a:rPr lang="en-US" sz="1800" dirty="0">
                <a:solidFill>
                  <a:srgbClr val="A1A1A6"/>
                </a:solidFill>
                <a:latin typeface="Arial" pitchFamily="34" charset="0"/>
                <a:ea typeface="Arial" pitchFamily="34" charset="-122"/>
                <a:cs typeface="Arial" pitchFamily="34" charset="-120"/>
              </a:rPr>
              <a:t>months</a:t>
            </a:r>
            <a:endParaRPr lang="en-US" sz="1800" dirty="0"/>
          </a:p>
        </p:txBody>
      </p:sp>
      <p:sp>
        <p:nvSpPr>
          <p:cNvPr id="13" name="stat 4 rule"/>
          <p:cNvSpPr/>
          <p:nvPr/>
        </p:nvSpPr>
        <p:spPr>
          <a:xfrm>
            <a:off x="8366760" y="2377440"/>
            <a:ext cx="2999232" cy="0"/>
          </a:xfrm>
          <a:prstGeom prst="line">
            <a:avLst/>
          </a:prstGeom>
          <a:noFill/>
          <a:ln w="9525">
            <a:solidFill>
              <a:srgbClr val="3A3A3E"/>
            </a:solidFill>
            <a:prstDash val="solid"/>
          </a:ln>
        </p:spPr>
      </p:sp>
      <p:sp>
        <p:nvSpPr>
          <p:cNvPr id="14" name="stat 4"/>
          <p:cNvSpPr txBox="1"/>
          <p:nvPr/>
        </p:nvSpPr>
        <p:spPr>
          <a:xfrm>
            <a:off x="8366760" y="2514600"/>
            <a:ext cx="2999232" cy="822960"/>
          </a:xfrm>
          <a:prstGeom prst="rect">
            <a:avLst/>
          </a:prstGeom>
          <a:noFill/>
          <a:ln/>
        </p:spPr>
        <p:txBody>
          <a:bodyPr wrap="square" lIns="0" tIns="0" rIns="0" bIns="0" rtlCol="0" anchor="t"/>
          <a:lstStyle/>
          <a:p>
            <a:pPr indent="0" marL="0">
              <a:buNone/>
            </a:pPr>
            <a:r>
              <a:rPr lang="en-US" sz="5200" b="1" dirty="0">
                <a:solidFill>
                  <a:srgbClr val="E2C28A"/>
                </a:solidFill>
                <a:latin typeface="Arial" pitchFamily="34" charset="0"/>
                <a:ea typeface="Arial" pitchFamily="34" charset="-122"/>
                <a:cs typeface="Arial" pitchFamily="34" charset="-120"/>
              </a:rPr>
              <a:t>₹39 lakh</a:t>
            </a:r>
            <a:endParaRPr lang="en-US" sz="5200" dirty="0"/>
          </a:p>
        </p:txBody>
      </p:sp>
      <p:sp>
        <p:nvSpPr>
          <p:cNvPr id="15" name="stat 4 label"/>
          <p:cNvSpPr txBox="1"/>
          <p:nvPr/>
        </p:nvSpPr>
        <p:spPr>
          <a:xfrm>
            <a:off x="8366760" y="3337560"/>
            <a:ext cx="2999232" cy="365760"/>
          </a:xfrm>
          <a:prstGeom prst="rect">
            <a:avLst/>
          </a:prstGeom>
          <a:noFill/>
          <a:ln/>
        </p:spPr>
        <p:txBody>
          <a:bodyPr wrap="square" lIns="0" tIns="0" rIns="0" bIns="0" rtlCol="0" anchor="t"/>
          <a:lstStyle/>
          <a:p>
            <a:pPr indent="0" marL="0">
              <a:buNone/>
            </a:pPr>
            <a:r>
              <a:rPr lang="en-US" sz="1800" dirty="0">
                <a:solidFill>
                  <a:srgbClr val="A1A1A6"/>
                </a:solidFill>
                <a:latin typeface="Arial" pitchFamily="34" charset="0"/>
                <a:ea typeface="Arial" pitchFamily="34" charset="-122"/>
                <a:cs typeface="Arial" pitchFamily="34" charset="-120"/>
              </a:rPr>
              <a:t>estimated</a:t>
            </a:r>
            <a:endParaRPr lang="en-US" sz="1800" dirty="0"/>
          </a:p>
        </p:txBody>
      </p:sp>
      <p:sp>
        <p:nvSpPr>
          <p:cNvPr id="16" name="eyebrow"/>
          <p:cNvSpPr txBox="1"/>
          <p:nvPr/>
        </p:nvSpPr>
        <p:spPr>
          <a:xfrm>
            <a:off x="822960" y="4343400"/>
            <a:ext cx="7315200" cy="310896"/>
          </a:xfrm>
          <a:prstGeom prst="rect">
            <a:avLst/>
          </a:prstGeom>
          <a:noFill/>
          <a:ln/>
        </p:spPr>
        <p:txBody>
          <a:bodyPr wrap="square" lIns="0" tIns="0" rIns="0" bIns="0" rtlCol="0" anchor="t"/>
          <a:lstStyle/>
          <a:p>
            <a:pPr indent="0" marL="0">
              <a:buNone/>
            </a:pPr>
            <a:r>
              <a:rPr lang="en-US" sz="1400" b="1" spc="300" kern="0" dirty="0">
                <a:solidFill>
                  <a:srgbClr val="6E6E73"/>
                </a:solidFill>
                <a:latin typeface="Arial" pitchFamily="34" charset="0"/>
                <a:ea typeface="Arial" pitchFamily="34" charset="-122"/>
                <a:cs typeface="Arial" pitchFamily="34" charset="-120"/>
              </a:rPr>
              <a:t>THE NEXT 30 DAYS</a:t>
            </a:r>
            <a:endParaRPr lang="en-US" sz="1400" dirty="0"/>
          </a:p>
        </p:txBody>
      </p:sp>
      <p:sp>
        <p:nvSpPr>
          <p:cNvPr id="17" name="number 1"/>
          <p:cNvSpPr/>
          <p:nvPr/>
        </p:nvSpPr>
        <p:spPr>
          <a:xfrm>
            <a:off x="822960" y="4754880"/>
            <a:ext cx="384048" cy="384048"/>
          </a:xfrm>
          <a:prstGeom prst="ellipse">
            <a:avLst/>
          </a:prstGeom>
          <a:solidFill>
            <a:srgbClr val="6FA8FF"/>
          </a:solidFill>
          <a:ln/>
        </p:spPr>
      </p:sp>
      <p:sp>
        <p:nvSpPr>
          <p:cNvPr id="18" name="number 1 label"/>
          <p:cNvSpPr txBox="1"/>
          <p:nvPr/>
        </p:nvSpPr>
        <p:spPr>
          <a:xfrm>
            <a:off x="822960" y="4754880"/>
            <a:ext cx="3840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1</a:t>
            </a:r>
            <a:endParaRPr lang="en-US" sz="1400" dirty="0"/>
          </a:p>
        </p:txBody>
      </p:sp>
      <p:sp>
        <p:nvSpPr>
          <p:cNvPr id="19" name="next 1"/>
          <p:cNvSpPr txBox="1"/>
          <p:nvPr/>
        </p:nvSpPr>
        <p:spPr>
          <a:xfrm>
            <a:off x="1371600" y="4736592"/>
            <a:ext cx="2926080" cy="731520"/>
          </a:xfrm>
          <a:prstGeom prst="rect">
            <a:avLst/>
          </a:prstGeom>
          <a:noFill/>
          <a:ln/>
        </p:spPr>
        <p:txBody>
          <a:bodyPr wrap="square" lIns="0" tIns="0" rIns="0" bIns="0" rtlCol="0" anchor="t"/>
          <a:lstStyle/>
          <a:p>
            <a:pPr indent="0" marL="0">
              <a:buNone/>
            </a:pPr>
            <a:r>
              <a:rPr lang="en-US" sz="1900" b="1" dirty="0">
                <a:solidFill>
                  <a:srgbClr val="F5F5F7"/>
                </a:solidFill>
                <a:latin typeface="Arial" pitchFamily="34" charset="0"/>
                <a:ea typeface="Arial" pitchFamily="34" charset="-122"/>
                <a:cs typeface="Arial" pitchFamily="34" charset="-120"/>
              </a:rPr>
              <a:t>A field morning at a CSC</a:t>
            </a:r>
            <a:endParaRPr lang="en-US" sz="1900" dirty="0"/>
          </a:p>
        </p:txBody>
      </p:sp>
      <p:sp>
        <p:nvSpPr>
          <p:cNvPr id="20" name="number 2"/>
          <p:cNvSpPr/>
          <p:nvPr/>
        </p:nvSpPr>
        <p:spPr>
          <a:xfrm>
            <a:off x="4434840" y="4754880"/>
            <a:ext cx="384048" cy="384048"/>
          </a:xfrm>
          <a:prstGeom prst="ellipse">
            <a:avLst/>
          </a:prstGeom>
          <a:solidFill>
            <a:srgbClr val="6FA8FF"/>
          </a:solidFill>
          <a:ln/>
        </p:spPr>
      </p:sp>
      <p:sp>
        <p:nvSpPr>
          <p:cNvPr id="21" name="number 2 label"/>
          <p:cNvSpPr txBox="1"/>
          <p:nvPr/>
        </p:nvSpPr>
        <p:spPr>
          <a:xfrm>
            <a:off x="4434840" y="4754880"/>
            <a:ext cx="3840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2</a:t>
            </a:r>
            <a:endParaRPr lang="en-US" sz="1400" dirty="0"/>
          </a:p>
        </p:txBody>
      </p:sp>
      <p:sp>
        <p:nvSpPr>
          <p:cNvPr id="22" name="next 2"/>
          <p:cNvSpPr txBox="1"/>
          <p:nvPr/>
        </p:nvSpPr>
        <p:spPr>
          <a:xfrm>
            <a:off x="4983480" y="4736592"/>
            <a:ext cx="2926080" cy="731520"/>
          </a:xfrm>
          <a:prstGeom prst="rect">
            <a:avLst/>
          </a:prstGeom>
          <a:noFill/>
          <a:ln/>
        </p:spPr>
        <p:txBody>
          <a:bodyPr wrap="square" lIns="0" tIns="0" rIns="0" bIns="0" rtlCol="0" anchor="t"/>
          <a:lstStyle/>
          <a:p>
            <a:pPr indent="0" marL="0">
              <a:buNone/>
            </a:pPr>
            <a:r>
              <a:rPr lang="en-US" sz="1900" b="1" dirty="0">
                <a:solidFill>
                  <a:srgbClr val="F5F5F7"/>
                </a:solidFill>
                <a:latin typeface="Arial" pitchFamily="34" charset="0"/>
                <a:ea typeface="Arial" pitchFamily="34" charset="-122"/>
                <a:cs typeface="Arial" pitchFamily="34" charset="-120"/>
              </a:rPr>
              <a:t>Real messages from people’s own phones</a:t>
            </a:r>
            <a:endParaRPr lang="en-US" sz="1900" dirty="0"/>
          </a:p>
        </p:txBody>
      </p:sp>
      <p:sp>
        <p:nvSpPr>
          <p:cNvPr id="23" name="number 3"/>
          <p:cNvSpPr/>
          <p:nvPr/>
        </p:nvSpPr>
        <p:spPr>
          <a:xfrm>
            <a:off x="8046720" y="4754880"/>
            <a:ext cx="384048" cy="384048"/>
          </a:xfrm>
          <a:prstGeom prst="ellipse">
            <a:avLst/>
          </a:prstGeom>
          <a:solidFill>
            <a:srgbClr val="6FA8FF"/>
          </a:solidFill>
          <a:ln/>
        </p:spPr>
      </p:sp>
      <p:sp>
        <p:nvSpPr>
          <p:cNvPr id="24" name="number 3 label"/>
          <p:cNvSpPr txBox="1"/>
          <p:nvPr/>
        </p:nvSpPr>
        <p:spPr>
          <a:xfrm>
            <a:off x="8046720" y="4754880"/>
            <a:ext cx="3840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3</a:t>
            </a:r>
            <a:endParaRPr lang="en-US" sz="1400" dirty="0"/>
          </a:p>
        </p:txBody>
      </p:sp>
      <p:sp>
        <p:nvSpPr>
          <p:cNvPr id="25" name="next 3"/>
          <p:cNvSpPr txBox="1"/>
          <p:nvPr/>
        </p:nvSpPr>
        <p:spPr>
          <a:xfrm>
            <a:off x="8595360" y="4736592"/>
            <a:ext cx="2926080" cy="731520"/>
          </a:xfrm>
          <a:prstGeom prst="rect">
            <a:avLst/>
          </a:prstGeom>
          <a:noFill/>
          <a:ln/>
        </p:spPr>
        <p:txBody>
          <a:bodyPr wrap="square" lIns="0" tIns="0" rIns="0" bIns="0" rtlCol="0" anchor="t"/>
          <a:lstStyle/>
          <a:p>
            <a:pPr indent="0" marL="0">
              <a:buNone/>
            </a:pPr>
            <a:r>
              <a:rPr lang="en-US" sz="1900" b="1" dirty="0">
                <a:solidFill>
                  <a:srgbClr val="F5F5F7"/>
                </a:solidFill>
                <a:latin typeface="Arial" pitchFamily="34" charset="0"/>
                <a:ea typeface="Arial" pitchFamily="34" charset="-122"/>
                <a:cs typeface="Arial" pitchFamily="34" charset="-120"/>
              </a:rPr>
              <a:t>A district partner</a:t>
            </a:r>
            <a:endParaRPr lang="en-US" sz="1900" dirty="0"/>
          </a:p>
        </p:txBody>
      </p:sp>
      <p:sp>
        <p:nvSpPr>
          <p:cNvPr id="26" name="source"/>
          <p:cNvSpPr txBox="1"/>
          <p:nvPr/>
        </p:nvSpPr>
        <p:spPr>
          <a:xfrm>
            <a:off x="822960" y="6400800"/>
            <a:ext cx="10545775" cy="256032"/>
          </a:xfrm>
          <a:prstGeom prst="rect">
            <a:avLst/>
          </a:prstGeom>
          <a:noFill/>
          <a:ln/>
        </p:spPr>
        <p:txBody>
          <a:bodyPr wrap="square" lIns="0" tIns="0" rIns="0" bIns="0" rtlCol="0" anchor="t"/>
          <a:lstStyle/>
          <a:p>
            <a:pPr indent="0" marL="0">
              <a:buNone/>
            </a:pPr>
            <a:r>
              <a:rPr lang="en-US" sz="1050" dirty="0">
                <a:solidFill>
                  <a:srgbClr val="6E6E73"/>
                </a:solidFill>
                <a:latin typeface="Arial" pitchFamily="34" charset="0"/>
                <a:ea typeface="Arial" pitchFamily="34" charset="-122"/>
                <a:cs typeface="Arial" pitchFamily="34" charset="-120"/>
              </a:rPr>
              <a:t>Estimates, not quotes: the team’s line-item budget, 7 Oct 2026 (₹39.2 lakh). At 500 counters, about ₹24,000 a counter a year; the operator’s ₹9,600 is the biggest part.</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cale"/>
          <p:cNvSpPr txBox="1"/>
          <p:nvPr/>
        </p:nvSpPr>
        <p:spPr>
          <a:xfrm>
            <a:off x="822960" y="1417320"/>
            <a:ext cx="10515600" cy="502920"/>
          </a:xfrm>
          <a:prstGeom prst="rect">
            <a:avLst/>
          </a:prstGeom>
          <a:noFill/>
          <a:ln/>
        </p:spPr>
        <p:txBody>
          <a:bodyPr wrap="square" lIns="0" tIns="0" rIns="0" bIns="0" rtlCol="0" anchor="t"/>
          <a:lstStyle/>
          <a:p>
            <a:pPr indent="0" marL="0">
              <a:buNone/>
            </a:pPr>
            <a:r>
              <a:rPr lang="en-US" sz="2600" dirty="0">
                <a:solidFill>
                  <a:srgbClr val="A1A1A6"/>
                </a:solidFill>
                <a:latin typeface="Arial" pitchFamily="34" charset="0"/>
                <a:ea typeface="Arial" pitchFamily="34" charset="-122"/>
                <a:cs typeface="Arial" pitchFamily="34" charset="-120"/>
              </a:rPr>
              <a:t>India has </a:t>
            </a:r>
            <a:pPr indent="0" marL="0">
              <a:buNone/>
            </a:pPr>
            <a:r>
              <a:rPr lang="en-US" sz="2600" b="1" dirty="0">
                <a:solidFill>
                  <a:srgbClr val="F5F5F7"/>
                </a:solidFill>
                <a:latin typeface="Arial" pitchFamily="34" charset="0"/>
                <a:ea typeface="Arial" pitchFamily="34" charset="-122"/>
                <a:cs typeface="Arial" pitchFamily="34" charset="-120"/>
              </a:rPr>
              <a:t>6 lakh CSCs.</a:t>
            </a:r>
            <a:pPr indent="0" marL="0">
              <a:buNone/>
            </a:pPr>
            <a:r>
              <a:rPr lang="en-US" sz="2600" dirty="0">
                <a:solidFill>
                  <a:srgbClr val="A1A1A6"/>
                </a:solidFill>
                <a:latin typeface="Arial" pitchFamily="34" charset="0"/>
                <a:ea typeface="Arial" pitchFamily="34" charset="-122"/>
                <a:cs typeface="Arial" pitchFamily="34" charset="-120"/>
              </a:rPr>
              <a:t>  We’re asking for </a:t>
            </a:r>
            <a:pPr indent="0" marL="0">
              <a:buNone/>
            </a:pPr>
            <a:r>
              <a:rPr lang="en-US" sz="2600" b="1" dirty="0">
                <a:solidFill>
                  <a:srgbClr val="F5F5F7"/>
                </a:solidFill>
                <a:latin typeface="Arial" pitchFamily="34" charset="0"/>
                <a:ea typeface="Arial" pitchFamily="34" charset="-122"/>
                <a:cs typeface="Arial" pitchFamily="34" charset="-120"/>
              </a:rPr>
              <a:t>50 counters.</a:t>
            </a:r>
            <a:endParaRPr lang="en-US" sz="2600" dirty="0"/>
          </a:p>
        </p:txBody>
      </p:sp>
      <p:sp>
        <p:nvSpPr>
          <p:cNvPr id="3" name="eyebrow"/>
          <p:cNvSpPr txBox="1"/>
          <p:nvPr/>
        </p:nvSpPr>
        <p:spPr>
          <a:xfrm>
            <a:off x="822960" y="2377440"/>
            <a:ext cx="7315200" cy="310896"/>
          </a:xfrm>
          <a:prstGeom prst="rect">
            <a:avLst/>
          </a:prstGeom>
          <a:noFill/>
          <a:ln/>
        </p:spPr>
        <p:txBody>
          <a:bodyPr wrap="square" lIns="0" tIns="0" rIns="0" bIns="0" rtlCol="0" anchor="t"/>
          <a:lstStyle/>
          <a:p>
            <a:pPr indent="0" marL="0">
              <a:buNone/>
            </a:pPr>
            <a:r>
              <a:rPr lang="en-US" sz="1400" b="1" spc="300" kern="0" dirty="0">
                <a:solidFill>
                  <a:srgbClr val="E2C28A"/>
                </a:solidFill>
                <a:latin typeface="Arial" pitchFamily="34" charset="0"/>
                <a:ea typeface="Arial" pitchFamily="34" charset="-122"/>
                <a:cs typeface="Arial" pitchFamily="34" charset="-120"/>
              </a:rPr>
              <a:t>OUR ASK</a:t>
            </a:r>
            <a:endParaRPr lang="en-US" sz="1400" dirty="0"/>
          </a:p>
        </p:txBody>
      </p:sp>
      <p:sp>
        <p:nvSpPr>
          <p:cNvPr id="4" name="the ask"/>
          <p:cNvSpPr txBox="1"/>
          <p:nvPr/>
        </p:nvSpPr>
        <p:spPr>
          <a:xfrm>
            <a:off x="822960" y="2697480"/>
            <a:ext cx="10607040" cy="1188720"/>
          </a:xfrm>
          <a:prstGeom prst="rect">
            <a:avLst/>
          </a:prstGeom>
          <a:noFill/>
          <a:ln/>
        </p:spPr>
        <p:txBody>
          <a:bodyPr wrap="square" lIns="0" tIns="0" rIns="0" bIns="0" rtlCol="0" anchor="ctr"/>
          <a:lstStyle/>
          <a:p>
            <a:pPr indent="0" marL="0">
              <a:buNone/>
            </a:pPr>
            <a:r>
              <a:rPr lang="en-US" sz="5600" b="1" dirty="0">
                <a:solidFill>
                  <a:srgbClr val="F5F5F7"/>
                </a:solidFill>
                <a:latin typeface="Arial" pitchFamily="34" charset="0"/>
                <a:ea typeface="Arial" pitchFamily="34" charset="-122"/>
                <a:cs typeface="Arial" pitchFamily="34" charset="-120"/>
              </a:rPr>
              <a:t>Introduce us to one district.</a:t>
            </a:r>
            <a:endParaRPr lang="en-US" sz="5600" dirty="0"/>
          </a:p>
        </p:txBody>
      </p:sp>
      <p:sp>
        <p:nvSpPr>
          <p:cNvPr id="5" name="step 1 rule"/>
          <p:cNvSpPr/>
          <p:nvPr/>
        </p:nvSpPr>
        <p:spPr>
          <a:xfrm>
            <a:off x="822960" y="4572000"/>
            <a:ext cx="3291840" cy="0"/>
          </a:xfrm>
          <a:prstGeom prst="line">
            <a:avLst/>
          </a:prstGeom>
          <a:noFill/>
          <a:ln w="9525">
            <a:solidFill>
              <a:srgbClr val="3A3A3E"/>
            </a:solidFill>
            <a:prstDash val="solid"/>
          </a:ln>
        </p:spPr>
      </p:sp>
      <p:sp>
        <p:nvSpPr>
          <p:cNvPr id="6" name="step 1"/>
          <p:cNvSpPr txBox="1"/>
          <p:nvPr/>
        </p:nvSpPr>
        <p:spPr>
          <a:xfrm>
            <a:off x="822960" y="4709160"/>
            <a:ext cx="3520440" cy="731520"/>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One morning.</a:t>
            </a:r>
            <a:endParaRPr lang="en-US" sz="2100" dirty="0"/>
          </a:p>
        </p:txBody>
      </p:sp>
      <p:sp>
        <p:nvSpPr>
          <p:cNvPr id="7" name="step 2 rule"/>
          <p:cNvSpPr/>
          <p:nvPr/>
        </p:nvSpPr>
        <p:spPr>
          <a:xfrm>
            <a:off x="4434840" y="4572000"/>
            <a:ext cx="3291840" cy="0"/>
          </a:xfrm>
          <a:prstGeom prst="line">
            <a:avLst/>
          </a:prstGeom>
          <a:noFill/>
          <a:ln w="9525">
            <a:solidFill>
              <a:srgbClr val="3A3A3E"/>
            </a:solidFill>
            <a:prstDash val="solid"/>
          </a:ln>
        </p:spPr>
      </p:sp>
      <p:sp>
        <p:nvSpPr>
          <p:cNvPr id="8" name="step 2"/>
          <p:cNvSpPr txBox="1"/>
          <p:nvPr/>
        </p:nvSpPr>
        <p:spPr>
          <a:xfrm>
            <a:off x="4434840" y="4709160"/>
            <a:ext cx="3520440" cy="731520"/>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Six months.</a:t>
            </a:r>
            <a:endParaRPr lang="en-US" sz="2100" dirty="0"/>
          </a:p>
        </p:txBody>
      </p:sp>
      <p:sp>
        <p:nvSpPr>
          <p:cNvPr id="9" name="step 3 rule"/>
          <p:cNvSpPr/>
          <p:nvPr/>
        </p:nvSpPr>
        <p:spPr>
          <a:xfrm>
            <a:off x="8046720" y="4572000"/>
            <a:ext cx="3291840" cy="0"/>
          </a:xfrm>
          <a:prstGeom prst="line">
            <a:avLst/>
          </a:prstGeom>
          <a:noFill/>
          <a:ln w="9525">
            <a:solidFill>
              <a:srgbClr val="3A3A3E"/>
            </a:solidFill>
            <a:prstDash val="solid"/>
          </a:ln>
        </p:spPr>
      </p:sp>
      <p:sp>
        <p:nvSpPr>
          <p:cNvPr id="10" name="step 3"/>
          <p:cNvSpPr txBox="1"/>
          <p:nvPr/>
        </p:nvSpPr>
        <p:spPr>
          <a:xfrm>
            <a:off x="8046720" y="4709160"/>
            <a:ext cx="3520440" cy="731520"/>
          </a:xfrm>
          <a:prstGeom prst="rect">
            <a:avLst/>
          </a:prstGeom>
          <a:noFill/>
          <a:ln/>
        </p:spPr>
        <p:txBody>
          <a:bodyPr wrap="square" lIns="0" tIns="0" rIns="0" bIns="0" rtlCol="0" anchor="t"/>
          <a:lstStyle/>
          <a:p>
            <a:pPr indent="0" marL="0">
              <a:buNone/>
            </a:pPr>
            <a:r>
              <a:rPr lang="en-US" sz="2100" b="1" dirty="0">
                <a:solidFill>
                  <a:srgbClr val="6FA8FF"/>
                </a:solidFill>
                <a:latin typeface="Arial" pitchFamily="34" charset="0"/>
                <a:ea typeface="Arial" pitchFamily="34" charset="-122"/>
                <a:cs typeface="Arial" pitchFamily="34" charset="-120"/>
              </a:rPr>
              <a:t>Real numbers.</a:t>
            </a:r>
            <a:endParaRPr lang="en-US" sz="2100" dirty="0"/>
          </a:p>
        </p:txBody>
      </p:sp>
      <p:sp>
        <p:nvSpPr>
          <p:cNvPr id="11" name="source"/>
          <p:cNvSpPr txBox="1"/>
          <p:nvPr/>
        </p:nvSpPr>
        <p:spPr>
          <a:xfrm>
            <a:off x="822960" y="6400800"/>
            <a:ext cx="10545775" cy="256032"/>
          </a:xfrm>
          <a:prstGeom prst="rect">
            <a:avLst/>
          </a:prstGeom>
          <a:noFill/>
          <a:ln/>
        </p:spPr>
        <p:txBody>
          <a:bodyPr wrap="square" lIns="0" tIns="0" rIns="0" bIns="0" rtlCol="0" anchor="t"/>
          <a:lstStyle/>
          <a:p>
            <a:pPr indent="0" marL="0">
              <a:buNone/>
            </a:pPr>
            <a:r>
              <a:rPr lang="en-US" sz="1050" dirty="0">
                <a:solidFill>
                  <a:srgbClr val="6E6E73"/>
                </a:solidFill>
                <a:latin typeface="Arial" pitchFamily="34" charset="0"/>
                <a:ea typeface="Arial" pitchFamily="34" charset="-122"/>
                <a:cs typeface="Arial" pitchFamily="34" charset="-120"/>
              </a:rPr>
              <a:t>6 lakh functional CSCs, 4.7 lakh at gram-panchayat level (MeitY, Mar 2025) · the pilot’s 50 counters: nodes at 20 CSCs, the phone app at 30 bank-agent points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822960" y="1097280"/>
            <a:ext cx="7315200" cy="310896"/>
          </a:xfrm>
          <a:prstGeom prst="rect">
            <a:avLst/>
          </a:prstGeom>
          <a:noFill/>
          <a:ln/>
        </p:spPr>
        <p:txBody>
          <a:bodyPr wrap="square" lIns="0" tIns="0" rIns="0" bIns="0" rtlCol="0" anchor="t"/>
          <a:lstStyle/>
          <a:p>
            <a:pPr indent="0" marL="0">
              <a:buNone/>
            </a:pPr>
            <a:r>
              <a:rPr lang="en-US" sz="1400" b="1" spc="300" kern="0" dirty="0">
                <a:solidFill>
                  <a:srgbClr val="6FA8FF"/>
                </a:solidFill>
                <a:latin typeface="Arial" pitchFamily="34" charset="0"/>
                <a:ea typeface="Arial" pitchFamily="34" charset="-122"/>
                <a:cs typeface="Arial" pitchFamily="34" charset="-120"/>
              </a:rPr>
              <a:t>ONE MORE THING</a:t>
            </a:r>
            <a:endParaRPr lang="en-US" sz="1400" dirty="0"/>
          </a:p>
        </p:txBody>
      </p:sp>
      <p:sp>
        <p:nvSpPr>
          <p:cNvPr id="3" name="title"/>
          <p:cNvSpPr txBox="1"/>
          <p:nvPr/>
        </p:nvSpPr>
        <p:spPr>
          <a:xfrm>
            <a:off x="822960" y="1463040"/>
            <a:ext cx="5669280" cy="960120"/>
          </a:xfrm>
          <a:prstGeom prst="rect">
            <a:avLst/>
          </a:prstGeom>
          <a:noFill/>
          <a:ln/>
        </p:spPr>
        <p:txBody>
          <a:bodyPr wrap="square" lIns="0" tIns="0" rIns="0" bIns="0" rtlCol="0" anchor="ctr"/>
          <a:lstStyle/>
          <a:p>
            <a:pPr indent="0" marL="0">
              <a:buNone/>
            </a:pPr>
            <a:r>
              <a:rPr lang="en-US" sz="5400" b="1" dirty="0">
                <a:solidFill>
                  <a:srgbClr val="F5F5F7"/>
                </a:solidFill>
                <a:latin typeface="Arial" pitchFamily="34" charset="0"/>
                <a:ea typeface="Arial" pitchFamily="34" charset="-122"/>
                <a:cs typeface="Arial" pitchFamily="34" charset="-120"/>
              </a:rPr>
              <a:t>Spot the scam.</a:t>
            </a:r>
            <a:endParaRPr lang="en-US" sz="5400" dirty="0"/>
          </a:p>
        </p:txBody>
      </p:sp>
      <p:sp>
        <p:nvSpPr>
          <p:cNvPr id="4" name="tagline"/>
          <p:cNvSpPr txBox="1"/>
          <p:nvPr/>
        </p:nvSpPr>
        <p:spPr>
          <a:xfrm>
            <a:off x="822960" y="2514600"/>
            <a:ext cx="5669280" cy="457200"/>
          </a:xfrm>
          <a:prstGeom prst="rect">
            <a:avLst/>
          </a:prstGeom>
          <a:noFill/>
          <a:ln/>
        </p:spPr>
        <p:txBody>
          <a:bodyPr wrap="square" lIns="0" tIns="0" rIns="0" bIns="0" rtlCol="0" anchor="t"/>
          <a:lstStyle/>
          <a:p>
            <a:pPr indent="0" marL="0">
              <a:buNone/>
            </a:pPr>
            <a:r>
              <a:rPr lang="en-US" sz="2400" i="1" dirty="0">
                <a:solidFill>
                  <a:srgbClr val="A1A1A6"/>
                </a:solidFill>
                <a:latin typeface="Arial" pitchFamily="34" charset="0"/>
                <a:ea typeface="Arial" pitchFamily="34" charset="-122"/>
                <a:cs typeface="Arial" pitchFamily="34" charset="-120"/>
              </a:rPr>
              <a:t>Know a scam before it arrives.</a:t>
            </a:r>
            <a:endParaRPr lang="en-US" sz="2400" dirty="0"/>
          </a:p>
        </p:txBody>
      </p:sp>
      <p:sp>
        <p:nvSpPr>
          <p:cNvPr id="5" name="point 1 rule"/>
          <p:cNvSpPr/>
          <p:nvPr/>
        </p:nvSpPr>
        <p:spPr>
          <a:xfrm>
            <a:off x="822960" y="3291840"/>
            <a:ext cx="5120640" cy="0"/>
          </a:xfrm>
          <a:prstGeom prst="line">
            <a:avLst/>
          </a:prstGeom>
          <a:noFill/>
          <a:ln w="9525">
            <a:solidFill>
              <a:srgbClr val="3A3A3E"/>
            </a:solidFill>
            <a:prstDash val="solid"/>
          </a:ln>
        </p:spPr>
      </p:sp>
      <p:sp>
        <p:nvSpPr>
          <p:cNvPr id="6" name="point 1"/>
          <p:cNvSpPr txBox="1"/>
          <p:nvPr/>
        </p:nvSpPr>
        <p:spPr>
          <a:xfrm>
            <a:off x="822960" y="3392424"/>
            <a:ext cx="5120640" cy="493776"/>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5 cards a round</a:t>
            </a:r>
            <a:pPr indent="0" marL="0">
              <a:buNone/>
            </a:pPr>
            <a:r>
              <a:rPr lang="en-US" sz="2100" dirty="0">
                <a:solidFill>
                  <a:srgbClr val="A1A1A6"/>
                </a:solidFill>
                <a:latin typeface="Arial" pitchFamily="34" charset="0"/>
                <a:ea typeface="Arial" pitchFamily="34" charset="-122"/>
                <a:cs typeface="Arial" pitchFamily="34" charset="-120"/>
              </a:rPr>
              <a:t> · scam or real?</a:t>
            </a:r>
            <a:endParaRPr lang="en-US" sz="2100" dirty="0"/>
          </a:p>
        </p:txBody>
      </p:sp>
      <p:sp>
        <p:nvSpPr>
          <p:cNvPr id="7" name="point 2 rule"/>
          <p:cNvSpPr/>
          <p:nvPr/>
        </p:nvSpPr>
        <p:spPr>
          <a:xfrm>
            <a:off x="822960" y="3913632"/>
            <a:ext cx="5120640" cy="0"/>
          </a:xfrm>
          <a:prstGeom prst="line">
            <a:avLst/>
          </a:prstGeom>
          <a:noFill/>
          <a:ln w="9525">
            <a:solidFill>
              <a:srgbClr val="3A3A3E"/>
            </a:solidFill>
            <a:prstDash val="solid"/>
          </a:ln>
        </p:spPr>
      </p:sp>
      <p:sp>
        <p:nvSpPr>
          <p:cNvPr id="8" name="point 2"/>
          <p:cNvSpPr txBox="1"/>
          <p:nvPr/>
        </p:nvSpPr>
        <p:spPr>
          <a:xfrm>
            <a:off x="822960" y="4014216"/>
            <a:ext cx="5120640" cy="493776"/>
          </a:xfrm>
          <a:prstGeom prst="rect">
            <a:avLst/>
          </a:prstGeom>
          <a:noFill/>
          <a:ln/>
        </p:spPr>
        <p:txBody>
          <a:bodyPr wrap="square" lIns="0" tIns="0" rIns="0" bIns="0" rtlCol="0" anchor="t"/>
          <a:lstStyle/>
          <a:p>
            <a:pPr indent="0" marL="0">
              <a:buNone/>
            </a:pPr>
            <a:r>
              <a:rPr lang="en-US" sz="2100" b="1" dirty="0">
                <a:solidFill>
                  <a:srgbClr val="6FA8FF"/>
                </a:solidFill>
                <a:latin typeface="Arial" pitchFamily="34" charset="0"/>
                <a:ea typeface="Arial" pitchFamily="34" charset="-122"/>
                <a:cs typeface="Arial" pitchFamily="34" charset="-120"/>
              </a:rPr>
              <a:t>Sahayak’s own clues</a:t>
            </a:r>
            <a:pPr indent="0" marL="0">
              <a:buNone/>
            </a:pPr>
            <a:r>
              <a:rPr lang="en-US" sz="2100" dirty="0">
                <a:solidFill>
                  <a:srgbClr val="A1A1A6"/>
                </a:solidFill>
                <a:latin typeface="Arial" pitchFamily="34" charset="0"/>
                <a:ea typeface="Arial" pitchFamily="34" charset="-122"/>
                <a:cs typeface="Arial" pitchFamily="34" charset="-120"/>
              </a:rPr>
              <a:t> after every answer</a:t>
            </a:r>
            <a:endParaRPr lang="en-US" sz="2100" dirty="0"/>
          </a:p>
        </p:txBody>
      </p:sp>
      <p:sp>
        <p:nvSpPr>
          <p:cNvPr id="9" name="point 3 rule"/>
          <p:cNvSpPr/>
          <p:nvPr/>
        </p:nvSpPr>
        <p:spPr>
          <a:xfrm>
            <a:off x="822960" y="4535424"/>
            <a:ext cx="5120640" cy="0"/>
          </a:xfrm>
          <a:prstGeom prst="line">
            <a:avLst/>
          </a:prstGeom>
          <a:noFill/>
          <a:ln w="9525">
            <a:solidFill>
              <a:srgbClr val="3A3A3E"/>
            </a:solidFill>
            <a:prstDash val="solid"/>
          </a:ln>
        </p:spPr>
      </p:sp>
      <p:sp>
        <p:nvSpPr>
          <p:cNvPr id="10" name="point 3"/>
          <p:cNvSpPr txBox="1"/>
          <p:nvPr/>
        </p:nvSpPr>
        <p:spPr>
          <a:xfrm>
            <a:off x="822960" y="4636008"/>
            <a:ext cx="5120640" cy="493776"/>
          </a:xfrm>
          <a:prstGeom prst="rect">
            <a:avLst/>
          </a:prstGeom>
          <a:noFill/>
          <a:ln/>
        </p:spPr>
        <p:txBody>
          <a:bodyPr wrap="square" lIns="0" tIns="0" rIns="0" bIns="0" rtlCol="0" anchor="t"/>
          <a:lstStyle/>
          <a:p>
            <a:pPr indent="0" marL="0">
              <a:buNone/>
            </a:pPr>
            <a:r>
              <a:rPr lang="en-US" sz="2100" b="1" dirty="0">
                <a:solidFill>
                  <a:srgbClr val="F5F5F7"/>
                </a:solidFill>
                <a:latin typeface="Arial" pitchFamily="34" charset="0"/>
                <a:ea typeface="Arial" pitchFamily="34" charset="-122"/>
                <a:cs typeface="Arial" pitchFamily="34" charset="-120"/>
              </a:rPr>
              <a:t>Levels, badges</a:t>
            </a:r>
            <a:pPr indent="0" marL="0">
              <a:buNone/>
            </a:pPr>
            <a:r>
              <a:rPr lang="en-US" sz="2100" dirty="0">
                <a:solidFill>
                  <a:srgbClr val="A1A1A6"/>
                </a:solidFill>
                <a:latin typeface="Arial" pitchFamily="34" charset="0"/>
                <a:ea typeface="Arial" pitchFamily="34" charset="-122"/>
                <a:cs typeface="Arial" pitchFamily="34" charset="-120"/>
              </a:rPr>
              <a:t> · a new message daily</a:t>
            </a:r>
            <a:endParaRPr lang="en-US" sz="2100" dirty="0"/>
          </a:p>
        </p:txBody>
      </p:sp>
      <p:pic>
        <p:nvPicPr>
          <p:cNvPr id="11" name="Spot the scam: a card" descr="Screenshot: Spot the scam: a card">    </p:cNvPr>
          <p:cNvPicPr>
            <a:picLocks noChangeAspect="1"/>
          </p:cNvPicPr>
          <p:nvPr/>
        </p:nvPicPr>
        <p:blipFill>
          <a:blip r:embed="rId1"/>
          <a:stretch>
            <a:fillRect/>
          </a:stretch>
        </p:blipFill>
        <p:spPr>
          <a:xfrm>
            <a:off x="6355080" y="685800"/>
            <a:ext cx="2518637" cy="5257800"/>
          </a:xfrm>
          <a:prstGeom prst="rect">
            <a:avLst/>
          </a:prstGeom>
        </p:spPr>
      </p:pic>
      <p:pic>
        <p:nvPicPr>
          <p:cNvPr id="12" name="Spot the scam: Sahayak's clues after the answer" descr="Screenshot: Spot the scam: Sahayak's clues after the answer">    </p:cNvPr>
          <p:cNvPicPr>
            <a:picLocks noChangeAspect="1"/>
          </p:cNvPicPr>
          <p:nvPr/>
        </p:nvPicPr>
        <p:blipFill>
          <a:blip r:embed="rId2"/>
          <a:stretch>
            <a:fillRect/>
          </a:stretch>
        </p:blipFill>
        <p:spPr>
          <a:xfrm>
            <a:off x="8961120" y="685800"/>
            <a:ext cx="2518637" cy="5257800"/>
          </a:xfrm>
          <a:prstGeom prst="rect">
            <a:avLst/>
          </a:prstGeom>
        </p:spPr>
      </p:pic>
      <p:sp>
        <p:nvSpPr>
          <p:cNvPr id="13" name="source"/>
          <p:cNvSpPr txBox="1"/>
          <p:nvPr/>
        </p:nvSpPr>
        <p:spPr>
          <a:xfrm>
            <a:off x="822960" y="6400800"/>
            <a:ext cx="10545775" cy="256032"/>
          </a:xfrm>
          <a:prstGeom prst="rect">
            <a:avLst/>
          </a:prstGeom>
          <a:noFill/>
          <a:ln/>
        </p:spPr>
        <p:txBody>
          <a:bodyPr wrap="square" lIns="0" tIns="0" rIns="0" bIns="0" rtlCol="0" anchor="t"/>
          <a:lstStyle/>
          <a:p>
            <a:pPr indent="0" marL="0">
              <a:buNone/>
            </a:pPr>
            <a:r>
              <a:rPr lang="en-US" sz="1050" dirty="0">
                <a:solidFill>
                  <a:srgbClr val="6E6E73"/>
                </a:solidFill>
                <a:latin typeface="Arial" pitchFamily="34" charset="0"/>
                <a:ea typeface="Arial" pitchFamily="34" charset="-122"/>
                <a:cs typeface="Arial" pitchFamily="34" charset="-120"/>
              </a:rPr>
              <a:t>The Learn tab of the same app · every card agrees with Sahayak’s own check (tests/test_game.py) · nothing leaves the phone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hen"/>
          <p:cNvSpPr txBox="1"/>
          <p:nvPr/>
        </p:nvSpPr>
        <p:spPr>
          <a:xfrm>
            <a:off x="457200" y="1143000"/>
            <a:ext cx="11277295" cy="548640"/>
          </a:xfrm>
          <a:prstGeom prst="rect">
            <a:avLst/>
          </a:prstGeom>
          <a:noFill/>
          <a:ln/>
        </p:spPr>
        <p:txBody>
          <a:bodyPr wrap="square" lIns="0" tIns="0" rIns="0" bIns="0" rtlCol="0" anchor="t"/>
          <a:lstStyle/>
          <a:p>
            <a:pPr algn="ctr" indent="0" marL="0">
              <a:buNone/>
            </a:pPr>
            <a:r>
              <a:rPr lang="en-US" sz="3000" dirty="0">
                <a:solidFill>
                  <a:srgbClr val="6E6E73"/>
                </a:solidFill>
                <a:latin typeface="Arial" pitchFamily="34" charset="0"/>
                <a:ea typeface="Arial" pitchFamily="34" charset="-122"/>
                <a:cs typeface="Arial" pitchFamily="34" charset="-120"/>
              </a:rPr>
              <a:t>Nine at night. The bank is closed.</a:t>
            </a:r>
            <a:endParaRPr lang="en-US" sz="3000" dirty="0"/>
          </a:p>
        </p:txBody>
      </p:sp>
      <p:sp>
        <p:nvSpPr>
          <p:cNvPr id="3" name="now"/>
          <p:cNvSpPr txBox="1"/>
          <p:nvPr/>
        </p:nvSpPr>
        <p:spPr>
          <a:xfrm>
            <a:off x="457200" y="1783080"/>
            <a:ext cx="11277295" cy="1097280"/>
          </a:xfrm>
          <a:prstGeom prst="rect">
            <a:avLst/>
          </a:prstGeom>
          <a:noFill/>
          <a:ln/>
        </p:spPr>
        <p:txBody>
          <a:bodyPr wrap="square" lIns="0" tIns="0" rIns="0" bIns="0" rtlCol="0" anchor="ctr"/>
          <a:lstStyle/>
          <a:p>
            <a:pPr algn="ctr" indent="0" marL="0">
              <a:buNone/>
            </a:pPr>
            <a:r>
              <a:rPr lang="en-US" sz="6000" b="1" dirty="0">
                <a:solidFill>
                  <a:srgbClr val="F5F5F7"/>
                </a:solidFill>
                <a:latin typeface="Arial" pitchFamily="34" charset="0"/>
                <a:ea typeface="Arial" pitchFamily="34" charset="-122"/>
                <a:cs typeface="Arial" pitchFamily="34" charset="-120"/>
              </a:rPr>
              <a:t>Now she has someone to ask.</a:t>
            </a:r>
            <a:endParaRPr lang="en-US" sz="6000" dirty="0"/>
          </a:p>
        </p:txBody>
      </p:sp>
      <p:sp>
        <p:nvSpPr>
          <p:cNvPr id="4" name="divider"/>
          <p:cNvSpPr/>
          <p:nvPr/>
        </p:nvSpPr>
        <p:spPr>
          <a:xfrm>
            <a:off x="5547208" y="3429000"/>
            <a:ext cx="1097280" cy="0"/>
          </a:xfrm>
          <a:prstGeom prst="line">
            <a:avLst/>
          </a:prstGeom>
          <a:noFill/>
          <a:ln w="9525">
            <a:solidFill>
              <a:srgbClr val="3A3A3E"/>
            </a:solidFill>
            <a:prstDash val="solid"/>
          </a:ln>
        </p:spPr>
      </p:sp>
      <p:sp>
        <p:nvSpPr>
          <p:cNvPr id="5" name="name"/>
          <p:cNvSpPr txBox="1"/>
          <p:nvPr/>
        </p:nvSpPr>
        <p:spPr>
          <a:xfrm>
            <a:off x="457200" y="3749040"/>
            <a:ext cx="11277295" cy="731520"/>
          </a:xfrm>
          <a:prstGeom prst="rect">
            <a:avLst/>
          </a:prstGeom>
          <a:noFill/>
          <a:ln/>
        </p:spPr>
        <p:txBody>
          <a:bodyPr wrap="square" lIns="0" tIns="0" rIns="0" bIns="0" rtlCol="0" anchor="ctr"/>
          <a:lstStyle/>
          <a:p>
            <a:pPr algn="ctr" indent="0" marL="0">
              <a:buNone/>
            </a:pPr>
            <a:r>
              <a:rPr lang="en-US" sz="4400" b="1" dirty="0">
                <a:solidFill>
                  <a:srgbClr val="F5F5F7"/>
                </a:solidFill>
                <a:latin typeface="Arial" pitchFamily="34" charset="0"/>
                <a:ea typeface="Arial" pitchFamily="34" charset="-122"/>
                <a:cs typeface="Arial" pitchFamily="34" charset="-120"/>
              </a:rPr>
              <a:t>Sahayak</a:t>
            </a:r>
            <a:pPr algn="ctr" indent="0" marL="0">
              <a:buNone/>
            </a:pPr>
            <a:r>
              <a:rPr lang="en-US" sz="3000" b="1" dirty="0">
                <a:solidFill>
                  <a:srgbClr val="6FA8FF"/>
                </a:solidFill>
                <a:latin typeface="Nirmala UI" pitchFamily="34" charset="0"/>
                <a:ea typeface="Nirmala UI" pitchFamily="34" charset="-122"/>
                <a:cs typeface="Nirmala UI" pitchFamily="34" charset="-120"/>
              </a:rPr>
              <a:t>  सहायक</a:t>
            </a:r>
            <a:endParaRPr lang="en-US" sz="4400" dirty="0"/>
          </a:p>
        </p:txBody>
      </p:sp>
      <p:sp>
        <p:nvSpPr>
          <p:cNvPr id="6" name="promise"/>
          <p:cNvSpPr txBox="1"/>
          <p:nvPr/>
        </p:nvSpPr>
        <p:spPr>
          <a:xfrm>
            <a:off x="457200" y="4572000"/>
            <a:ext cx="11277295" cy="457200"/>
          </a:xfrm>
          <a:prstGeom prst="rect">
            <a:avLst/>
          </a:prstGeom>
          <a:noFill/>
          <a:ln/>
        </p:spPr>
        <p:txBody>
          <a:bodyPr wrap="square" lIns="0" tIns="0" rIns="0" bIns="0" rtlCol="0" anchor="t"/>
          <a:lstStyle/>
          <a:p>
            <a:pPr algn="ctr" indent="0" marL="0">
              <a:buNone/>
            </a:pPr>
            <a:r>
              <a:rPr lang="en-US" sz="2200" dirty="0">
                <a:solidFill>
                  <a:srgbClr val="F5F5F7"/>
                </a:solidFill>
                <a:latin typeface="Arial" pitchFamily="34" charset="0"/>
                <a:ea typeface="Arial" pitchFamily="34" charset="-122"/>
                <a:cs typeface="Arial" pitchFamily="34" charset="-120"/>
              </a:rPr>
              <a:t>Spot the scam before the money moves.  </a:t>
            </a:r>
            <a:pPr algn="ctr" indent="0" marL="0">
              <a:buNone/>
            </a:pPr>
            <a:r>
              <a:rPr lang="en-US" sz="2200" dirty="0">
                <a:solidFill>
                  <a:srgbClr val="6FA8FF"/>
                </a:solidFill>
                <a:latin typeface="Arial" pitchFamily="34" charset="0"/>
                <a:ea typeface="Arial" pitchFamily="34" charset="-122"/>
                <a:cs typeface="Arial" pitchFamily="34" charset="-120"/>
              </a:rPr>
              <a:t>Claim what you’re owed.</a:t>
            </a:r>
            <a:endParaRPr lang="en-US" sz="2200" dirty="0"/>
          </a:p>
        </p:txBody>
      </p:sp>
      <p:sp>
        <p:nvSpPr>
          <p:cNvPr id="7" name="team"/>
          <p:cNvSpPr txBox="1"/>
          <p:nvPr/>
        </p:nvSpPr>
        <p:spPr>
          <a:xfrm>
            <a:off x="457200" y="5715000"/>
            <a:ext cx="11277295" cy="365760"/>
          </a:xfrm>
          <a:prstGeom prst="rect">
            <a:avLst/>
          </a:prstGeom>
          <a:noFill/>
          <a:ln/>
        </p:spPr>
        <p:txBody>
          <a:bodyPr wrap="square" lIns="0" tIns="0" rIns="0" bIns="0" rtlCol="0" anchor="t"/>
          <a:lstStyle/>
          <a:p>
            <a:pPr algn="ctr" indent="0" marL="0">
              <a:buNone/>
            </a:pPr>
            <a:r>
              <a:rPr lang="en-US" sz="1700" dirty="0">
                <a:solidFill>
                  <a:srgbClr val="A1A1A6"/>
                </a:solidFill>
                <a:latin typeface="Arial" pitchFamily="34" charset="0"/>
                <a:ea typeface="Arial" pitchFamily="34" charset="-122"/>
                <a:cs typeface="Arial" pitchFamily="34" charset="-120"/>
              </a:rPr>
              <a:t>Ishmiit Singh  ·  Roshan Raj</a:t>
            </a:r>
            <a:endParaRPr lang="en-US" sz="1700" dirty="0"/>
          </a:p>
        </p:txBody>
      </p:sp>
      <p:sp>
        <p:nvSpPr>
          <p:cNvPr id="8" name="repo"/>
          <p:cNvSpPr txBox="1"/>
          <p:nvPr/>
        </p:nvSpPr>
        <p:spPr>
          <a:xfrm>
            <a:off x="457200" y="6172200"/>
            <a:ext cx="11277295" cy="274320"/>
          </a:xfrm>
          <a:prstGeom prst="rect">
            <a:avLst/>
          </a:prstGeom>
          <a:noFill/>
          <a:ln/>
        </p:spPr>
        <p:txBody>
          <a:bodyPr wrap="square" lIns="0" tIns="0" rIns="0" bIns="0" rtlCol="0" anchor="t"/>
          <a:lstStyle/>
          <a:p>
            <a:pPr algn="ctr" indent="0" marL="0">
              <a:buNone/>
            </a:pPr>
            <a:r>
              <a:rPr lang="en-US" sz="1200" dirty="0">
                <a:solidFill>
                  <a:srgbClr val="6E6E73"/>
                </a:solidFill>
                <a:latin typeface="Arial" pitchFamily="34" charset="0"/>
                <a:ea typeface="Arial" pitchFamily="34" charset="-122"/>
                <a:cs typeface="Arial" pitchFamily="34" charset="-120"/>
              </a:rPr>
              <a:t>Open source: github.com/ishmiit/Sahayak</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QR card"/>
          <p:cNvSpPr/>
          <p:nvPr/>
        </p:nvSpPr>
        <p:spPr>
          <a:xfrm>
            <a:off x="914400" y="1143000"/>
            <a:ext cx="4343400" cy="4343400"/>
          </a:xfrm>
          <a:prstGeom prst="roundRect">
            <a:avLst>
              <a:gd name="adj" fmla="val 5263"/>
            </a:avLst>
          </a:prstGeom>
          <a:solidFill>
            <a:srgbClr val="FFFFFF"/>
          </a:solidFill>
          <a:ln/>
        </p:spPr>
      </p:sp>
      <p:pic>
        <p:nvPicPr>
          <p:cNvPr id="3" name="QR code" descr="QR code for https://ishmiit.github.io/Sahayak/">    </p:cNvPr>
          <p:cNvPicPr>
            <a:picLocks noChangeAspect="1"/>
          </p:cNvPicPr>
          <p:nvPr/>
        </p:nvPicPr>
        <p:blipFill>
          <a:blip r:embed="rId1"/>
          <a:stretch>
            <a:fillRect/>
          </a:stretch>
        </p:blipFill>
        <p:spPr>
          <a:xfrm>
            <a:off x="1097280" y="1325880"/>
            <a:ext cx="3977640" cy="3977640"/>
          </a:xfrm>
          <a:prstGeom prst="rect">
            <a:avLst/>
          </a:prstGeom>
        </p:spPr>
      </p:pic>
      <p:sp>
        <p:nvSpPr>
          <p:cNvPr id="4" name="address"/>
          <p:cNvSpPr txBox="1"/>
          <p:nvPr/>
        </p:nvSpPr>
        <p:spPr>
          <a:xfrm>
            <a:off x="640080" y="5715000"/>
            <a:ext cx="4892040" cy="365760"/>
          </a:xfrm>
          <a:prstGeom prst="rect">
            <a:avLst/>
          </a:prstGeom>
          <a:noFill/>
          <a:ln/>
        </p:spPr>
        <p:txBody>
          <a:bodyPr wrap="square" lIns="0" tIns="0" rIns="0" bIns="0" rtlCol="0" anchor="t"/>
          <a:lstStyle/>
          <a:p>
            <a:pPr algn="ctr" indent="0" marL="0">
              <a:buNone/>
            </a:pPr>
            <a:r>
              <a:rPr lang="en-US" sz="1700" b="1" dirty="0">
                <a:solidFill>
                  <a:srgbClr val="6FA8FF"/>
                </a:solidFill>
                <a:latin typeface="Arial" pitchFamily="34" charset="0"/>
                <a:ea typeface="Arial" pitchFamily="34" charset="-122"/>
                <a:cs typeface="Arial" pitchFamily="34" charset="-120"/>
              </a:rPr>
              <a:t>ishmiit.github.io/Sahayak</a:t>
            </a:r>
            <a:endParaRPr lang="en-US" sz="1700" dirty="0"/>
          </a:p>
        </p:txBody>
      </p:sp>
      <p:sp>
        <p:nvSpPr>
          <p:cNvPr id="5" name="title"/>
          <p:cNvSpPr txBox="1"/>
          <p:nvPr/>
        </p:nvSpPr>
        <p:spPr>
          <a:xfrm>
            <a:off x="6035040" y="868680"/>
            <a:ext cx="5669280" cy="822960"/>
          </a:xfrm>
          <a:prstGeom prst="rect">
            <a:avLst/>
          </a:prstGeom>
          <a:noFill/>
          <a:ln/>
        </p:spPr>
        <p:txBody>
          <a:bodyPr wrap="square" lIns="0" tIns="0" rIns="0" bIns="0" rtlCol="0" anchor="t"/>
          <a:lstStyle/>
          <a:p>
            <a:pPr indent="0" marL="0">
              <a:buNone/>
            </a:pPr>
            <a:r>
              <a:rPr lang="en-US" sz="4800" b="1" dirty="0">
                <a:solidFill>
                  <a:srgbClr val="F5F5F7"/>
                </a:solidFill>
                <a:latin typeface="Arial" pitchFamily="34" charset="0"/>
                <a:ea typeface="Arial" pitchFamily="34" charset="-122"/>
                <a:cs typeface="Arial" pitchFamily="34" charset="-120"/>
              </a:rPr>
              <a:t>Try it yourself.</a:t>
            </a:r>
            <a:endParaRPr lang="en-US" sz="4800" dirty="0"/>
          </a:p>
        </p:txBody>
      </p:sp>
      <p:sp>
        <p:nvSpPr>
          <p:cNvPr id="6" name="subtitle"/>
          <p:cNvSpPr txBox="1"/>
          <p:nvPr/>
        </p:nvSpPr>
        <p:spPr>
          <a:xfrm>
            <a:off x="6035040" y="1691640"/>
            <a:ext cx="5669280" cy="457200"/>
          </a:xfrm>
          <a:prstGeom prst="rect">
            <a:avLst/>
          </a:prstGeom>
          <a:noFill/>
          <a:ln/>
        </p:spPr>
        <p:txBody>
          <a:bodyPr wrap="square" lIns="0" tIns="0" rIns="0" bIns="0" rtlCol="0" anchor="t"/>
          <a:lstStyle/>
          <a:p>
            <a:pPr indent="0" marL="0">
              <a:buNone/>
            </a:pPr>
            <a:r>
              <a:rPr lang="en-US" sz="2000" dirty="0">
                <a:solidFill>
                  <a:srgbClr val="A1A1A6"/>
                </a:solidFill>
                <a:latin typeface="Arial" pitchFamily="34" charset="0"/>
                <a:ea typeface="Arial" pitchFamily="34" charset="-122"/>
                <a:cs typeface="Arial" pitchFamily="34" charset="-120"/>
              </a:rPr>
              <a:t>Scan it on your phone, or watch it on our laptop.</a:t>
            </a:r>
            <a:endParaRPr lang="en-US" sz="2000" dirty="0"/>
          </a:p>
        </p:txBody>
      </p:sp>
      <p:sp>
        <p:nvSpPr>
          <p:cNvPr id="7" name="number 1"/>
          <p:cNvSpPr/>
          <p:nvPr/>
        </p:nvSpPr>
        <p:spPr>
          <a:xfrm>
            <a:off x="6035040" y="2496312"/>
            <a:ext cx="457200" cy="457200"/>
          </a:xfrm>
          <a:prstGeom prst="ellipse">
            <a:avLst/>
          </a:prstGeom>
          <a:solidFill>
            <a:srgbClr val="6FA8FF"/>
          </a:solidFill>
          <a:ln/>
        </p:spPr>
      </p:sp>
      <p:sp>
        <p:nvSpPr>
          <p:cNvPr id="8" name="number 1 label"/>
          <p:cNvSpPr txBox="1"/>
          <p:nvPr/>
        </p:nvSpPr>
        <p:spPr>
          <a:xfrm>
            <a:off x="6035040" y="2496312"/>
            <a:ext cx="457200" cy="45720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1</a:t>
            </a:r>
            <a:endParaRPr lang="en-US" sz="1800" dirty="0"/>
          </a:p>
        </p:txBody>
      </p:sp>
      <p:sp>
        <p:nvSpPr>
          <p:cNvPr id="9" name="step 1"/>
          <p:cNvSpPr txBox="1"/>
          <p:nvPr/>
        </p:nvSpPr>
        <p:spPr>
          <a:xfrm>
            <a:off x="6720840" y="2468880"/>
            <a:ext cx="4937760" cy="384048"/>
          </a:xfrm>
          <a:prstGeom prst="rect">
            <a:avLst/>
          </a:prstGeom>
          <a:noFill/>
          <a:ln/>
        </p:spPr>
        <p:txBody>
          <a:bodyPr wrap="square" lIns="0" tIns="0" rIns="0" bIns="0" rtlCol="0" anchor="t"/>
          <a:lstStyle/>
          <a:p>
            <a:pPr indent="0" marL="0">
              <a:buNone/>
            </a:pPr>
            <a:r>
              <a:rPr lang="en-US" sz="2000" b="1" dirty="0">
                <a:solidFill>
                  <a:srgbClr val="F5F5F7"/>
                </a:solidFill>
                <a:latin typeface="Arial" pitchFamily="34" charset="0"/>
                <a:ea typeface="Arial" pitchFamily="34" charset="-122"/>
                <a:cs typeface="Arial" pitchFamily="34" charset="-120"/>
              </a:rPr>
              <a:t>Check a scam</a:t>
            </a:r>
            <a:endParaRPr lang="en-US" sz="2000" dirty="0"/>
          </a:p>
        </p:txBody>
      </p:sp>
      <p:sp>
        <p:nvSpPr>
          <p:cNvPr id="10" name="step 1 detail"/>
          <p:cNvSpPr txBox="1"/>
          <p:nvPr/>
        </p:nvSpPr>
        <p:spPr>
          <a:xfrm>
            <a:off x="6720840" y="2852928"/>
            <a:ext cx="4937760" cy="365760"/>
          </a:xfrm>
          <a:prstGeom prst="rect">
            <a:avLst/>
          </a:prstGeom>
          <a:noFill/>
          <a:ln/>
        </p:spPr>
        <p:txBody>
          <a:bodyPr wrap="square" lIns="0" tIns="0" rIns="0" bIns="0" rtlCol="0" anchor="t"/>
          <a:lstStyle/>
          <a:p>
            <a:pPr indent="0" marL="0">
              <a:buNone/>
            </a:pPr>
            <a:r>
              <a:rPr lang="en-US" sz="1700" dirty="0">
                <a:solidFill>
                  <a:srgbClr val="A1A1A6"/>
                </a:solidFill>
                <a:latin typeface="Arial" pitchFamily="34" charset="0"/>
                <a:ea typeface="Arial" pitchFamily="34" charset="-122"/>
                <a:cs typeface="Arial" pitchFamily="34" charset="-120"/>
              </a:rPr>
              <a:t>Try “Pay ₹500 for your Ayushman card”.</a:t>
            </a:r>
            <a:endParaRPr lang="en-US" sz="1700" dirty="0"/>
          </a:p>
        </p:txBody>
      </p:sp>
      <p:sp>
        <p:nvSpPr>
          <p:cNvPr id="11" name="number 2"/>
          <p:cNvSpPr/>
          <p:nvPr/>
        </p:nvSpPr>
        <p:spPr>
          <a:xfrm>
            <a:off x="6035040" y="3337560"/>
            <a:ext cx="457200" cy="457200"/>
          </a:xfrm>
          <a:prstGeom prst="ellipse">
            <a:avLst/>
          </a:prstGeom>
          <a:solidFill>
            <a:srgbClr val="6FA8FF"/>
          </a:solidFill>
          <a:ln/>
        </p:spPr>
      </p:sp>
      <p:sp>
        <p:nvSpPr>
          <p:cNvPr id="12" name="number 2 label"/>
          <p:cNvSpPr txBox="1"/>
          <p:nvPr/>
        </p:nvSpPr>
        <p:spPr>
          <a:xfrm>
            <a:off x="6035040" y="3337560"/>
            <a:ext cx="457200" cy="45720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2</a:t>
            </a:r>
            <a:endParaRPr lang="en-US" sz="1800" dirty="0"/>
          </a:p>
        </p:txBody>
      </p:sp>
      <p:sp>
        <p:nvSpPr>
          <p:cNvPr id="13" name="step 2"/>
          <p:cNvSpPr txBox="1"/>
          <p:nvPr/>
        </p:nvSpPr>
        <p:spPr>
          <a:xfrm>
            <a:off x="6720840" y="3310128"/>
            <a:ext cx="4937760" cy="384048"/>
          </a:xfrm>
          <a:prstGeom prst="rect">
            <a:avLst/>
          </a:prstGeom>
          <a:noFill/>
          <a:ln/>
        </p:spPr>
        <p:txBody>
          <a:bodyPr wrap="square" lIns="0" tIns="0" rIns="0" bIns="0" rtlCol="0" anchor="t"/>
          <a:lstStyle/>
          <a:p>
            <a:pPr indent="0" marL="0">
              <a:buNone/>
            </a:pPr>
            <a:r>
              <a:rPr lang="en-US" sz="2000" b="1" dirty="0">
                <a:solidFill>
                  <a:srgbClr val="F5F5F7"/>
                </a:solidFill>
                <a:latin typeface="Arial" pitchFamily="34" charset="0"/>
                <a:ea typeface="Arial" pitchFamily="34" charset="-122"/>
                <a:cs typeface="Arial" pitchFamily="34" charset="-120"/>
              </a:rPr>
              <a:t>What is she owed?</a:t>
            </a:r>
            <a:endParaRPr lang="en-US" sz="2000" dirty="0"/>
          </a:p>
        </p:txBody>
      </p:sp>
      <p:sp>
        <p:nvSpPr>
          <p:cNvPr id="14" name="step 2 detail"/>
          <p:cNvSpPr txBox="1"/>
          <p:nvPr/>
        </p:nvSpPr>
        <p:spPr>
          <a:xfrm>
            <a:off x="6720840" y="3694176"/>
            <a:ext cx="4937760" cy="365760"/>
          </a:xfrm>
          <a:prstGeom prst="rect">
            <a:avLst/>
          </a:prstGeom>
          <a:noFill/>
          <a:ln/>
        </p:spPr>
        <p:txBody>
          <a:bodyPr wrap="square" lIns="0" tIns="0" rIns="0" bIns="0" rtlCol="0" anchor="t"/>
          <a:lstStyle/>
          <a:p>
            <a:pPr indent="0" marL="0">
              <a:buNone/>
            </a:pPr>
            <a:r>
              <a:rPr lang="en-US" sz="1700" dirty="0">
                <a:solidFill>
                  <a:srgbClr val="A1A1A6"/>
                </a:solidFill>
                <a:latin typeface="Arial" pitchFamily="34" charset="0"/>
                <a:ea typeface="Arial" pitchFamily="34" charset="-122"/>
                <a:cs typeface="Arial" pitchFamily="34" charset="-120"/>
              </a:rPr>
              <a:t>Answer as a 74-year-old.</a:t>
            </a:r>
            <a:endParaRPr lang="en-US" sz="1700" dirty="0"/>
          </a:p>
        </p:txBody>
      </p:sp>
      <p:sp>
        <p:nvSpPr>
          <p:cNvPr id="15" name="number 3"/>
          <p:cNvSpPr/>
          <p:nvPr/>
        </p:nvSpPr>
        <p:spPr>
          <a:xfrm>
            <a:off x="6035040" y="4178808"/>
            <a:ext cx="457200" cy="457200"/>
          </a:xfrm>
          <a:prstGeom prst="ellipse">
            <a:avLst/>
          </a:prstGeom>
          <a:solidFill>
            <a:srgbClr val="6FA8FF"/>
          </a:solidFill>
          <a:ln/>
        </p:spPr>
      </p:sp>
      <p:sp>
        <p:nvSpPr>
          <p:cNvPr id="16" name="number 3 label"/>
          <p:cNvSpPr txBox="1"/>
          <p:nvPr/>
        </p:nvSpPr>
        <p:spPr>
          <a:xfrm>
            <a:off x="6035040" y="4178808"/>
            <a:ext cx="457200" cy="45720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3</a:t>
            </a:r>
            <a:endParaRPr lang="en-US" sz="1800" dirty="0"/>
          </a:p>
        </p:txBody>
      </p:sp>
      <p:sp>
        <p:nvSpPr>
          <p:cNvPr id="17" name="step 3"/>
          <p:cNvSpPr txBox="1"/>
          <p:nvPr/>
        </p:nvSpPr>
        <p:spPr>
          <a:xfrm>
            <a:off x="6720840" y="4151376"/>
            <a:ext cx="4937760" cy="384048"/>
          </a:xfrm>
          <a:prstGeom prst="rect">
            <a:avLst/>
          </a:prstGeom>
          <a:noFill/>
          <a:ln/>
        </p:spPr>
        <p:txBody>
          <a:bodyPr wrap="square" lIns="0" tIns="0" rIns="0" bIns="0" rtlCol="0" anchor="t"/>
          <a:lstStyle/>
          <a:p>
            <a:pPr indent="0" marL="0">
              <a:buNone/>
            </a:pPr>
            <a:r>
              <a:rPr lang="en-US" sz="2000" b="1" dirty="0">
                <a:solidFill>
                  <a:srgbClr val="F5F5F7"/>
                </a:solidFill>
                <a:latin typeface="Arial" pitchFamily="34" charset="0"/>
                <a:ea typeface="Arial" pitchFamily="34" charset="-122"/>
                <a:cs typeface="Arial" pitchFamily="34" charset="-120"/>
              </a:rPr>
              <a:t>Your language</a:t>
            </a:r>
            <a:endParaRPr lang="en-US" sz="2000" dirty="0"/>
          </a:p>
        </p:txBody>
      </p:sp>
      <p:sp>
        <p:nvSpPr>
          <p:cNvPr id="18" name="step 3 detail"/>
          <p:cNvSpPr txBox="1"/>
          <p:nvPr/>
        </p:nvSpPr>
        <p:spPr>
          <a:xfrm>
            <a:off x="6720840" y="4535424"/>
            <a:ext cx="4937760" cy="365760"/>
          </a:xfrm>
          <a:prstGeom prst="rect">
            <a:avLst/>
          </a:prstGeom>
          <a:noFill/>
          <a:ln/>
        </p:spPr>
        <p:txBody>
          <a:bodyPr wrap="square" lIns="0" tIns="0" rIns="0" bIns="0" rtlCol="0" anchor="t"/>
          <a:lstStyle/>
          <a:p>
            <a:pPr indent="0" marL="0">
              <a:buNone/>
            </a:pPr>
            <a:r>
              <a:rPr lang="en-US" sz="1700" dirty="0">
                <a:solidFill>
                  <a:srgbClr val="A1A1A6"/>
                </a:solidFill>
                <a:latin typeface="Arial" pitchFamily="34" charset="0"/>
                <a:ea typeface="Arial" pitchFamily="34" charset="-122"/>
                <a:cs typeface="Arial" pitchFamily="34" charset="-120"/>
              </a:rPr>
              <a:t>Tap EN and pick any of 22.</a:t>
            </a:r>
            <a:endParaRPr lang="en-US" sz="1700" dirty="0"/>
          </a:p>
        </p:txBody>
      </p:sp>
      <p:sp>
        <p:nvSpPr>
          <p:cNvPr id="19" name="number 4"/>
          <p:cNvSpPr/>
          <p:nvPr/>
        </p:nvSpPr>
        <p:spPr>
          <a:xfrm>
            <a:off x="6035040" y="5020056"/>
            <a:ext cx="457200" cy="457200"/>
          </a:xfrm>
          <a:prstGeom prst="ellipse">
            <a:avLst/>
          </a:prstGeom>
          <a:solidFill>
            <a:srgbClr val="6FA8FF"/>
          </a:solidFill>
          <a:ln/>
        </p:spPr>
      </p:sp>
      <p:sp>
        <p:nvSpPr>
          <p:cNvPr id="20" name="number 4 label"/>
          <p:cNvSpPr txBox="1"/>
          <p:nvPr/>
        </p:nvSpPr>
        <p:spPr>
          <a:xfrm>
            <a:off x="6035040" y="5020056"/>
            <a:ext cx="457200" cy="45720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4</a:t>
            </a:r>
            <a:endParaRPr lang="en-US" sz="1800" dirty="0"/>
          </a:p>
        </p:txBody>
      </p:sp>
      <p:sp>
        <p:nvSpPr>
          <p:cNvPr id="21" name="step 4"/>
          <p:cNvSpPr txBox="1"/>
          <p:nvPr/>
        </p:nvSpPr>
        <p:spPr>
          <a:xfrm>
            <a:off x="6720840" y="4992624"/>
            <a:ext cx="4937760" cy="384048"/>
          </a:xfrm>
          <a:prstGeom prst="rect">
            <a:avLst/>
          </a:prstGeom>
          <a:noFill/>
          <a:ln/>
        </p:spPr>
        <p:txBody>
          <a:bodyPr wrap="square" lIns="0" tIns="0" rIns="0" bIns="0" rtlCol="0" anchor="t"/>
          <a:lstStyle/>
          <a:p>
            <a:pPr indent="0" marL="0">
              <a:buNone/>
            </a:pPr>
            <a:r>
              <a:rPr lang="en-US" sz="2000" b="1" dirty="0">
                <a:solidFill>
                  <a:srgbClr val="F5F5F7"/>
                </a:solidFill>
                <a:latin typeface="Arial" pitchFamily="34" charset="0"/>
                <a:ea typeface="Arial" pitchFamily="34" charset="-122"/>
                <a:cs typeface="Arial" pitchFamily="34" charset="-120"/>
              </a:rPr>
              <a:t>Airplane mode</a:t>
            </a:r>
            <a:endParaRPr lang="en-US" sz="2000" dirty="0"/>
          </a:p>
        </p:txBody>
      </p:sp>
      <p:sp>
        <p:nvSpPr>
          <p:cNvPr id="22" name="step 4 detail"/>
          <p:cNvSpPr txBox="1"/>
          <p:nvPr/>
        </p:nvSpPr>
        <p:spPr>
          <a:xfrm>
            <a:off x="6720840" y="5376672"/>
            <a:ext cx="4937760" cy="365760"/>
          </a:xfrm>
          <a:prstGeom prst="rect">
            <a:avLst/>
          </a:prstGeom>
          <a:noFill/>
          <a:ln/>
        </p:spPr>
        <p:txBody>
          <a:bodyPr wrap="square" lIns="0" tIns="0" rIns="0" bIns="0" rtlCol="0" anchor="t"/>
          <a:lstStyle/>
          <a:p>
            <a:pPr indent="0" marL="0">
              <a:buNone/>
            </a:pPr>
            <a:r>
              <a:rPr lang="en-US" sz="1700" dirty="0">
                <a:solidFill>
                  <a:srgbClr val="A1A1A6"/>
                </a:solidFill>
                <a:latin typeface="Arial" pitchFamily="34" charset="0"/>
                <a:ea typeface="Arial" pitchFamily="34" charset="-122"/>
                <a:cs typeface="Arial" pitchFamily="34" charset="-120"/>
              </a:rPr>
              <a:t>Turn it on. It still works.</a:t>
            </a:r>
            <a:endParaRPr lang="en-US" sz="1700" dirty="0"/>
          </a:p>
        </p:txBody>
      </p:sp>
      <p:sp>
        <p:nvSpPr>
          <p:cNvPr id="23" name="footer"/>
          <p:cNvSpPr txBox="1"/>
          <p:nvPr/>
        </p:nvSpPr>
        <p:spPr>
          <a:xfrm>
            <a:off x="6035040" y="5760720"/>
            <a:ext cx="5669280" cy="365760"/>
          </a:xfrm>
          <a:prstGeom prst="rect">
            <a:avLst/>
          </a:prstGeom>
          <a:noFill/>
          <a:ln/>
        </p:spPr>
        <p:txBody>
          <a:bodyPr wrap="square" lIns="0" tIns="0" rIns="0" bIns="0" rtlCol="0" anchor="t"/>
          <a:lstStyle/>
          <a:p>
            <a:pPr indent="0" marL="0">
              <a:buNone/>
            </a:pPr>
            <a:r>
              <a:rPr lang="en-US" sz="1600" dirty="0">
                <a:solidFill>
                  <a:srgbClr val="6E6E73"/>
                </a:solidFill>
                <a:latin typeface="Arial" pitchFamily="34" charset="0"/>
                <a:ea typeface="Arial" pitchFamily="34" charset="-122"/>
                <a:cs typeface="Arial" pitchFamily="34" charset="-120"/>
              </a:rPr>
              <a:t>Nothing to install. No account. Then, your questions.</a:t>
            </a:r>
            <a:endParaRPr lang="en-US" sz="1600" dirty="0"/>
          </a:p>
        </p:txBody>
      </p:sp>
    </p:spTree>
  </p:cSld>
  <p:clrMapOvr>
    <a:masterClrMapping/>
  </p:clrMapOvr>
</p:sld>
</file>

<file path=ppt/theme/theme1.xml><?xml version="1.0" encoding="utf-8"?>
<a:theme xmlns:a="http://schemas.openxmlformats.org/drawingml/2006/main" name="Sahayak Keynote">
  <a:themeElements>
    <a:clrScheme name="Sahayak Keynote">
      <a:dk1>
        <a:srgbClr val="000000"/>
      </a:dk1>
      <a:lt1>
        <a:srgbClr val="F5F5F7"/>
      </a:lt1>
      <a:dk2>
        <a:srgbClr val="161618"/>
      </a:dk2>
      <a:lt2>
        <a:srgbClr val="A1A1A6"/>
      </a:lt2>
      <a:accent1>
        <a:srgbClr val="6FA8FF"/>
      </a:accent1>
      <a:accent2>
        <a:srgbClr val="E2C28A"/>
      </a:accent2>
      <a:accent3>
        <a:srgbClr val="4FD68A"/>
      </a:accent3>
      <a:accent4>
        <a:srgbClr val="FF5A52"/>
      </a:accent4>
      <a:accent5>
        <a:srgbClr val="1C1C1E"/>
      </a:accent5>
      <a:accent6>
        <a:srgbClr val="6E6E73"/>
      </a:accent6>
      <a:hlink>
        <a:srgbClr val="6FA8FF"/>
      </a:hlink>
      <a:folHlink>
        <a:srgbClr val="91C1FF"/>
      </a:folHlink>
    </a:clrScheme>
    <a:fontScheme name="Sahayak Keyno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Sahayak: keynote for the Grand Jury Round, Ideas for India 2026</dc:title>
  <dc:subject>PptxGenJS Presentation</dc:subject>
  <dc:creator>Ishmiit Singh, Roshan Raj</dc:creator>
  <cp:lastModifiedBy>Ishmiit Singh, Roshan Raj</cp:lastModifiedBy>
  <cp:revision>1</cp:revision>
  <dcterms:created xsi:type="dcterms:W3CDTF">2026-10-14T05:33:02Z</dcterms:created>
  <dcterms:modified xsi:type="dcterms:W3CDTF">2026-10-14T05:33:02Z</dcterms:modified>
</cp:coreProperties>
</file>