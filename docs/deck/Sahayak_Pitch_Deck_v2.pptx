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banked half a billion people, then left them to be robbed. Sahayak protects them where they are: offline, in their language, privately.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people most exposed to fraud and most in need of guidance are the ones digital services reach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 is subtraction: no internet, no English-only, no cloud, no expensive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the running prototype: a scam verdict with reasons and 1930, a benefits result, and a UPI QR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verdict never depends on the model alone; with the model switched off, everything still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Turns the usual trade-off, advanced AI or reaching the unconnected, into advanced AI because it reaches the unconnected.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comes from a script in bench/ and the testing report; the caveats are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is economic (rupees at risk, entitlements claimed) and social (safety, dignity, trust).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scheme the Navigator surfaces is a service the operator can complete at the counter, which keeps the node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Maps Sahayak onto the rubric's national-priorities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Honest: the technology is built; partnerships are what this challenge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line: banked half a billion, and Sahayak helps keep them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100" kern="0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Offline. Vernacular. On your side.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611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scam shield and benefits guide that runs on one node at a CSC counter, with no internet, in Hindi and English, by voice or touch. Built and measured.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for India 2026</a:t>
            </a:r>
            <a:pPr indent="0" marL="0">
              <a:buNone/>
            </a:pPr>
            <a:r>
              <a:rPr lang="en-US" sz="13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Inclusive Innovation for Bharat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Raj  ·  Ishmiit Singh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Banked, then left to be robbed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 of first-time account holders now receive OTPs, UPI requests and scheme messages they were never taught to read.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preys on the new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" y="3493008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KYC SMS, "scan to receive" QR codes, digital-arrest calls, fake scheme apps: built to fool people who cannot yet tell a real bank message from a trap.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go unclaimed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493008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Pensions, insurance and income support are lost to paperwork and to not knowing they exist, or which office to ask.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5048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assume the connected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5048" y="3493008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tool assumes internet, a smartphone, English and the cloud: the four things the excluded lack.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offline node. Two questions answered.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join the node's Wi-Fi, which has no internet, and ask in Hindi or English, by voice or touch.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520440" cy="3337560"/>
          </a:xfrm>
          <a:prstGeom prst="roundRect">
            <a:avLst>
              <a:gd name="adj" fmla="val 2740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a scam?"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" y="3493008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Paste, speak, photograph or describe a message, a call or a UPI QR. Verdict in milliseconds, the three reasons, what to do, and a ready 1930 complaint.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468880"/>
            <a:ext cx="3520440" cy="3337560"/>
          </a:xfrm>
          <a:prstGeom prst="roundRect">
            <a:avLst>
              <a:gd name="adj" fmla="val 2740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am I owed?"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493008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spoken interview (median 5 questions) across 12 central schemes: what you can get, the papers to carry, where to go, what to say, and a printed slip.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468880"/>
            <a:ext cx="3520440" cy="3337560"/>
          </a:xfrm>
          <a:prstGeom prst="roundRect">
            <a:avLst>
              <a:gd name="adj" fmla="val 2740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5048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counter, not an app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5048" y="3493008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CSC or bank agent sees "Ask the agent" requests, prints 58 mm slips and reads monthly impact counters that hold no personal data.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and on a phone today</a:t>
            </a:r>
            <a:endParaRPr lang="en-US" sz="3100" dirty="0"/>
          </a:p>
        </p:txBody>
      </p:sp>
      <p:pic>
        <p:nvPicPr>
          <p:cNvPr id="8" name="Image 0" descr="C:\Users\singh\OneDrive\Desktop\TOI\sahayak\docs\deck\img\03_result_kyc_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37744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053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KYC SMS</a:t>
            </a:r>
            <a:endParaRPr lang="en-US" sz="1300" dirty="0"/>
          </a:p>
        </p:txBody>
      </p:sp>
      <p:pic>
        <p:nvPicPr>
          <p:cNvPr id="10" name="Image 1" descr="C:\Users\singh\OneDrive\Desktop\TOI\sahayak\docs\deck\img\09_benefits_result_widow_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3080"/>
            <a:ext cx="2377440" cy="4206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6053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Widow, 67: what she can claim</a:t>
            </a:r>
            <a:endParaRPr lang="en-US" sz="1300" dirty="0"/>
          </a:p>
        </p:txBody>
      </p:sp>
      <p:pic>
        <p:nvPicPr>
          <p:cNvPr id="12" name="Image 2" descr="C:\Users\singh\OneDrive\Desktop\TOI\sahayak\docs\deck\img\13_qr_cashback_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83080"/>
            <a:ext cx="2377440" cy="4206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6053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"Scan to get cashback" QR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implementation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20"/>
          </a:solidFill>
          <a:ln w="12700">
            <a:solidFill>
              <a:srgbClr val="27C0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app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cached web app (no install), Hindi and English, every screen read aloud; works on a basic Android phone.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9077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20"/>
          </a:solidFill>
          <a:ln w="12700">
            <a:solidFill>
              <a:srgbClr val="27C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770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Fraud-Shield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2770632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named signals in a signed content pack, a pattern matcher and a small classifier decide. Vetted templates explain; an optional local LLM may add a line, only through a safety gate.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6674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8496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20"/>
          </a:solidFill>
          <a:ln w="12700">
            <a:solidFill>
              <a:srgbClr val="27C0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71246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Navigator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480560" y="3712464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rules as data, each traced to its official page and date; yes / likely / unknown / no logic; asks only what can change the answer.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60857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791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20"/>
          </a:solidFill>
          <a:ln w="12700">
            <a:solidFill>
              <a:srgbClr val="27C0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6542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voice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80560" y="4654296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in and out on the node (Vosk, Piper); amounts spoken as words; "I heard …, is that right?" before any answer is used.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5040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7332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20"/>
          </a:solidFill>
          <a:ln w="12700">
            <a:solidFill>
              <a:srgbClr val="27C0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55961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node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480560" y="5596128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 or mini-PC at a CSC. Zero-egress monitor, Ed25519-signed packs updated by USB, operator console, captive portal.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UNIQUENESS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 one else ships together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450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and it proves 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321868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counts every outbound connection its own process makes, live on screen, next to the firewall's state. The judge's phone shows "no internet".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5968" y="21945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450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Explains, not a blocklist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21868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signals a judge can check. On ScamBench, 91.9% of scams caught against 51.4% for a keyword blocklist, with 8.7% false alarms against 43.5%.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21945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5048" y="2450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not guesses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5048" y="321868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answers computed from official rules: 2,400 of 2,400 decisions match an independent re-derivation; every rupee amount traces to a signed pack.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FEASIBILITY: MEASURED, NOT CLAIMED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already works, and we measured it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91.9%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caught (blocklist: 51.4%)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44952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44952" y="3017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verdict on a laptop CPU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21224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4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21224" y="3017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word error, real speakers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97496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97496" y="3017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mic release to spoken reply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73768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73768" y="3017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find a person's schemes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B2A20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know, and what it does not show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ScamBench v0 frozen test split (60 messages, 95% CI 82.1%–100.0%); SchemeBench (200 personas, exhaustive interview check); Google FLEURS Hindi (418 recordings). v0 messages were written by our team, so those numbers are optimistic; v1 adds real messages collected with consent. Red team: 46 of 52 scams disguised to slip past it caught on the first run (blocklist 33). All in the testing report.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AND ECONOMIC IMPACT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"account opened" to "citizen safe"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3591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Rupees at risk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312724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adds up the money asked for in messages it flags, every month: never called "saved", always shown to the district without personal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5968" y="210312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3591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 found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12724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found eligible, by scheme, with the papers and the office; each printed slip lets the CSC operator finish the form at the counter.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210312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5048" y="23591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leaves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5048" y="312724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voices and answers stay in the node's memory; the case log needs consent, holds no names and deletes itself after 30 days.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1B2A20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target, not a result: one node per CSC in a 20-village district, with an operator and real users. The counters are how the district will know.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AND SUSTAINABILITY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by replication, not reinvention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3134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 node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50392" y="308152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is a node image plus signed content packs plus a one-page operator guide. A new scam pattern or scheme is a pack update by USB, not a code change.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5968" y="20574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3134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 existing rails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17720" y="308152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CSCs, bank business correspondents and ASHA workers: networks people already trust, with an operator at the counter.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20574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5048" y="23134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4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by design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85048" y="308152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or per-query cost; open, testable rules; counters give the district a monthly number to fund against.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NATIONAL PRIORITIES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India's own rails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350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India, last mile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862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digital public services to the citizens they reach last.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21488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350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Dhan · DBT · UPI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0288" y="2862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financial-inclusion base the nation has already built.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7616" y="2350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and cybercrime.gov.in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57616" y="2862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scam verdict ends in the national helpline and a ready complaint.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133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languages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 by voice today; the language data is a pack, so more languages follow.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15968" y="39319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90288" y="4133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90288" y="46451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the node: consent first, nothing named, deleted by default.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83296" y="39319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57616" y="4133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 · BC · ASHA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57616" y="46451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the public networks already trusted on the ground.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AND THE ASK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who ship, seeking last-mile partners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074920" cy="3886200"/>
          </a:xfrm>
          <a:prstGeom prst="roundRect">
            <a:avLst>
              <a:gd name="adj" fmla="val 2353"/>
            </a:avLst>
          </a:prstGeom>
          <a:solidFill>
            <a:srgbClr val="152017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Roshan Raj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AI-infrastructure engineer · Manipal Institute of Technology · 7 patents pending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Ishmiit Singh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Co-builder: product, content and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the node, the scam shield, the scheme navigator, offline voice, the operator console and the benchmarks behind every number in this deck.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0" y="1965960"/>
            <a:ext cx="5760720" cy="3886200"/>
          </a:xfrm>
          <a:prstGeom prst="roundRect">
            <a:avLst>
              <a:gd name="adj" fmla="val 2353"/>
            </a:avLst>
          </a:prstGeom>
          <a:solidFill>
            <a:srgbClr val="1B2A20"/>
          </a:solidFill>
          <a:ln w="12700">
            <a:solidFill>
              <a:srgbClr val="2C46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single-district pilot with the natural last-mile partners: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e-Governance / State IT: village access points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BC network / SLBC: reach and real messages for ScamBench v1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for scheme rules and money answers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rural NGO: field testing and Hindi review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09728" cy="1097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384048"/>
            <a:ext cx="109728" cy="109728"/>
          </a:xfrm>
          <a:prstGeom prst="ellipse">
            <a:avLst/>
          </a:prstGeom>
          <a:solidFill>
            <a:srgbClr val="EE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841480" y="384048"/>
            <a:ext cx="109728" cy="109728"/>
          </a:xfrm>
          <a:prstGeom prst="ellipse">
            <a:avLst/>
          </a:prstGeom>
          <a:solidFill>
            <a:srgbClr val="27C08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banked half a billion people.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 helps keep them safe.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3383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vernacular · privacy-first · built and measured. The connectivity divide, turned into a bridge.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Raj  ·  Ishmiit Singh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Roshan Raj, Ishmiit Singh</dc:creator>
  <cp:lastModifiedBy>Roshan Raj, Ishmiit Singh</cp:lastModifiedBy>
  <cp:revision>1</cp:revision>
  <dcterms:created xsi:type="dcterms:W3CDTF">2026-10-06T09:20:58Z</dcterms:created>
  <dcterms:modified xsi:type="dcterms:W3CDTF">2026-10-06T09:20:58Z</dcterms:modified>
</cp:coreProperties>
</file>