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opening line word for word, then go straight to slide 2. If the slot is 90 seconds: slides 1, 2, 5 and 7 (the QR code is on 3 and 7). In 4 minutes: all seven, with the judges trying it on slide 3. In 7 minutes: add a live check on the demo phone at slide 3 and take the round-1 story on slide 4 slowly. The 59 crore counts accounts, not people (PIB, Aug 2026; Finance Ministry RTI,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₹22,495 crore lost to financial cyber fraud in 2025, across 24 lakh complaints. Then the demo persona, and say it is a demo persona: aged 74, a BPL card, a bank account. The SMS is a fake KYC message; Sahayak says Scam and names three reasons (a personal number, a lookalike link, the KYC threat). The same person is likely owed the Vay Vandana card: hospital care only, not OPD, shared with a spouse who is also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talking and let them try; walk round with the demo phone for anyone whose phone will not load it, and never debug a judge's phone. The public site was rebuilt on 8 Oct with the node's packs and the redesigned app (fraud 1.7.0), "Could not check" included; before Delhi, open phone-packs/fraud.json on the site and check it matches the node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before they ask. Round 1 promised a 14B model on the Crucible runtime and a fine-tuned finance model; neither is in Sahayak, and Crucible has not been run with Sahayak. We measured a qwen2.5 3b model zero-shot on the same 137 real published messages: it caught more scams (99 of 103 against 67) but flagged 21 of 34 genuine messages (Sahayak 11), at 2.13 s a message on a GPU; a CSC laptop's CPU is slower. A warning that fires on that many genuine messages teaches people to ignore warnings. So rules decide, and every verdict names its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real messages and say it plainly: on 137 messages people actually received, published by the Income Tax portal, PIB Fact Check, courts, banks and fact-checkers and scored once, Sahayak caught 67 of 97 scams and flagged 11 of 34 genuine messages. That is lower than on messages written for the test (92 of 103 blind, 34 of 37 on our own), and it is the honest number. Never quote 92% without saying it was on our own messages. What it missed on the real set: calls with no link or number yet (a "press zero" traffic-police call, a fake officer asking for money), stock-tip groups, long official-looking letters; false alarms: a bank maintenance notice, an ITR e-verify reminder, a prepaid-power bill. Blind set: the keyword blocklist caught 51; other languages got "Could not check", never a false green. Stress test: the first run found a speech queue, an empty-photo crash, an image bomb and unlimited uploads, all fixed before this run; on a slow phone (CPU 6x slower) the first visit took 6.4 s and a later offline check 0.88 s. Say the last line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first is in the product, not only on this slide: every benefits result for someone 70+ leads with the Vay Vandana card, hospital care only, not OPD. The CSC network is paid ₹20 per first-time card; the citizen pays nothing. The counts are what a pilot would report; none are results yet. Who pays in month seven: give the 30-second answer in the budget appendix (section 2). Nobody has agreed to pay; the payers are hypotheses to test; the coordinator and content upkeep have no payer yet. Say that before a judge finds it. RBI's compensation from 1 Jan 2027 covers credentials taken from the customer or payments under coercion, reported within 5 days; money a person sends willingly is not covered, so do not pitch fraud-loss savings to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then the opening line again: India opened 59 crore Jan Dhan accounts; Sahayak helps those account holders spot a scam before the money moves, and claim what they are owed. Before Delhi, replace the bracketed "who built what" line with what each of you built, and be ready for "Ishmiit, what did you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010"/>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933"/>
          </a:solidFill>
          <a:ln/>
        </p:spPr>
      </p:sp>
      <p:sp>
        <p:nvSpPr>
          <p:cNvPr id="3" name="Shape 1"/>
          <p:cNvSpPr/>
          <p:nvPr/>
        </p:nvSpPr>
        <p:spPr>
          <a:xfrm>
            <a:off x="11658600" y="384048"/>
            <a:ext cx="109728" cy="109728"/>
          </a:xfrm>
          <a:prstGeom prst="ellipse">
            <a:avLst/>
          </a:prstGeom>
          <a:solidFill>
            <a:srgbClr val="FFFFFF"/>
          </a:solidFill>
          <a:ln/>
        </p:spPr>
      </p:sp>
      <p:sp>
        <p:nvSpPr>
          <p:cNvPr id="4" name="Shape 2"/>
          <p:cNvSpPr/>
          <p:nvPr/>
        </p:nvSpPr>
        <p:spPr>
          <a:xfrm>
            <a:off x="11841480" y="384048"/>
            <a:ext cx="109728" cy="109728"/>
          </a:xfrm>
          <a:prstGeom prst="ellipse">
            <a:avLst/>
          </a:prstGeom>
          <a:solidFill>
            <a:srgbClr val="138808"/>
          </a:solidFill>
          <a:ln/>
        </p:spPr>
      </p:sp>
      <p:sp>
        <p:nvSpPr>
          <p:cNvPr id="5" name="Text 3"/>
          <p:cNvSpPr/>
          <p:nvPr/>
        </p:nvSpPr>
        <p:spPr>
          <a:xfrm>
            <a:off x="640080" y="868680"/>
            <a:ext cx="10972800" cy="1051560"/>
          </a:xfrm>
          <a:prstGeom prst="rect">
            <a:avLst/>
          </a:prstGeom>
          <a:noFill/>
          <a:ln/>
        </p:spPr>
        <p:txBody>
          <a:bodyPr wrap="square" lIns="0" tIns="0" rIns="0" bIns="0" rtlCol="0" anchor="ctr"/>
          <a:lstStyle/>
          <a:p>
            <a:pPr indent="0" marL="0">
              <a:buNone/>
            </a:pPr>
            <a:r>
              <a:rPr lang="en-US" sz="6000" b="1" spc="100" kern="0" dirty="0">
                <a:solidFill>
                  <a:srgbClr val="F5F5F7"/>
                </a:solidFill>
                <a:latin typeface="Arial" pitchFamily="34" charset="0"/>
                <a:ea typeface="Arial" pitchFamily="34" charset="-122"/>
                <a:cs typeface="Arial" pitchFamily="34" charset="-120"/>
              </a:rPr>
              <a:t>SAHAYAK</a:t>
            </a:r>
            <a:pPr indent="0" marL="0">
              <a:buNone/>
            </a:pPr>
            <a:r>
              <a:rPr lang="en-US" sz="4000" b="1" spc="100" kern="0" dirty="0">
                <a:solidFill>
                  <a:srgbClr val="6FA8FF"/>
                </a:solidFill>
                <a:latin typeface="Nirmala UI" pitchFamily="34" charset="0"/>
                <a:ea typeface="Nirmala UI" pitchFamily="34" charset="-122"/>
                <a:cs typeface="Nirmala UI" pitchFamily="34" charset="-120"/>
              </a:rPr>
              <a:t>  सहायक</a:t>
            </a:r>
            <a:endParaRPr lang="en-US" sz="6000" dirty="0"/>
          </a:p>
        </p:txBody>
      </p:sp>
      <p:sp>
        <p:nvSpPr>
          <p:cNvPr id="6" name="Text 4"/>
          <p:cNvSpPr/>
          <p:nvPr/>
        </p:nvSpPr>
        <p:spPr>
          <a:xfrm>
            <a:off x="658368" y="1938528"/>
            <a:ext cx="10607040" cy="502920"/>
          </a:xfrm>
          <a:prstGeom prst="rect">
            <a:avLst/>
          </a:prstGeom>
          <a:noFill/>
          <a:ln/>
        </p:spPr>
        <p:txBody>
          <a:bodyPr wrap="square" lIns="0" tIns="0" rIns="0" bIns="0" rtlCol="0" anchor="ctr"/>
          <a:lstStyle/>
          <a:p>
            <a:pPr indent="0" marL="0">
              <a:buNone/>
            </a:pPr>
            <a:r>
              <a:rPr lang="en-US" sz="2400" b="1" dirty="0">
                <a:solidFill>
                  <a:srgbClr val="6FA8FF"/>
                </a:solidFill>
                <a:latin typeface="Arial" pitchFamily="34" charset="0"/>
                <a:ea typeface="Arial" pitchFamily="34" charset="-122"/>
                <a:cs typeface="Arial" pitchFamily="34" charset="-120"/>
              </a:rPr>
              <a:t>Offline. Vernacular. On your side.</a:t>
            </a:r>
            <a:endParaRPr lang="en-US" sz="2400" dirty="0"/>
          </a:p>
        </p:txBody>
      </p:sp>
      <p:sp>
        <p:nvSpPr>
          <p:cNvPr id="7" name="Shape 5"/>
          <p:cNvSpPr/>
          <p:nvPr/>
        </p:nvSpPr>
        <p:spPr>
          <a:xfrm>
            <a:off x="658368" y="2743200"/>
            <a:ext cx="82296" cy="1783080"/>
          </a:xfrm>
          <a:prstGeom prst="rect">
            <a:avLst/>
          </a:prstGeom>
          <a:solidFill>
            <a:srgbClr val="E2C28A"/>
          </a:solidFill>
          <a:ln/>
        </p:spPr>
      </p:sp>
      <p:sp>
        <p:nvSpPr>
          <p:cNvPr id="8" name="Text 6"/>
          <p:cNvSpPr/>
          <p:nvPr/>
        </p:nvSpPr>
        <p:spPr>
          <a:xfrm>
            <a:off x="960120" y="2697480"/>
            <a:ext cx="10424160" cy="1874520"/>
          </a:xfrm>
          <a:prstGeom prst="rect">
            <a:avLst/>
          </a:prstGeom>
          <a:noFill/>
          <a:ln/>
        </p:spPr>
        <p:txBody>
          <a:bodyPr wrap="square" lIns="0" tIns="0" rIns="0" bIns="0" rtlCol="0" anchor="ctr"/>
          <a:lstStyle/>
          <a:p>
            <a:pPr indent="0" marL="0">
              <a:spcAft>
                <a:spcPts val="800"/>
              </a:spcAft>
              <a:buNone/>
            </a:pPr>
            <a:r>
              <a:rPr lang="en-US" sz="3000" b="1" dirty="0">
                <a:solidFill>
                  <a:srgbClr val="F5F5F7"/>
                </a:solidFill>
                <a:latin typeface="Arial" pitchFamily="34" charset="0"/>
                <a:ea typeface="Arial" pitchFamily="34" charset="-122"/>
                <a:cs typeface="Arial" pitchFamily="34" charset="-120"/>
              </a:rPr>
              <a:t>India opened 59 crore Jan Dhan accounts.</a:t>
            </a:r>
            <a:endParaRPr lang="en-US" sz="3000" dirty="0"/>
          </a:p>
          <a:p>
            <a:pPr indent="0" marL="0">
              <a:spcAft>
                <a:spcPts val="800"/>
              </a:spcAft>
              <a:buNone/>
            </a:pPr>
            <a:r>
              <a:rPr lang="en-US" sz="3000" b="1" dirty="0">
                <a:solidFill>
                  <a:srgbClr val="F5F5F7"/>
                </a:solidFill>
                <a:latin typeface="Arial" pitchFamily="34" charset="0"/>
                <a:ea typeface="Arial" pitchFamily="34" charset="-122"/>
                <a:cs typeface="Arial" pitchFamily="34" charset="-120"/>
              </a:rPr>
              <a:t>Sahayak helps those account holders spot a scam before the money moves, and claim what they are owed.</a:t>
            </a:r>
            <a:endParaRPr lang="en-US" sz="3000" dirty="0"/>
          </a:p>
        </p:txBody>
      </p:sp>
      <p:sp>
        <p:nvSpPr>
          <p:cNvPr id="9" name="Text 7"/>
          <p:cNvSpPr/>
          <p:nvPr/>
        </p:nvSpPr>
        <p:spPr>
          <a:xfrm>
            <a:off x="960120" y="4709160"/>
            <a:ext cx="10424160" cy="566928"/>
          </a:xfrm>
          <a:prstGeom prst="rect">
            <a:avLst/>
          </a:prstGeom>
          <a:noFill/>
          <a:ln/>
        </p:spPr>
        <p:txBody>
          <a:bodyPr wrap="square" lIns="0" tIns="0" rIns="0" bIns="0" rtlCol="0" anchor="t"/>
          <a:lstStyle/>
          <a:p>
            <a:pPr indent="0" marL="0">
              <a:buNone/>
            </a:pPr>
            <a:r>
              <a:rPr lang="en-US" sz="1800" dirty="0">
                <a:solidFill>
                  <a:srgbClr val="B4B4B8"/>
                </a:solidFill>
                <a:latin typeface="Calibri" pitchFamily="34" charset="0"/>
                <a:ea typeface="Calibri" pitchFamily="34" charset="-122"/>
                <a:cs typeface="Calibri" pitchFamily="34" charset="-120"/>
              </a:rPr>
              <a:t>At the CSC counter and on their own phone · no internet · Hindi and English, by voice or touch · built and measured</a:t>
            </a:r>
            <a:endParaRPr lang="en-US" sz="1800" dirty="0"/>
          </a:p>
        </p:txBody>
      </p:sp>
      <p:sp>
        <p:nvSpPr>
          <p:cNvPr id="10" name="Text 8"/>
          <p:cNvSpPr/>
          <p:nvPr/>
        </p:nvSpPr>
        <p:spPr>
          <a:xfrm>
            <a:off x="658368" y="5669280"/>
            <a:ext cx="10972800" cy="365760"/>
          </a:xfrm>
          <a:prstGeom prst="rect">
            <a:avLst/>
          </a:prstGeom>
          <a:noFill/>
          <a:ln/>
        </p:spPr>
        <p:txBody>
          <a:bodyPr wrap="square" lIns="0" tIns="0" rIns="0" bIns="0" rtlCol="0" anchor="ctr"/>
          <a:lstStyle/>
          <a:p>
            <a:pPr indent="0" marL="0">
              <a:buNone/>
            </a:pPr>
            <a:r>
              <a:rPr lang="en-US" sz="1600" b="1" dirty="0">
                <a:solidFill>
                  <a:srgbClr val="F5F5F7"/>
                </a:solidFill>
                <a:latin typeface="Calibri" pitchFamily="34" charset="0"/>
                <a:ea typeface="Calibri" pitchFamily="34" charset="-122"/>
                <a:cs typeface="Calibri" pitchFamily="34" charset="-120"/>
              </a:rPr>
              <a:t>Ideas for India 2026</a:t>
            </a:r>
            <a:pPr indent="0" marL="0">
              <a:buNone/>
            </a:pPr>
            <a:r>
              <a:rPr lang="en-US" sz="1600" dirty="0">
                <a:solidFill>
                  <a:srgbClr val="B4B4B8"/>
                </a:solidFill>
                <a:latin typeface="Calibri" pitchFamily="34" charset="0"/>
                <a:ea typeface="Calibri" pitchFamily="34" charset="-122"/>
                <a:cs typeface="Calibri" pitchFamily="34" charset="-120"/>
              </a:rPr>
              <a:t>  ·  Inclusive Innovation for Bharat · Financial Inclusion  ·  Grand Jury Round, Delhi, 14 October 2026</a:t>
            </a:r>
            <a:endParaRPr lang="en-US" sz="1600" dirty="0"/>
          </a:p>
        </p:txBody>
      </p:sp>
      <p:sp>
        <p:nvSpPr>
          <p:cNvPr id="11" name="Text 9"/>
          <p:cNvSpPr/>
          <p:nvPr/>
        </p:nvSpPr>
        <p:spPr>
          <a:xfrm>
            <a:off x="658368" y="6053328"/>
            <a:ext cx="10972800" cy="365760"/>
          </a:xfrm>
          <a:prstGeom prst="rect">
            <a:avLst/>
          </a:prstGeom>
          <a:noFill/>
          <a:ln/>
        </p:spPr>
        <p:txBody>
          <a:bodyPr wrap="square" lIns="0" tIns="0" rIns="0" bIns="0" rtlCol="0" anchor="ctr"/>
          <a:lstStyle/>
          <a:p>
            <a:pPr indent="0" marL="0">
              <a:buNone/>
            </a:pPr>
            <a:r>
              <a:rPr lang="en-US" sz="1600" dirty="0">
                <a:solidFill>
                  <a:srgbClr val="B4B4B8"/>
                </a:solidFill>
                <a:latin typeface="Calibri" pitchFamily="34" charset="0"/>
                <a:ea typeface="Calibri" pitchFamily="34" charset="-122"/>
                <a:cs typeface="Calibri" pitchFamily="34" charset="-120"/>
              </a:rPr>
              <a:t>Roshan Raj  ·  Ishmiit Singh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010"/>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933"/>
          </a:solidFill>
          <a:ln/>
        </p:spPr>
      </p:sp>
      <p:sp>
        <p:nvSpPr>
          <p:cNvPr id="3" name="Shape 1"/>
          <p:cNvSpPr/>
          <p:nvPr/>
        </p:nvSpPr>
        <p:spPr>
          <a:xfrm>
            <a:off x="11658600" y="384048"/>
            <a:ext cx="109728" cy="109728"/>
          </a:xfrm>
          <a:prstGeom prst="ellipse">
            <a:avLst/>
          </a:prstGeom>
          <a:solidFill>
            <a:srgbClr val="FFFFFF"/>
          </a:solidFill>
          <a:ln/>
        </p:spPr>
      </p:sp>
      <p:sp>
        <p:nvSpPr>
          <p:cNvPr id="4" name="Shape 2"/>
          <p:cNvSpPr/>
          <p:nvPr/>
        </p:nvSpPr>
        <p:spPr>
          <a:xfrm>
            <a:off x="11841480" y="384048"/>
            <a:ext cx="109728" cy="109728"/>
          </a:xfrm>
          <a:prstGeom prst="ellipse">
            <a:avLst/>
          </a:prstGeom>
          <a:solidFill>
            <a:srgbClr val="138808"/>
          </a:solidFill>
          <a:ln/>
        </p:spPr>
      </p:sp>
      <p:sp>
        <p:nvSpPr>
          <p:cNvPr id="5" name="Shape 3"/>
          <p:cNvSpPr/>
          <p:nvPr/>
        </p:nvSpPr>
        <p:spPr>
          <a:xfrm>
            <a:off x="566928" y="603504"/>
            <a:ext cx="137160" cy="137160"/>
          </a:xfrm>
          <a:prstGeom prst="ellipse">
            <a:avLst/>
          </a:prstGeom>
          <a:solidFill>
            <a:srgbClr val="6FA8FF"/>
          </a:solidFill>
          <a:ln/>
        </p:spPr>
      </p:sp>
      <p:sp>
        <p:nvSpPr>
          <p:cNvPr id="6" name="Text 4"/>
          <p:cNvSpPr/>
          <p:nvPr/>
        </p:nvSpPr>
        <p:spPr>
          <a:xfrm>
            <a:off x="795528" y="457200"/>
            <a:ext cx="10424160" cy="429768"/>
          </a:xfrm>
          <a:prstGeom prst="rect">
            <a:avLst/>
          </a:prstGeom>
          <a:noFill/>
          <a:ln/>
        </p:spPr>
        <p:txBody>
          <a:bodyPr wrap="square" lIns="0" tIns="0" rIns="0" bIns="0" rtlCol="0" anchor="ctr"/>
          <a:lstStyle/>
          <a:p>
            <a:pPr indent="0" marL="0">
              <a:buNone/>
            </a:pPr>
            <a:r>
              <a:rPr lang="en-US" sz="1500" b="1" spc="200" kern="0" dirty="0">
                <a:solidFill>
                  <a:srgbClr val="6FA8FF"/>
                </a:solidFill>
                <a:latin typeface="Arial" pitchFamily="34" charset="0"/>
                <a:ea typeface="Arial" pitchFamily="34" charset="-122"/>
                <a:cs typeface="Arial" pitchFamily="34" charset="-120"/>
              </a:rPr>
              <a:t>THE PROBLEM</a:t>
            </a:r>
            <a:endParaRPr lang="en-US" sz="1500" dirty="0"/>
          </a:p>
        </p:txBody>
      </p:sp>
      <p:sp>
        <p:nvSpPr>
          <p:cNvPr id="7" name="Text 5"/>
          <p:cNvSpPr/>
          <p:nvPr/>
        </p:nvSpPr>
        <p:spPr>
          <a:xfrm>
            <a:off x="548640" y="896112"/>
            <a:ext cx="11064240" cy="868680"/>
          </a:xfrm>
          <a:prstGeom prst="rect">
            <a:avLst/>
          </a:prstGeom>
          <a:noFill/>
          <a:ln/>
        </p:spPr>
        <p:txBody>
          <a:bodyPr wrap="square" lIns="0" tIns="0" rIns="0" bIns="0" rtlCol="0" anchor="ctr"/>
          <a:lstStyle/>
          <a:p>
            <a:pPr indent="0" marL="0">
              <a:buNone/>
            </a:pPr>
            <a:r>
              <a:rPr lang="en-US" sz="3200" b="1" dirty="0">
                <a:solidFill>
                  <a:srgbClr val="F5F5F7"/>
                </a:solidFill>
                <a:latin typeface="Arial" pitchFamily="34" charset="0"/>
                <a:ea typeface="Arial" pitchFamily="34" charset="-122"/>
                <a:cs typeface="Arial" pitchFamily="34" charset="-120"/>
              </a:rPr>
              <a:t>Lost to fraud, and missing what they are owed</a:t>
            </a:r>
            <a:endParaRPr lang="en-US" sz="3200" dirty="0"/>
          </a:p>
        </p:txBody>
      </p:sp>
      <p:sp>
        <p:nvSpPr>
          <p:cNvPr id="8" name="Shape 6"/>
          <p:cNvSpPr/>
          <p:nvPr/>
        </p:nvSpPr>
        <p:spPr>
          <a:xfrm>
            <a:off x="548640" y="1874520"/>
            <a:ext cx="3611880" cy="4343400"/>
          </a:xfrm>
          <a:prstGeom prst="roundRect">
            <a:avLst>
              <a:gd name="adj" fmla="val 2532"/>
            </a:avLst>
          </a:prstGeom>
          <a:solidFill>
            <a:srgbClr val="26262B"/>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777240" y="2103120"/>
            <a:ext cx="3200400" cy="914400"/>
          </a:xfrm>
          <a:prstGeom prst="rect">
            <a:avLst/>
          </a:prstGeom>
          <a:noFill/>
          <a:ln/>
        </p:spPr>
        <p:txBody>
          <a:bodyPr wrap="square" lIns="0" tIns="0" rIns="0" bIns="0" rtlCol="0" anchor="ctr"/>
          <a:lstStyle/>
          <a:p>
            <a:pPr indent="0" marL="0">
              <a:buNone/>
            </a:pPr>
            <a:r>
              <a:rPr lang="en-US" sz="5200" b="1" dirty="0">
                <a:solidFill>
                  <a:srgbClr val="E2C28A"/>
                </a:solidFill>
                <a:latin typeface="Arial" pitchFamily="34" charset="0"/>
                <a:ea typeface="Arial" pitchFamily="34" charset="-122"/>
                <a:cs typeface="Arial" pitchFamily="34" charset="-120"/>
              </a:rPr>
              <a:t>₹22,495</a:t>
            </a:r>
            <a:endParaRPr lang="en-US" sz="5200" dirty="0"/>
          </a:p>
        </p:txBody>
      </p:sp>
      <p:sp>
        <p:nvSpPr>
          <p:cNvPr id="10" name="Text 8"/>
          <p:cNvSpPr/>
          <p:nvPr/>
        </p:nvSpPr>
        <p:spPr>
          <a:xfrm>
            <a:off x="777240" y="2971800"/>
            <a:ext cx="3200400" cy="548640"/>
          </a:xfrm>
          <a:prstGeom prst="rect">
            <a:avLst/>
          </a:prstGeom>
          <a:noFill/>
          <a:ln/>
        </p:spPr>
        <p:txBody>
          <a:bodyPr wrap="square" lIns="0" tIns="0" rIns="0" bIns="0" rtlCol="0" anchor="t"/>
          <a:lstStyle/>
          <a:p>
            <a:pPr indent="0" marL="0">
              <a:buNone/>
            </a:pPr>
            <a:r>
              <a:rPr lang="en-US" sz="3000" b="1" dirty="0">
                <a:solidFill>
                  <a:srgbClr val="E2C28A"/>
                </a:solidFill>
                <a:latin typeface="Arial" pitchFamily="34" charset="0"/>
                <a:ea typeface="Arial" pitchFamily="34" charset="-122"/>
                <a:cs typeface="Arial" pitchFamily="34" charset="-120"/>
              </a:rPr>
              <a:t>crore</a:t>
            </a:r>
            <a:endParaRPr lang="en-US" sz="3000" dirty="0"/>
          </a:p>
        </p:txBody>
      </p:sp>
      <p:sp>
        <p:nvSpPr>
          <p:cNvPr id="11" name="Text 9"/>
          <p:cNvSpPr/>
          <p:nvPr/>
        </p:nvSpPr>
        <p:spPr>
          <a:xfrm>
            <a:off x="777240" y="3703320"/>
            <a:ext cx="3154680" cy="1280160"/>
          </a:xfrm>
          <a:prstGeom prst="rect">
            <a:avLst/>
          </a:prstGeom>
          <a:noFill/>
          <a:ln/>
        </p:spPr>
        <p:txBody>
          <a:bodyPr wrap="square" lIns="0" tIns="0" rIns="0" bIns="0" rtlCol="0" anchor="t"/>
          <a:lstStyle/>
          <a:p>
            <a:pPr indent="0" marL="0">
              <a:buNone/>
            </a:pPr>
            <a:r>
              <a:rPr lang="en-US" sz="2100" dirty="0">
                <a:solidFill>
                  <a:srgbClr val="F5F5F7"/>
                </a:solidFill>
                <a:latin typeface="Calibri" pitchFamily="34" charset="0"/>
                <a:ea typeface="Calibri" pitchFamily="34" charset="-122"/>
                <a:cs typeface="Calibri" pitchFamily="34" charset="-120"/>
              </a:rPr>
              <a:t>lost to financial cyber fraud in 2025, across 24 lakh complaints</a:t>
            </a:r>
            <a:endParaRPr lang="en-US" sz="2100" dirty="0"/>
          </a:p>
        </p:txBody>
      </p:sp>
      <p:sp>
        <p:nvSpPr>
          <p:cNvPr id="12" name="Shape 10"/>
          <p:cNvSpPr/>
          <p:nvPr/>
        </p:nvSpPr>
        <p:spPr>
          <a:xfrm>
            <a:off x="4389120" y="1874520"/>
            <a:ext cx="4846320" cy="4343400"/>
          </a:xfrm>
          <a:prstGeom prst="roundRect">
            <a:avLst>
              <a:gd name="adj" fmla="val 2105"/>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13" name="Text 11"/>
          <p:cNvSpPr/>
          <p:nvPr/>
        </p:nvSpPr>
        <p:spPr>
          <a:xfrm>
            <a:off x="4645152" y="2011680"/>
            <a:ext cx="4389120" cy="310896"/>
          </a:xfrm>
          <a:prstGeom prst="rect">
            <a:avLst/>
          </a:prstGeom>
          <a:noFill/>
          <a:ln/>
        </p:spPr>
        <p:txBody>
          <a:bodyPr wrap="square" lIns="0" tIns="0" rIns="0" bIns="0" rtlCol="0" anchor="ctr"/>
          <a:lstStyle/>
          <a:p>
            <a:pPr indent="0" marL="0">
              <a:buNone/>
            </a:pPr>
            <a:r>
              <a:rPr lang="en-US" sz="1300" b="1" spc="100" kern="0" dirty="0">
                <a:solidFill>
                  <a:srgbClr val="E2C28A"/>
                </a:solidFill>
                <a:latin typeface="Arial" pitchFamily="34" charset="0"/>
                <a:ea typeface="Arial" pitchFamily="34" charset="-122"/>
                <a:cs typeface="Arial" pitchFamily="34" charset="-120"/>
              </a:rPr>
              <a:t>DEMO PERSONA · NOT A REAL PERSON</a:t>
            </a:r>
            <a:endParaRPr lang="en-US" sz="1300" dirty="0"/>
          </a:p>
        </p:txBody>
      </p:sp>
      <p:sp>
        <p:nvSpPr>
          <p:cNvPr id="14" name="Text 12"/>
          <p:cNvSpPr/>
          <p:nvPr/>
        </p:nvSpPr>
        <p:spPr>
          <a:xfrm>
            <a:off x="4645152" y="2340864"/>
            <a:ext cx="4434840" cy="640080"/>
          </a:xfrm>
          <a:prstGeom prst="rect">
            <a:avLst/>
          </a:prstGeom>
          <a:noFill/>
          <a:ln/>
        </p:spPr>
        <p:txBody>
          <a:bodyPr wrap="square" lIns="0" tIns="0" rIns="0" bIns="0" rtlCol="0" anchor="t"/>
          <a:lstStyle/>
          <a:p>
            <a:pPr indent="0" marL="0">
              <a:buNone/>
            </a:pPr>
            <a:r>
              <a:rPr lang="en-US" sz="1800" b="1" dirty="0">
                <a:solidFill>
                  <a:srgbClr val="F5F5F7"/>
                </a:solidFill>
                <a:latin typeface="Arial" pitchFamily="34" charset="0"/>
                <a:ea typeface="Arial" pitchFamily="34" charset="-122"/>
                <a:cs typeface="Arial" pitchFamily="34" charset="-120"/>
              </a:rPr>
              <a:t>Aged 74, with a BPL ration card and a bank account</a:t>
            </a:r>
            <a:endParaRPr lang="en-US" sz="1800" dirty="0"/>
          </a:p>
        </p:txBody>
      </p:sp>
      <p:sp>
        <p:nvSpPr>
          <p:cNvPr id="15" name="Text 13"/>
          <p:cNvSpPr/>
          <p:nvPr/>
        </p:nvSpPr>
        <p:spPr>
          <a:xfrm>
            <a:off x="4645152" y="3017520"/>
            <a:ext cx="4389120" cy="292608"/>
          </a:xfrm>
          <a:prstGeom prst="rect">
            <a:avLst/>
          </a:prstGeom>
          <a:noFill/>
          <a:ln/>
        </p:spPr>
        <p:txBody>
          <a:bodyPr wrap="square" lIns="0" tIns="0" rIns="0" bIns="0" rtlCol="0" anchor="ctr"/>
          <a:lstStyle/>
          <a:p>
            <a:pPr indent="0" marL="0">
              <a:buNone/>
            </a:pPr>
            <a:r>
              <a:rPr lang="en-US" sz="1600" dirty="0">
                <a:solidFill>
                  <a:srgbClr val="B4B4B8"/>
                </a:solidFill>
                <a:latin typeface="Calibri" pitchFamily="34" charset="0"/>
                <a:ea typeface="Calibri" pitchFamily="34" charset="-122"/>
                <a:cs typeface="Calibri" pitchFamily="34" charset="-120"/>
              </a:rPr>
              <a:t>An SMS arrives from 9876501234:</a:t>
            </a:r>
            <a:endParaRPr lang="en-US" sz="1600" dirty="0"/>
          </a:p>
        </p:txBody>
      </p:sp>
      <p:sp>
        <p:nvSpPr>
          <p:cNvPr id="16" name="Shape 14"/>
          <p:cNvSpPr/>
          <p:nvPr/>
        </p:nvSpPr>
        <p:spPr>
          <a:xfrm>
            <a:off x="4645152" y="3346704"/>
            <a:ext cx="4343400" cy="1389888"/>
          </a:xfrm>
          <a:prstGeom prst="roundRect">
            <a:avLst>
              <a:gd name="adj" fmla="val 6579"/>
            </a:avLst>
          </a:prstGeom>
          <a:solidFill>
            <a:srgbClr val="26262B"/>
          </a:solidFill>
          <a:ln/>
        </p:spPr>
      </p:sp>
      <p:sp>
        <p:nvSpPr>
          <p:cNvPr id="17" name="Text 15"/>
          <p:cNvSpPr/>
          <p:nvPr/>
        </p:nvSpPr>
        <p:spPr>
          <a:xfrm>
            <a:off x="4773168" y="3383280"/>
            <a:ext cx="4114800" cy="1316736"/>
          </a:xfrm>
          <a:prstGeom prst="rect">
            <a:avLst/>
          </a:prstGeom>
          <a:noFill/>
          <a:ln/>
        </p:spPr>
        <p:txBody>
          <a:bodyPr wrap="square" lIns="0" tIns="0" rIns="0" bIns="0" rtlCol="0" anchor="ctr"/>
          <a:lstStyle/>
          <a:p>
            <a:pPr indent="0" marL="0">
              <a:buNone/>
            </a:pPr>
            <a:r>
              <a:rPr lang="en-US" sz="1600" dirty="0">
                <a:solidFill>
                  <a:srgbClr val="F5F5F7"/>
                </a:solidFill>
                <a:latin typeface="Nirmala UI" pitchFamily="34" charset="0"/>
                <a:ea typeface="Nirmala UI" pitchFamily="34" charset="-122"/>
                <a:cs typeface="Nirmala UI" pitchFamily="34" charset="-120"/>
              </a:rPr>
              <a:t>प्रिय ग्राहक, आपके SBI खाते का KYC खत्म हो गया है। तुरंत अपडेट करें, नहीं तो आज रात खाता बंद हो जाएगा। लिंक: http://sbi-kyc-update.xyz</a:t>
            </a:r>
            <a:endParaRPr lang="en-US" sz="1600" dirty="0"/>
          </a:p>
        </p:txBody>
      </p:sp>
      <p:sp>
        <p:nvSpPr>
          <p:cNvPr id="18" name="Text 16"/>
          <p:cNvSpPr/>
          <p:nvPr/>
        </p:nvSpPr>
        <p:spPr>
          <a:xfrm>
            <a:off x="4645152" y="4818888"/>
            <a:ext cx="4389120" cy="292608"/>
          </a:xfrm>
          <a:prstGeom prst="rect">
            <a:avLst/>
          </a:prstGeom>
          <a:noFill/>
          <a:ln/>
        </p:spPr>
        <p:txBody>
          <a:bodyPr wrap="square" lIns="0" tIns="0" rIns="0" bIns="0" rtlCol="0" anchor="ctr"/>
          <a:lstStyle/>
          <a:p>
            <a:pPr indent="0" marL="0">
              <a:buNone/>
            </a:pPr>
            <a:r>
              <a:rPr lang="en-US" sz="1600" dirty="0">
                <a:solidFill>
                  <a:srgbClr val="B4B4B8"/>
                </a:solidFill>
                <a:latin typeface="Calibri" pitchFamily="34" charset="0"/>
                <a:ea typeface="Calibri" pitchFamily="34" charset="-122"/>
                <a:cs typeface="Calibri" pitchFamily="34" charset="-120"/>
              </a:rPr>
              <a:t>And is likely owed:</a:t>
            </a:r>
            <a:endParaRPr lang="en-US" sz="1600" dirty="0"/>
          </a:p>
        </p:txBody>
      </p:sp>
      <p:sp>
        <p:nvSpPr>
          <p:cNvPr id="19" name="Text 17"/>
          <p:cNvSpPr/>
          <p:nvPr/>
        </p:nvSpPr>
        <p:spPr>
          <a:xfrm>
            <a:off x="4645152" y="5138928"/>
            <a:ext cx="4434840" cy="1005840"/>
          </a:xfrm>
          <a:prstGeom prst="rect">
            <a:avLst/>
          </a:prstGeom>
          <a:noFill/>
          <a:ln/>
        </p:spPr>
        <p:txBody>
          <a:bodyPr wrap="square" lIns="0" tIns="0" rIns="0" bIns="0" rtlCol="0" anchor="t"/>
          <a:lstStyle/>
          <a:p>
            <a:pPr indent="0" marL="0">
              <a:buNone/>
            </a:pPr>
            <a:r>
              <a:rPr lang="en-US" sz="1700" b="1" dirty="0">
                <a:solidFill>
                  <a:srgbClr val="6FA8FF"/>
                </a:solidFill>
                <a:latin typeface="Calibri" pitchFamily="34" charset="0"/>
                <a:ea typeface="Calibri" pitchFamily="34" charset="-122"/>
                <a:cs typeface="Calibri" pitchFamily="34" charset="-120"/>
              </a:rPr>
              <a:t>The Ayushman Vay Vandana card: hospital care up to ₹5 lakh a year, for you (shared with a spouse who is 70+).</a:t>
            </a:r>
            <a:endParaRPr lang="en-US" sz="1700" dirty="0"/>
          </a:p>
        </p:txBody>
      </p:sp>
      <p:pic>
        <p:nvPicPr>
          <p:cNvPr id="20" name="Image 0" descr="/Users/rosh/Personal/Hackathons/Optum - Inclusive Innovation for Bharat Hackathon/Project/Sahayak/docs/deck/img/03_result_kyc_hi.png">    </p:cNvPr>
          <p:cNvPicPr>
            <a:picLocks noChangeAspect="1"/>
          </p:cNvPicPr>
          <p:nvPr/>
        </p:nvPicPr>
        <p:blipFill>
          <a:blip r:embed="rId1"/>
          <a:stretch>
            <a:fillRect/>
          </a:stretch>
        </p:blipFill>
        <p:spPr>
          <a:xfrm>
            <a:off x="9445752" y="1874520"/>
            <a:ext cx="2194560" cy="3886200"/>
          </a:xfrm>
          <a:prstGeom prst="rect">
            <a:avLst/>
          </a:prstGeom>
        </p:spPr>
      </p:pic>
      <p:sp>
        <p:nvSpPr>
          <p:cNvPr id="21" name="Text 18"/>
          <p:cNvSpPr/>
          <p:nvPr/>
        </p:nvSpPr>
        <p:spPr>
          <a:xfrm>
            <a:off x="9235440" y="5815584"/>
            <a:ext cx="2615184" cy="411480"/>
          </a:xfrm>
          <a:prstGeom prst="rect">
            <a:avLst/>
          </a:prstGeom>
          <a:noFill/>
          <a:ln/>
        </p:spPr>
        <p:txBody>
          <a:bodyPr wrap="square" lIns="0" tIns="0" rIns="0" bIns="0" rtlCol="0" anchor="t"/>
          <a:lstStyle/>
          <a:p>
            <a:pPr algn="ctr" indent="0" marL="0">
              <a:buNone/>
            </a:pPr>
            <a:r>
              <a:rPr lang="en-US" sz="1500" b="1" dirty="0">
                <a:solidFill>
                  <a:srgbClr val="F5F5F7"/>
                </a:solidFill>
                <a:latin typeface="Calibri" pitchFamily="34" charset="0"/>
                <a:ea typeface="Calibri" pitchFamily="34" charset="-122"/>
                <a:cs typeface="Calibri" pitchFamily="34" charset="-120"/>
              </a:rPr>
              <a:t>Sahayak's answer to that SMS</a:t>
            </a:r>
            <a:endParaRPr lang="en-US" sz="1500" dirty="0"/>
          </a:p>
        </p:txBody>
      </p:sp>
      <p:sp>
        <p:nvSpPr>
          <p:cNvPr id="22" name="Text 19"/>
          <p:cNvSpPr/>
          <p:nvPr/>
        </p:nvSpPr>
        <p:spPr>
          <a:xfrm>
            <a:off x="548640" y="6382512"/>
            <a:ext cx="11064240" cy="347472"/>
          </a:xfrm>
          <a:prstGeom prst="rect">
            <a:avLst/>
          </a:prstGeom>
          <a:noFill/>
          <a:ln/>
        </p:spPr>
        <p:txBody>
          <a:bodyPr wrap="square" lIns="0" tIns="0" rIns="0" bIns="0" rtlCol="0" anchor="t"/>
          <a:lstStyle/>
          <a:p>
            <a:pPr indent="0" marL="0">
              <a:buNone/>
            </a:pPr>
            <a:r>
              <a:rPr lang="en-US" sz="1200" dirty="0">
                <a:solidFill>
                  <a:srgbClr val="7E7E84"/>
                </a:solidFill>
                <a:latin typeface="Calibri" pitchFamily="34" charset="0"/>
                <a:ea typeface="Calibri" pitchFamily="34" charset="-122"/>
                <a:cs typeface="Calibri" pitchFamily="34" charset="-120"/>
              </a:rPr>
              <a:t>Sources: MHA / I4C, Rajya Sabha, Feb 2026. Persona and SMS: jury kit cards P4 and M1, written by the team (not real messages); screenshot of the running app.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010"/>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933"/>
          </a:solidFill>
          <a:ln/>
        </p:spPr>
      </p:sp>
      <p:sp>
        <p:nvSpPr>
          <p:cNvPr id="3" name="Shape 1"/>
          <p:cNvSpPr/>
          <p:nvPr/>
        </p:nvSpPr>
        <p:spPr>
          <a:xfrm>
            <a:off x="11658600" y="384048"/>
            <a:ext cx="109728" cy="109728"/>
          </a:xfrm>
          <a:prstGeom prst="ellipse">
            <a:avLst/>
          </a:prstGeom>
          <a:solidFill>
            <a:srgbClr val="FFFFFF"/>
          </a:solidFill>
          <a:ln/>
        </p:spPr>
      </p:sp>
      <p:sp>
        <p:nvSpPr>
          <p:cNvPr id="4" name="Shape 2"/>
          <p:cNvSpPr/>
          <p:nvPr/>
        </p:nvSpPr>
        <p:spPr>
          <a:xfrm>
            <a:off x="11841480" y="384048"/>
            <a:ext cx="109728" cy="109728"/>
          </a:xfrm>
          <a:prstGeom prst="ellipse">
            <a:avLst/>
          </a:prstGeom>
          <a:solidFill>
            <a:srgbClr val="138808"/>
          </a:solidFill>
          <a:ln/>
        </p:spPr>
      </p:sp>
      <p:sp>
        <p:nvSpPr>
          <p:cNvPr id="5" name="Shape 3"/>
          <p:cNvSpPr/>
          <p:nvPr/>
        </p:nvSpPr>
        <p:spPr>
          <a:xfrm>
            <a:off x="566928" y="603504"/>
            <a:ext cx="137160" cy="137160"/>
          </a:xfrm>
          <a:prstGeom prst="ellipse">
            <a:avLst/>
          </a:prstGeom>
          <a:solidFill>
            <a:srgbClr val="6FA8FF"/>
          </a:solidFill>
          <a:ln/>
        </p:spPr>
      </p:sp>
      <p:sp>
        <p:nvSpPr>
          <p:cNvPr id="6" name="Text 4"/>
          <p:cNvSpPr/>
          <p:nvPr/>
        </p:nvSpPr>
        <p:spPr>
          <a:xfrm>
            <a:off x="795528" y="457200"/>
            <a:ext cx="10424160" cy="429768"/>
          </a:xfrm>
          <a:prstGeom prst="rect">
            <a:avLst/>
          </a:prstGeom>
          <a:noFill/>
          <a:ln/>
        </p:spPr>
        <p:txBody>
          <a:bodyPr wrap="square" lIns="0" tIns="0" rIns="0" bIns="0" rtlCol="0" anchor="ctr"/>
          <a:lstStyle/>
          <a:p>
            <a:pPr indent="0" marL="0">
              <a:buNone/>
            </a:pPr>
            <a:r>
              <a:rPr lang="en-US" sz="1500" b="1" spc="200" kern="0" dirty="0">
                <a:solidFill>
                  <a:srgbClr val="6FA8FF"/>
                </a:solidFill>
                <a:latin typeface="Arial" pitchFamily="34" charset="0"/>
                <a:ea typeface="Arial" pitchFamily="34" charset="-122"/>
                <a:cs typeface="Arial" pitchFamily="34" charset="-120"/>
              </a:rPr>
              <a:t>TRY IT NOW</a:t>
            </a:r>
            <a:endParaRPr lang="en-US" sz="1500" dirty="0"/>
          </a:p>
        </p:txBody>
      </p:sp>
      <p:sp>
        <p:nvSpPr>
          <p:cNvPr id="7" name="Text 5"/>
          <p:cNvSpPr/>
          <p:nvPr/>
        </p:nvSpPr>
        <p:spPr>
          <a:xfrm>
            <a:off x="548640" y="896112"/>
            <a:ext cx="11064240" cy="868680"/>
          </a:xfrm>
          <a:prstGeom prst="rect">
            <a:avLst/>
          </a:prstGeom>
          <a:noFill/>
          <a:ln/>
        </p:spPr>
        <p:txBody>
          <a:bodyPr wrap="square" lIns="0" tIns="0" rIns="0" bIns="0" rtlCol="0" anchor="ctr"/>
          <a:lstStyle/>
          <a:p>
            <a:pPr indent="0" marL="0">
              <a:buNone/>
            </a:pPr>
            <a:r>
              <a:rPr lang="en-US" sz="3200" b="1" dirty="0">
                <a:solidFill>
                  <a:srgbClr val="F5F5F7"/>
                </a:solidFill>
                <a:latin typeface="Arial" pitchFamily="34" charset="0"/>
                <a:ea typeface="Arial" pitchFamily="34" charset="-122"/>
                <a:cs typeface="Arial" pitchFamily="34" charset="-120"/>
              </a:rPr>
              <a:t>Try it on your own phone, right now</a:t>
            </a:r>
            <a:endParaRPr lang="en-US" sz="3200" dirty="0"/>
          </a:p>
        </p:txBody>
      </p:sp>
      <p:sp>
        <p:nvSpPr>
          <p:cNvPr id="8" name="Shape 6"/>
          <p:cNvSpPr/>
          <p:nvPr/>
        </p:nvSpPr>
        <p:spPr>
          <a:xfrm>
            <a:off x="548640" y="1874520"/>
            <a:ext cx="3794760" cy="3794760"/>
          </a:xfrm>
          <a:prstGeom prst="roundRect">
            <a:avLst>
              <a:gd name="adj" fmla="val 2892"/>
            </a:avLst>
          </a:prstGeom>
          <a:solidFill>
            <a:srgbClr val="FFFFFF"/>
          </a:solidFill>
          <a:ln/>
        </p:spPr>
      </p:sp>
      <p:pic>
        <p:nvPicPr>
          <p:cNvPr id="9" name="Image 0" descr="/Users/rosh/Personal/Hackathons/Optum - Inclusive Innovation for Bharat Hackathon/Project/Sahayak/docs/deck/img/tryit_qr.png">    </p:cNvPr>
          <p:cNvPicPr>
            <a:picLocks noChangeAspect="1"/>
          </p:cNvPicPr>
          <p:nvPr/>
        </p:nvPicPr>
        <p:blipFill>
          <a:blip r:embed="rId1"/>
          <a:stretch>
            <a:fillRect/>
          </a:stretch>
        </p:blipFill>
        <p:spPr>
          <a:xfrm>
            <a:off x="713232" y="2039112"/>
            <a:ext cx="3465576" cy="3465576"/>
          </a:xfrm>
          <a:prstGeom prst="rect">
            <a:avLst/>
          </a:prstGeom>
        </p:spPr>
      </p:pic>
      <p:sp>
        <p:nvSpPr>
          <p:cNvPr id="10" name="Text 7"/>
          <p:cNvSpPr/>
          <p:nvPr/>
        </p:nvSpPr>
        <p:spPr>
          <a:xfrm>
            <a:off x="411480" y="5779008"/>
            <a:ext cx="4069080" cy="411480"/>
          </a:xfrm>
          <a:prstGeom prst="rect">
            <a:avLst/>
          </a:prstGeom>
          <a:noFill/>
          <a:ln/>
        </p:spPr>
        <p:txBody>
          <a:bodyPr wrap="square" lIns="0" tIns="0" rIns="0" bIns="0" rtlCol="0" anchor="ctr"/>
          <a:lstStyle/>
          <a:p>
            <a:pPr algn="ctr" indent="0" marL="0">
              <a:buNone/>
            </a:pPr>
            <a:r>
              <a:rPr lang="en-US" sz="1800" b="1" dirty="0">
                <a:solidFill>
                  <a:srgbClr val="6FA8FF"/>
                </a:solidFill>
                <a:latin typeface="Calibri" pitchFamily="34" charset="0"/>
                <a:ea typeface="Calibri" pitchFamily="34" charset="-122"/>
                <a:cs typeface="Calibri" pitchFamily="34" charset="-120"/>
              </a:rPr>
              <a:t>roshworldwide.github.io/optum-v2</a:t>
            </a:r>
            <a:endParaRPr lang="en-US" sz="1800" dirty="0"/>
          </a:p>
        </p:txBody>
      </p:sp>
      <p:sp>
        <p:nvSpPr>
          <p:cNvPr id="11" name="Text 8"/>
          <p:cNvSpPr/>
          <p:nvPr/>
        </p:nvSpPr>
        <p:spPr>
          <a:xfrm>
            <a:off x="4709160" y="1874520"/>
            <a:ext cx="6858000" cy="457200"/>
          </a:xfrm>
          <a:prstGeom prst="rect">
            <a:avLst/>
          </a:prstGeom>
          <a:noFill/>
          <a:ln/>
        </p:spPr>
        <p:txBody>
          <a:bodyPr wrap="square" lIns="0" tIns="0" rIns="0" bIns="0" rtlCol="0" anchor="ctr"/>
          <a:lstStyle/>
          <a:p>
            <a:pPr indent="0" marL="0">
              <a:buNone/>
            </a:pPr>
            <a:r>
              <a:rPr lang="en-US" sz="2100" b="1" dirty="0">
                <a:solidFill>
                  <a:srgbClr val="F5F5F7"/>
                </a:solidFill>
                <a:latin typeface="Arial" pitchFamily="34" charset="0"/>
                <a:ea typeface="Arial" pitchFamily="34" charset="-122"/>
                <a:cs typeface="Arial" pitchFamily="34" charset="-120"/>
              </a:rPr>
              <a:t>Three things to try</a:t>
            </a:r>
            <a:endParaRPr lang="en-US" sz="2100" dirty="0"/>
          </a:p>
        </p:txBody>
      </p:sp>
      <p:sp>
        <p:nvSpPr>
          <p:cNvPr id="12" name="Shape 9"/>
          <p:cNvSpPr/>
          <p:nvPr/>
        </p:nvSpPr>
        <p:spPr>
          <a:xfrm>
            <a:off x="4709160" y="2468880"/>
            <a:ext cx="6931152" cy="987552"/>
          </a:xfrm>
          <a:prstGeom prst="roundRect">
            <a:avLst>
              <a:gd name="adj" fmla="val 9259"/>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13" name="Shape 10"/>
          <p:cNvSpPr/>
          <p:nvPr/>
        </p:nvSpPr>
        <p:spPr>
          <a:xfrm>
            <a:off x="4919472" y="2706624"/>
            <a:ext cx="502920" cy="502920"/>
          </a:xfrm>
          <a:prstGeom prst="ellipse">
            <a:avLst/>
          </a:prstGeom>
          <a:solidFill>
            <a:srgbClr val="6FA8FF"/>
          </a:solidFill>
          <a:ln/>
        </p:spPr>
      </p:sp>
      <p:sp>
        <p:nvSpPr>
          <p:cNvPr id="14" name="Text 11"/>
          <p:cNvSpPr/>
          <p:nvPr/>
        </p:nvSpPr>
        <p:spPr>
          <a:xfrm>
            <a:off x="4919472" y="2706624"/>
            <a:ext cx="502920" cy="502920"/>
          </a:xfrm>
          <a:prstGeom prst="rect">
            <a:avLst/>
          </a:prstGeom>
          <a:noFill/>
          <a:ln/>
        </p:spPr>
        <p:txBody>
          <a:bodyPr wrap="square" lIns="0" tIns="0" rIns="0" bIns="0" rtlCol="0" anchor="ctr"/>
          <a:lstStyle/>
          <a:p>
            <a:pPr algn="ctr" indent="0" marL="0">
              <a:buNone/>
            </a:pPr>
            <a:r>
              <a:rPr lang="en-US" sz="1800" b="1" dirty="0">
                <a:solidFill>
                  <a:srgbClr val="101010"/>
                </a:solidFill>
                <a:latin typeface="Arial" pitchFamily="34" charset="0"/>
                <a:ea typeface="Arial" pitchFamily="34" charset="-122"/>
                <a:cs typeface="Arial" pitchFamily="34" charset="-120"/>
              </a:rPr>
              <a:t>1</a:t>
            </a:r>
            <a:endParaRPr lang="en-US" sz="1800" dirty="0"/>
          </a:p>
        </p:txBody>
      </p:sp>
      <p:sp>
        <p:nvSpPr>
          <p:cNvPr id="15" name="Text 12"/>
          <p:cNvSpPr/>
          <p:nvPr/>
        </p:nvSpPr>
        <p:spPr>
          <a:xfrm>
            <a:off x="5623560" y="2560320"/>
            <a:ext cx="5852160" cy="420624"/>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Tap “Pay ₹500 for your Ayushman card”</a:t>
            </a:r>
            <a:endParaRPr lang="en-US" sz="2000" dirty="0"/>
          </a:p>
        </p:txBody>
      </p:sp>
      <p:sp>
        <p:nvSpPr>
          <p:cNvPr id="16" name="Text 13"/>
          <p:cNvSpPr/>
          <p:nvPr/>
        </p:nvSpPr>
        <p:spPr>
          <a:xfrm>
            <a:off x="5623560" y="2980944"/>
            <a:ext cx="5852160" cy="384048"/>
          </a:xfrm>
          <a:prstGeom prst="rect">
            <a:avLst/>
          </a:prstGeom>
          <a:noFill/>
          <a:ln/>
        </p:spPr>
        <p:txBody>
          <a:bodyPr wrap="square" lIns="0" tIns="0" rIns="0" bIns="0" rtlCol="0" anchor="ctr"/>
          <a:lstStyle/>
          <a:p>
            <a:pPr indent="0" marL="0">
              <a:buNone/>
            </a:pPr>
            <a:r>
              <a:rPr lang="en-US" sz="1700" dirty="0">
                <a:solidFill>
                  <a:srgbClr val="B4B4B8"/>
                </a:solidFill>
                <a:latin typeface="Calibri" pitchFamily="34" charset="0"/>
                <a:ea typeface="Calibri" pitchFamily="34" charset="-122"/>
                <a:cs typeface="Calibri" pitchFamily="34" charset="-120"/>
              </a:rPr>
              <a:t>Sahayak says Scam, and why: the card is free at the CSC.</a:t>
            </a:r>
            <a:endParaRPr lang="en-US" sz="1700" dirty="0"/>
          </a:p>
        </p:txBody>
      </p:sp>
      <p:sp>
        <p:nvSpPr>
          <p:cNvPr id="17" name="Shape 14"/>
          <p:cNvSpPr/>
          <p:nvPr/>
        </p:nvSpPr>
        <p:spPr>
          <a:xfrm>
            <a:off x="4709160" y="3584448"/>
            <a:ext cx="6931152" cy="987552"/>
          </a:xfrm>
          <a:prstGeom prst="roundRect">
            <a:avLst>
              <a:gd name="adj" fmla="val 9259"/>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18" name="Shape 15"/>
          <p:cNvSpPr/>
          <p:nvPr/>
        </p:nvSpPr>
        <p:spPr>
          <a:xfrm>
            <a:off x="4919472" y="3822192"/>
            <a:ext cx="502920" cy="502920"/>
          </a:xfrm>
          <a:prstGeom prst="ellipse">
            <a:avLst/>
          </a:prstGeom>
          <a:solidFill>
            <a:srgbClr val="6FA8FF"/>
          </a:solidFill>
          <a:ln/>
        </p:spPr>
      </p:sp>
      <p:sp>
        <p:nvSpPr>
          <p:cNvPr id="19" name="Text 16"/>
          <p:cNvSpPr/>
          <p:nvPr/>
        </p:nvSpPr>
        <p:spPr>
          <a:xfrm>
            <a:off x="4919472" y="3822192"/>
            <a:ext cx="502920" cy="502920"/>
          </a:xfrm>
          <a:prstGeom prst="rect">
            <a:avLst/>
          </a:prstGeom>
          <a:noFill/>
          <a:ln/>
        </p:spPr>
        <p:txBody>
          <a:bodyPr wrap="square" lIns="0" tIns="0" rIns="0" bIns="0" rtlCol="0" anchor="ctr"/>
          <a:lstStyle/>
          <a:p>
            <a:pPr algn="ctr" indent="0" marL="0">
              <a:buNone/>
            </a:pPr>
            <a:r>
              <a:rPr lang="en-US" sz="1800" b="1" dirty="0">
                <a:solidFill>
                  <a:srgbClr val="101010"/>
                </a:solidFill>
                <a:latin typeface="Arial" pitchFamily="34" charset="0"/>
                <a:ea typeface="Arial" pitchFamily="34" charset="-122"/>
                <a:cs typeface="Arial" pitchFamily="34" charset="-120"/>
              </a:rPr>
              <a:t>2</a:t>
            </a:r>
            <a:endParaRPr lang="en-US" sz="1800" dirty="0"/>
          </a:p>
        </p:txBody>
      </p:sp>
      <p:sp>
        <p:nvSpPr>
          <p:cNvPr id="20" name="Text 17"/>
          <p:cNvSpPr/>
          <p:nvPr/>
        </p:nvSpPr>
        <p:spPr>
          <a:xfrm>
            <a:off x="5623560" y="3675888"/>
            <a:ext cx="5852160" cy="420624"/>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Turn on airplane mode</a:t>
            </a:r>
            <a:endParaRPr lang="en-US" sz="2000" dirty="0"/>
          </a:p>
        </p:txBody>
      </p:sp>
      <p:sp>
        <p:nvSpPr>
          <p:cNvPr id="21" name="Text 18"/>
          <p:cNvSpPr/>
          <p:nvPr/>
        </p:nvSpPr>
        <p:spPr>
          <a:xfrm>
            <a:off x="5623560" y="4096512"/>
            <a:ext cx="5852160" cy="384048"/>
          </a:xfrm>
          <a:prstGeom prst="rect">
            <a:avLst/>
          </a:prstGeom>
          <a:noFill/>
          <a:ln/>
        </p:spPr>
        <p:txBody>
          <a:bodyPr wrap="square" lIns="0" tIns="0" rIns="0" bIns="0" rtlCol="0" anchor="ctr"/>
          <a:lstStyle/>
          <a:p>
            <a:pPr indent="0" marL="0">
              <a:buNone/>
            </a:pPr>
            <a:r>
              <a:rPr lang="en-US" sz="1700" dirty="0">
                <a:solidFill>
                  <a:srgbClr val="B4B4B8"/>
                </a:solidFill>
                <a:latin typeface="Calibri" pitchFamily="34" charset="0"/>
                <a:ea typeface="Calibri" pitchFamily="34" charset="-122"/>
                <a:cs typeface="Calibri" pitchFamily="34" charset="-120"/>
              </a:rPr>
              <a:t>Check another message: it still answers, on the phone itself.</a:t>
            </a:r>
            <a:endParaRPr lang="en-US" sz="1700" dirty="0"/>
          </a:p>
        </p:txBody>
      </p:sp>
      <p:sp>
        <p:nvSpPr>
          <p:cNvPr id="22" name="Shape 19"/>
          <p:cNvSpPr/>
          <p:nvPr/>
        </p:nvSpPr>
        <p:spPr>
          <a:xfrm>
            <a:off x="4709160" y="4700016"/>
            <a:ext cx="6931152" cy="987552"/>
          </a:xfrm>
          <a:prstGeom prst="roundRect">
            <a:avLst>
              <a:gd name="adj" fmla="val 9259"/>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23" name="Shape 20"/>
          <p:cNvSpPr/>
          <p:nvPr/>
        </p:nvSpPr>
        <p:spPr>
          <a:xfrm>
            <a:off x="4919472" y="4937760"/>
            <a:ext cx="502920" cy="502920"/>
          </a:xfrm>
          <a:prstGeom prst="ellipse">
            <a:avLst/>
          </a:prstGeom>
          <a:solidFill>
            <a:srgbClr val="6FA8FF"/>
          </a:solidFill>
          <a:ln/>
        </p:spPr>
      </p:sp>
      <p:sp>
        <p:nvSpPr>
          <p:cNvPr id="24" name="Text 21"/>
          <p:cNvSpPr/>
          <p:nvPr/>
        </p:nvSpPr>
        <p:spPr>
          <a:xfrm>
            <a:off x="4919472" y="4937760"/>
            <a:ext cx="502920" cy="502920"/>
          </a:xfrm>
          <a:prstGeom prst="rect">
            <a:avLst/>
          </a:prstGeom>
          <a:noFill/>
          <a:ln/>
        </p:spPr>
        <p:txBody>
          <a:bodyPr wrap="square" lIns="0" tIns="0" rIns="0" bIns="0" rtlCol="0" anchor="ctr"/>
          <a:lstStyle/>
          <a:p>
            <a:pPr algn="ctr" indent="0" marL="0">
              <a:buNone/>
            </a:pPr>
            <a:r>
              <a:rPr lang="en-US" sz="1800" b="1" dirty="0">
                <a:solidFill>
                  <a:srgbClr val="101010"/>
                </a:solidFill>
                <a:latin typeface="Arial" pitchFamily="34" charset="0"/>
                <a:ea typeface="Arial" pitchFamily="34" charset="-122"/>
                <a:cs typeface="Arial" pitchFamily="34" charset="-120"/>
              </a:rPr>
              <a:t>3</a:t>
            </a:r>
            <a:endParaRPr lang="en-US" sz="1800" dirty="0"/>
          </a:p>
        </p:txBody>
      </p:sp>
      <p:sp>
        <p:nvSpPr>
          <p:cNvPr id="25" name="Text 22"/>
          <p:cNvSpPr/>
          <p:nvPr/>
        </p:nvSpPr>
        <p:spPr>
          <a:xfrm>
            <a:off x="5623560" y="4791456"/>
            <a:ext cx="5852160" cy="420624"/>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Tap “What am I owed?”</a:t>
            </a:r>
            <a:endParaRPr lang="en-US" sz="2000" dirty="0"/>
          </a:p>
        </p:txBody>
      </p:sp>
      <p:sp>
        <p:nvSpPr>
          <p:cNvPr id="26" name="Text 23"/>
          <p:cNvSpPr/>
          <p:nvPr/>
        </p:nvSpPr>
        <p:spPr>
          <a:xfrm>
            <a:off x="5623560" y="5212080"/>
            <a:ext cx="5852160" cy="384048"/>
          </a:xfrm>
          <a:prstGeom prst="rect">
            <a:avLst/>
          </a:prstGeom>
          <a:noFill/>
          <a:ln/>
        </p:spPr>
        <p:txBody>
          <a:bodyPr wrap="square" lIns="0" tIns="0" rIns="0" bIns="0" rtlCol="0" anchor="ctr"/>
          <a:lstStyle/>
          <a:p>
            <a:pPr indent="0" marL="0">
              <a:buNone/>
            </a:pPr>
            <a:r>
              <a:rPr lang="en-US" sz="1700" dirty="0">
                <a:solidFill>
                  <a:srgbClr val="B4B4B8"/>
                </a:solidFill>
                <a:latin typeface="Calibri" pitchFamily="34" charset="0"/>
                <a:ea typeface="Calibri" pitchFamily="34" charset="-122"/>
                <a:cs typeface="Calibri" pitchFamily="34" charset="-120"/>
              </a:rPr>
              <a:t>Answer as someone aged 74: health cover comes first.</a:t>
            </a:r>
            <a:endParaRPr lang="en-US" sz="1700" dirty="0"/>
          </a:p>
        </p:txBody>
      </p:sp>
      <p:sp>
        <p:nvSpPr>
          <p:cNvPr id="27" name="Text 24"/>
          <p:cNvSpPr/>
          <p:nvPr/>
        </p:nvSpPr>
        <p:spPr>
          <a:xfrm>
            <a:off x="4709160" y="5815584"/>
            <a:ext cx="6931152" cy="384048"/>
          </a:xfrm>
          <a:prstGeom prst="rect">
            <a:avLst/>
          </a:prstGeom>
          <a:noFill/>
          <a:ln/>
        </p:spPr>
        <p:txBody>
          <a:bodyPr wrap="square" lIns="0" tIns="0" rIns="0" bIns="0" rtlCol="0" anchor="ctr"/>
          <a:lstStyle/>
          <a:p>
            <a:pPr indent="0" marL="0">
              <a:buNone/>
            </a:pPr>
            <a:r>
              <a:rPr lang="en-US" sz="1500" dirty="0">
                <a:solidFill>
                  <a:srgbClr val="B4B4B8"/>
                </a:solidFill>
                <a:latin typeface="Calibri" pitchFamily="34" charset="0"/>
                <a:ea typeface="Calibri" pitchFamily="34" charset="-122"/>
                <a:cs typeface="Calibri" pitchFamily="34" charset="-120"/>
              </a:rPr>
              <a:t>No install, no account. Tap EN for English, or “Paste and check” a copied message.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010"/>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933"/>
          </a:solidFill>
          <a:ln/>
        </p:spPr>
      </p:sp>
      <p:sp>
        <p:nvSpPr>
          <p:cNvPr id="3" name="Shape 1"/>
          <p:cNvSpPr/>
          <p:nvPr/>
        </p:nvSpPr>
        <p:spPr>
          <a:xfrm>
            <a:off x="11658600" y="384048"/>
            <a:ext cx="109728" cy="109728"/>
          </a:xfrm>
          <a:prstGeom prst="ellipse">
            <a:avLst/>
          </a:prstGeom>
          <a:solidFill>
            <a:srgbClr val="FFFFFF"/>
          </a:solidFill>
          <a:ln/>
        </p:spPr>
      </p:sp>
      <p:sp>
        <p:nvSpPr>
          <p:cNvPr id="4" name="Shape 2"/>
          <p:cNvSpPr/>
          <p:nvPr/>
        </p:nvSpPr>
        <p:spPr>
          <a:xfrm>
            <a:off x="11841480" y="384048"/>
            <a:ext cx="109728" cy="109728"/>
          </a:xfrm>
          <a:prstGeom prst="ellipse">
            <a:avLst/>
          </a:prstGeom>
          <a:solidFill>
            <a:srgbClr val="138808"/>
          </a:solidFill>
          <a:ln/>
        </p:spPr>
      </p:sp>
      <p:sp>
        <p:nvSpPr>
          <p:cNvPr id="5" name="Shape 3"/>
          <p:cNvSpPr/>
          <p:nvPr/>
        </p:nvSpPr>
        <p:spPr>
          <a:xfrm>
            <a:off x="566928" y="603504"/>
            <a:ext cx="137160" cy="137160"/>
          </a:xfrm>
          <a:prstGeom prst="ellipse">
            <a:avLst/>
          </a:prstGeom>
          <a:solidFill>
            <a:srgbClr val="6FA8FF"/>
          </a:solidFill>
          <a:ln/>
        </p:spPr>
      </p:sp>
      <p:sp>
        <p:nvSpPr>
          <p:cNvPr id="6" name="Text 4"/>
          <p:cNvSpPr/>
          <p:nvPr/>
        </p:nvSpPr>
        <p:spPr>
          <a:xfrm>
            <a:off x="795528" y="457200"/>
            <a:ext cx="10424160" cy="429768"/>
          </a:xfrm>
          <a:prstGeom prst="rect">
            <a:avLst/>
          </a:prstGeom>
          <a:noFill/>
          <a:ln/>
        </p:spPr>
        <p:txBody>
          <a:bodyPr wrap="square" lIns="0" tIns="0" rIns="0" bIns="0" rtlCol="0" anchor="ctr"/>
          <a:lstStyle/>
          <a:p>
            <a:pPr indent="0" marL="0">
              <a:buNone/>
            </a:pPr>
            <a:r>
              <a:rPr lang="en-US" sz="1500" b="1" spc="200" kern="0" dirty="0">
                <a:solidFill>
                  <a:srgbClr val="6FA8FF"/>
                </a:solidFill>
                <a:latin typeface="Arial" pitchFamily="34" charset="0"/>
                <a:ea typeface="Arial" pitchFamily="34" charset="-122"/>
                <a:cs typeface="Arial" pitchFamily="34" charset="-120"/>
              </a:rPr>
              <a:t>HOW IT WORKS, AND WHAT CHANGED SINCE ROUND 1</a:t>
            </a:r>
            <a:endParaRPr lang="en-US" sz="1500" dirty="0"/>
          </a:p>
        </p:txBody>
      </p:sp>
      <p:sp>
        <p:nvSpPr>
          <p:cNvPr id="7" name="Text 5"/>
          <p:cNvSpPr/>
          <p:nvPr/>
        </p:nvSpPr>
        <p:spPr>
          <a:xfrm>
            <a:off x="548640" y="896112"/>
            <a:ext cx="11064240" cy="868680"/>
          </a:xfrm>
          <a:prstGeom prst="rect">
            <a:avLst/>
          </a:prstGeom>
          <a:noFill/>
          <a:ln/>
        </p:spPr>
        <p:txBody>
          <a:bodyPr wrap="square" lIns="0" tIns="0" rIns="0" bIns="0" rtlCol="0" anchor="ctr"/>
          <a:lstStyle/>
          <a:p>
            <a:pPr indent="0" marL="0">
              <a:buNone/>
            </a:pPr>
            <a:r>
              <a:rPr lang="en-US" sz="3200" b="1" dirty="0">
                <a:solidFill>
                  <a:srgbClr val="F5F5F7"/>
                </a:solidFill>
                <a:latin typeface="Arial" pitchFamily="34" charset="0"/>
                <a:ea typeface="Arial" pitchFamily="34" charset="-122"/>
                <a:cs typeface="Arial" pitchFamily="34" charset="-120"/>
              </a:rPr>
              <a:t>How it works, and why rules decide</a:t>
            </a:r>
            <a:endParaRPr lang="en-US" sz="3200" dirty="0"/>
          </a:p>
        </p:txBody>
      </p:sp>
      <p:sp>
        <p:nvSpPr>
          <p:cNvPr id="8" name="Shape 6"/>
          <p:cNvSpPr/>
          <p:nvPr/>
        </p:nvSpPr>
        <p:spPr>
          <a:xfrm>
            <a:off x="548640" y="1874520"/>
            <a:ext cx="5715000" cy="987552"/>
          </a:xfrm>
          <a:prstGeom prst="roundRect">
            <a:avLst>
              <a:gd name="adj" fmla="val 9259"/>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9" name="Shape 7"/>
          <p:cNvSpPr/>
          <p:nvPr/>
        </p:nvSpPr>
        <p:spPr>
          <a:xfrm>
            <a:off x="749808" y="2121408"/>
            <a:ext cx="502920" cy="502920"/>
          </a:xfrm>
          <a:prstGeom prst="ellipse">
            <a:avLst/>
          </a:prstGeom>
          <a:solidFill>
            <a:srgbClr val="6FA8FF"/>
          </a:solidFill>
          <a:ln/>
        </p:spPr>
      </p:sp>
      <p:sp>
        <p:nvSpPr>
          <p:cNvPr id="10" name="Text 8"/>
          <p:cNvSpPr/>
          <p:nvPr/>
        </p:nvSpPr>
        <p:spPr>
          <a:xfrm>
            <a:off x="749808" y="2121408"/>
            <a:ext cx="502920" cy="502920"/>
          </a:xfrm>
          <a:prstGeom prst="rect">
            <a:avLst/>
          </a:prstGeom>
          <a:noFill/>
          <a:ln/>
        </p:spPr>
        <p:txBody>
          <a:bodyPr wrap="square" lIns="0" tIns="0" rIns="0" bIns="0" rtlCol="0" anchor="ctr"/>
          <a:lstStyle/>
          <a:p>
            <a:pPr algn="ctr" indent="0" marL="0">
              <a:buNone/>
            </a:pPr>
            <a:r>
              <a:rPr lang="en-US" sz="1800" b="1" dirty="0">
                <a:solidFill>
                  <a:srgbClr val="101010"/>
                </a:solidFill>
                <a:latin typeface="Arial" pitchFamily="34" charset="0"/>
                <a:ea typeface="Arial" pitchFamily="34" charset="-122"/>
                <a:cs typeface="Arial" pitchFamily="34" charset="-120"/>
              </a:rPr>
              <a:t>1</a:t>
            </a:r>
            <a:endParaRPr lang="en-US" sz="1800" dirty="0"/>
          </a:p>
        </p:txBody>
      </p:sp>
      <p:sp>
        <p:nvSpPr>
          <p:cNvPr id="11" name="Text 9"/>
          <p:cNvSpPr/>
          <p:nvPr/>
        </p:nvSpPr>
        <p:spPr>
          <a:xfrm>
            <a:off x="1463040" y="1947672"/>
            <a:ext cx="4663440" cy="365760"/>
          </a:xfrm>
          <a:prstGeom prst="rect">
            <a:avLst/>
          </a:prstGeom>
          <a:noFill/>
          <a:ln/>
        </p:spPr>
        <p:txBody>
          <a:bodyPr wrap="square" lIns="0" tIns="0" rIns="0" bIns="0" rtlCol="0" anchor="ctr"/>
          <a:lstStyle/>
          <a:p>
            <a:pPr indent="0" marL="0">
              <a:buNone/>
            </a:pPr>
            <a:r>
              <a:rPr lang="en-US" sz="1800" b="1" dirty="0">
                <a:solidFill>
                  <a:srgbClr val="F5F5F7"/>
                </a:solidFill>
                <a:latin typeface="Arial" pitchFamily="34" charset="0"/>
                <a:ea typeface="Arial" pitchFamily="34" charset="-122"/>
                <a:cs typeface="Arial" pitchFamily="34" charset="-120"/>
              </a:rPr>
              <a:t>Ask, at the counter or on the phone</a:t>
            </a:r>
            <a:endParaRPr lang="en-US" sz="1800" dirty="0"/>
          </a:p>
        </p:txBody>
      </p:sp>
      <p:sp>
        <p:nvSpPr>
          <p:cNvPr id="12" name="Text 10"/>
          <p:cNvSpPr/>
          <p:nvPr/>
        </p:nvSpPr>
        <p:spPr>
          <a:xfrm>
            <a:off x="1463040" y="2304288"/>
            <a:ext cx="4663440" cy="512064"/>
          </a:xfrm>
          <a:prstGeom prst="rect">
            <a:avLst/>
          </a:prstGeom>
          <a:noFill/>
          <a:ln/>
        </p:spPr>
        <p:txBody>
          <a:bodyPr wrap="square" lIns="0" tIns="0" rIns="0" bIns="0" rtlCol="0" anchor="t"/>
          <a:lstStyle/>
          <a:p>
            <a:pPr indent="0" marL="0">
              <a:buNone/>
            </a:pPr>
            <a:r>
              <a:rPr lang="en-US" sz="1500" dirty="0">
                <a:solidFill>
                  <a:srgbClr val="B4B4B8"/>
                </a:solidFill>
                <a:latin typeface="Calibri" pitchFamily="34" charset="0"/>
                <a:ea typeface="Calibri" pitchFamily="34" charset="-122"/>
                <a:cs typeface="Calibri" pitchFamily="34" charset="-120"/>
              </a:rPr>
              <a:t>Paste, speak, photograph, describe a call, or scan a UPI QR. Nothing leaves the device.</a:t>
            </a:r>
            <a:endParaRPr lang="en-US" sz="1500" dirty="0"/>
          </a:p>
        </p:txBody>
      </p:sp>
      <p:sp>
        <p:nvSpPr>
          <p:cNvPr id="13" name="Shape 11"/>
          <p:cNvSpPr/>
          <p:nvPr/>
        </p:nvSpPr>
        <p:spPr>
          <a:xfrm>
            <a:off x="548640" y="2971800"/>
            <a:ext cx="5715000" cy="987552"/>
          </a:xfrm>
          <a:prstGeom prst="roundRect">
            <a:avLst>
              <a:gd name="adj" fmla="val 9259"/>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14" name="Shape 12"/>
          <p:cNvSpPr/>
          <p:nvPr/>
        </p:nvSpPr>
        <p:spPr>
          <a:xfrm>
            <a:off x="749808" y="3218688"/>
            <a:ext cx="502920" cy="502920"/>
          </a:xfrm>
          <a:prstGeom prst="ellipse">
            <a:avLst/>
          </a:prstGeom>
          <a:solidFill>
            <a:srgbClr val="6FA8FF"/>
          </a:solidFill>
          <a:ln/>
        </p:spPr>
      </p:sp>
      <p:sp>
        <p:nvSpPr>
          <p:cNvPr id="15" name="Text 13"/>
          <p:cNvSpPr/>
          <p:nvPr/>
        </p:nvSpPr>
        <p:spPr>
          <a:xfrm>
            <a:off x="749808" y="3218688"/>
            <a:ext cx="502920" cy="502920"/>
          </a:xfrm>
          <a:prstGeom prst="rect">
            <a:avLst/>
          </a:prstGeom>
          <a:noFill/>
          <a:ln/>
        </p:spPr>
        <p:txBody>
          <a:bodyPr wrap="square" lIns="0" tIns="0" rIns="0" bIns="0" rtlCol="0" anchor="ctr"/>
          <a:lstStyle/>
          <a:p>
            <a:pPr algn="ctr" indent="0" marL="0">
              <a:buNone/>
            </a:pPr>
            <a:r>
              <a:rPr lang="en-US" sz="1800" b="1" dirty="0">
                <a:solidFill>
                  <a:srgbClr val="101010"/>
                </a:solidFill>
                <a:latin typeface="Arial" pitchFamily="34" charset="0"/>
                <a:ea typeface="Arial" pitchFamily="34" charset="-122"/>
                <a:cs typeface="Arial" pitchFamily="34" charset="-120"/>
              </a:rPr>
              <a:t>2</a:t>
            </a:r>
            <a:endParaRPr lang="en-US" sz="1800" dirty="0"/>
          </a:p>
        </p:txBody>
      </p:sp>
      <p:sp>
        <p:nvSpPr>
          <p:cNvPr id="16" name="Text 14"/>
          <p:cNvSpPr/>
          <p:nvPr/>
        </p:nvSpPr>
        <p:spPr>
          <a:xfrm>
            <a:off x="1463040" y="3044952"/>
            <a:ext cx="4663440" cy="365760"/>
          </a:xfrm>
          <a:prstGeom prst="rect">
            <a:avLst/>
          </a:prstGeom>
          <a:noFill/>
          <a:ln/>
        </p:spPr>
        <p:txBody>
          <a:bodyPr wrap="square" lIns="0" tIns="0" rIns="0" bIns="0" rtlCol="0" anchor="ctr"/>
          <a:lstStyle/>
          <a:p>
            <a:pPr indent="0" marL="0">
              <a:buNone/>
            </a:pPr>
            <a:r>
              <a:rPr lang="en-US" sz="1800" b="1" dirty="0">
                <a:solidFill>
                  <a:srgbClr val="F5F5F7"/>
                </a:solidFill>
                <a:latin typeface="Arial" pitchFamily="34" charset="0"/>
                <a:ea typeface="Arial" pitchFamily="34" charset="-122"/>
                <a:cs typeface="Arial" pitchFamily="34" charset="-120"/>
              </a:rPr>
              <a:t>Rules decide, offline</a:t>
            </a:r>
            <a:endParaRPr lang="en-US" sz="1800" dirty="0"/>
          </a:p>
        </p:txBody>
      </p:sp>
      <p:sp>
        <p:nvSpPr>
          <p:cNvPr id="17" name="Text 15"/>
          <p:cNvSpPr/>
          <p:nvPr/>
        </p:nvSpPr>
        <p:spPr>
          <a:xfrm>
            <a:off x="1463040" y="3401568"/>
            <a:ext cx="4663440" cy="512064"/>
          </a:xfrm>
          <a:prstGeom prst="rect">
            <a:avLst/>
          </a:prstGeom>
          <a:noFill/>
          <a:ln/>
        </p:spPr>
        <p:txBody>
          <a:bodyPr wrap="square" lIns="0" tIns="0" rIns="0" bIns="0" rtlCol="0" anchor="t"/>
          <a:lstStyle/>
          <a:p>
            <a:pPr indent="0" marL="0">
              <a:buNone/>
            </a:pPr>
            <a:r>
              <a:rPr lang="en-US" sz="1500" dirty="0">
                <a:solidFill>
                  <a:srgbClr val="B4B4B8"/>
                </a:solidFill>
                <a:latin typeface="Calibri" pitchFamily="34" charset="0"/>
                <a:ea typeface="Calibri" pitchFamily="34" charset="-122"/>
                <a:cs typeface="Calibri" pitchFamily="34" charset="-120"/>
              </a:rPr>
              <a:t>Named signals, a pattern matcher and a small classifier, from signed packs: about 2 ms a check.</a:t>
            </a:r>
            <a:endParaRPr lang="en-US" sz="1500" dirty="0"/>
          </a:p>
        </p:txBody>
      </p:sp>
      <p:sp>
        <p:nvSpPr>
          <p:cNvPr id="18" name="Shape 16"/>
          <p:cNvSpPr/>
          <p:nvPr/>
        </p:nvSpPr>
        <p:spPr>
          <a:xfrm>
            <a:off x="548640" y="4069080"/>
            <a:ext cx="5715000" cy="987552"/>
          </a:xfrm>
          <a:prstGeom prst="roundRect">
            <a:avLst>
              <a:gd name="adj" fmla="val 9259"/>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19" name="Shape 17"/>
          <p:cNvSpPr/>
          <p:nvPr/>
        </p:nvSpPr>
        <p:spPr>
          <a:xfrm>
            <a:off x="749808" y="4315968"/>
            <a:ext cx="502920" cy="502920"/>
          </a:xfrm>
          <a:prstGeom prst="ellipse">
            <a:avLst/>
          </a:prstGeom>
          <a:solidFill>
            <a:srgbClr val="6FA8FF"/>
          </a:solidFill>
          <a:ln/>
        </p:spPr>
      </p:sp>
      <p:sp>
        <p:nvSpPr>
          <p:cNvPr id="20" name="Text 18"/>
          <p:cNvSpPr/>
          <p:nvPr/>
        </p:nvSpPr>
        <p:spPr>
          <a:xfrm>
            <a:off x="749808" y="4315968"/>
            <a:ext cx="502920" cy="502920"/>
          </a:xfrm>
          <a:prstGeom prst="rect">
            <a:avLst/>
          </a:prstGeom>
          <a:noFill/>
          <a:ln/>
        </p:spPr>
        <p:txBody>
          <a:bodyPr wrap="square" lIns="0" tIns="0" rIns="0" bIns="0" rtlCol="0" anchor="ctr"/>
          <a:lstStyle/>
          <a:p>
            <a:pPr algn="ctr" indent="0" marL="0">
              <a:buNone/>
            </a:pPr>
            <a:r>
              <a:rPr lang="en-US" sz="1800" b="1" dirty="0">
                <a:solidFill>
                  <a:srgbClr val="101010"/>
                </a:solidFill>
                <a:latin typeface="Arial" pitchFamily="34" charset="0"/>
                <a:ea typeface="Arial" pitchFamily="34" charset="-122"/>
                <a:cs typeface="Arial" pitchFamily="34" charset="-120"/>
              </a:rPr>
              <a:t>3</a:t>
            </a:r>
            <a:endParaRPr lang="en-US" sz="1800" dirty="0"/>
          </a:p>
        </p:txBody>
      </p:sp>
      <p:sp>
        <p:nvSpPr>
          <p:cNvPr id="21" name="Text 19"/>
          <p:cNvSpPr/>
          <p:nvPr/>
        </p:nvSpPr>
        <p:spPr>
          <a:xfrm>
            <a:off x="1463040" y="4142232"/>
            <a:ext cx="4663440" cy="365760"/>
          </a:xfrm>
          <a:prstGeom prst="rect">
            <a:avLst/>
          </a:prstGeom>
          <a:noFill/>
          <a:ln/>
        </p:spPr>
        <p:txBody>
          <a:bodyPr wrap="square" lIns="0" tIns="0" rIns="0" bIns="0" rtlCol="0" anchor="ctr"/>
          <a:lstStyle/>
          <a:p>
            <a:pPr indent="0" marL="0">
              <a:buNone/>
            </a:pPr>
            <a:r>
              <a:rPr lang="en-US" sz="1800" b="1" dirty="0">
                <a:solidFill>
                  <a:srgbClr val="F5F5F7"/>
                </a:solidFill>
                <a:latin typeface="Arial" pitchFamily="34" charset="0"/>
                <a:ea typeface="Arial" pitchFamily="34" charset="-122"/>
                <a:cs typeface="Arial" pitchFamily="34" charset="-120"/>
              </a:rPr>
              <a:t>A clear answer, with reasons</a:t>
            </a:r>
            <a:endParaRPr lang="en-US" sz="1800" dirty="0"/>
          </a:p>
        </p:txBody>
      </p:sp>
      <p:sp>
        <p:nvSpPr>
          <p:cNvPr id="22" name="Text 20"/>
          <p:cNvSpPr/>
          <p:nvPr/>
        </p:nvSpPr>
        <p:spPr>
          <a:xfrm>
            <a:off x="1463040" y="4498848"/>
            <a:ext cx="4663440" cy="512064"/>
          </a:xfrm>
          <a:prstGeom prst="rect">
            <a:avLst/>
          </a:prstGeom>
          <a:noFill/>
          <a:ln/>
        </p:spPr>
        <p:txBody>
          <a:bodyPr wrap="square" lIns="0" tIns="0" rIns="0" bIns="0" rtlCol="0" anchor="t"/>
          <a:lstStyle/>
          <a:p>
            <a:pPr indent="0" marL="0">
              <a:buNone/>
            </a:pPr>
            <a:r>
              <a:rPr lang="en-US" sz="1500" dirty="0">
                <a:solidFill>
                  <a:srgbClr val="B4B4B8"/>
                </a:solidFill>
                <a:latin typeface="Calibri" pitchFamily="34" charset="0"/>
                <a:ea typeface="Calibri" pitchFamily="34" charset="-122"/>
                <a:cs typeface="Calibri" pitchFamily="34" charset="-120"/>
              </a:rPr>
              <a:t>Scam, Suspicious, No scam signs (never “safe”) or Could not check; what to do; a complaint draft.</a:t>
            </a:r>
            <a:endParaRPr lang="en-US" sz="1500" dirty="0"/>
          </a:p>
        </p:txBody>
      </p:sp>
      <p:sp>
        <p:nvSpPr>
          <p:cNvPr id="23" name="Shape 21"/>
          <p:cNvSpPr/>
          <p:nvPr/>
        </p:nvSpPr>
        <p:spPr>
          <a:xfrm>
            <a:off x="548640" y="5166360"/>
            <a:ext cx="5715000" cy="987552"/>
          </a:xfrm>
          <a:prstGeom prst="roundRect">
            <a:avLst>
              <a:gd name="adj" fmla="val 9259"/>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24" name="Shape 22"/>
          <p:cNvSpPr/>
          <p:nvPr/>
        </p:nvSpPr>
        <p:spPr>
          <a:xfrm>
            <a:off x="749808" y="5413248"/>
            <a:ext cx="502920" cy="502920"/>
          </a:xfrm>
          <a:prstGeom prst="ellipse">
            <a:avLst/>
          </a:prstGeom>
          <a:solidFill>
            <a:srgbClr val="6FA8FF"/>
          </a:solidFill>
          <a:ln/>
        </p:spPr>
      </p:sp>
      <p:sp>
        <p:nvSpPr>
          <p:cNvPr id="25" name="Text 23"/>
          <p:cNvSpPr/>
          <p:nvPr/>
        </p:nvSpPr>
        <p:spPr>
          <a:xfrm>
            <a:off x="749808" y="5413248"/>
            <a:ext cx="502920" cy="502920"/>
          </a:xfrm>
          <a:prstGeom prst="rect">
            <a:avLst/>
          </a:prstGeom>
          <a:noFill/>
          <a:ln/>
        </p:spPr>
        <p:txBody>
          <a:bodyPr wrap="square" lIns="0" tIns="0" rIns="0" bIns="0" rtlCol="0" anchor="ctr"/>
          <a:lstStyle/>
          <a:p>
            <a:pPr algn="ctr" indent="0" marL="0">
              <a:buNone/>
            </a:pPr>
            <a:r>
              <a:rPr lang="en-US" sz="1800" b="1" dirty="0">
                <a:solidFill>
                  <a:srgbClr val="101010"/>
                </a:solidFill>
                <a:latin typeface="Arial" pitchFamily="34" charset="0"/>
                <a:ea typeface="Arial" pitchFamily="34" charset="-122"/>
                <a:cs typeface="Arial" pitchFamily="34" charset="-120"/>
              </a:rPr>
              <a:t>4</a:t>
            </a:r>
            <a:endParaRPr lang="en-US" sz="1800" dirty="0"/>
          </a:p>
        </p:txBody>
      </p:sp>
      <p:sp>
        <p:nvSpPr>
          <p:cNvPr id="26" name="Text 24"/>
          <p:cNvSpPr/>
          <p:nvPr/>
        </p:nvSpPr>
        <p:spPr>
          <a:xfrm>
            <a:off x="1463040" y="5239512"/>
            <a:ext cx="4663440" cy="365760"/>
          </a:xfrm>
          <a:prstGeom prst="rect">
            <a:avLst/>
          </a:prstGeom>
          <a:noFill/>
          <a:ln/>
        </p:spPr>
        <p:txBody>
          <a:bodyPr wrap="square" lIns="0" tIns="0" rIns="0" bIns="0" rtlCol="0" anchor="ctr"/>
          <a:lstStyle/>
          <a:p>
            <a:pPr indent="0" marL="0">
              <a:buNone/>
            </a:pPr>
            <a:r>
              <a:rPr lang="en-US" sz="1800" b="1" dirty="0">
                <a:solidFill>
                  <a:srgbClr val="F5F5F7"/>
                </a:solidFill>
                <a:latin typeface="Arial" pitchFamily="34" charset="0"/>
                <a:ea typeface="Arial" pitchFamily="34" charset="-122"/>
                <a:cs typeface="Arial" pitchFamily="34" charset="-120"/>
              </a:rPr>
              <a:t>The same answer on the phone</a:t>
            </a:r>
            <a:endParaRPr lang="en-US" sz="1800" dirty="0"/>
          </a:p>
        </p:txBody>
      </p:sp>
      <p:sp>
        <p:nvSpPr>
          <p:cNvPr id="27" name="Text 25"/>
          <p:cNvSpPr/>
          <p:nvPr/>
        </p:nvSpPr>
        <p:spPr>
          <a:xfrm>
            <a:off x="1463040" y="5596128"/>
            <a:ext cx="4663440" cy="512064"/>
          </a:xfrm>
          <a:prstGeom prst="rect">
            <a:avLst/>
          </a:prstGeom>
          <a:noFill/>
          <a:ln/>
        </p:spPr>
        <p:txBody>
          <a:bodyPr wrap="square" lIns="0" tIns="0" rIns="0" bIns="0" rtlCol="0" anchor="t"/>
          <a:lstStyle/>
          <a:p>
            <a:pPr indent="0" marL="0">
              <a:buNone/>
            </a:pPr>
            <a:r>
              <a:rPr lang="en-US" sz="1500" dirty="0">
                <a:solidFill>
                  <a:srgbClr val="B4B4B8"/>
                </a:solidFill>
                <a:latin typeface="Calibri" pitchFamily="34" charset="0"/>
                <a:ea typeface="Calibri" pitchFamily="34" charset="-122"/>
                <a:cs typeface="Calibri" pitchFamily="34" charset="-120"/>
              </a:rPr>
              <a:t>After one visit the phone runs the same engines offline: the node's exact answer on 1,841 of 1,841 test checks.</a:t>
            </a:r>
            <a:endParaRPr lang="en-US" sz="1500" dirty="0"/>
          </a:p>
        </p:txBody>
      </p:sp>
      <p:sp>
        <p:nvSpPr>
          <p:cNvPr id="28" name="Shape 26"/>
          <p:cNvSpPr/>
          <p:nvPr/>
        </p:nvSpPr>
        <p:spPr>
          <a:xfrm>
            <a:off x="6446520" y="1874520"/>
            <a:ext cx="5193792" cy="4279392"/>
          </a:xfrm>
          <a:prstGeom prst="roundRect">
            <a:avLst>
              <a:gd name="adj" fmla="val 2137"/>
            </a:avLst>
          </a:prstGeom>
          <a:solidFill>
            <a:srgbClr val="26262B"/>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29" name="Text 27"/>
          <p:cNvSpPr/>
          <p:nvPr/>
        </p:nvSpPr>
        <p:spPr>
          <a:xfrm>
            <a:off x="6702552" y="2011680"/>
            <a:ext cx="4754880" cy="274320"/>
          </a:xfrm>
          <a:prstGeom prst="rect">
            <a:avLst/>
          </a:prstGeom>
          <a:noFill/>
          <a:ln/>
        </p:spPr>
        <p:txBody>
          <a:bodyPr wrap="square" lIns="0" tIns="0" rIns="0" bIns="0" rtlCol="0" anchor="ctr"/>
          <a:lstStyle/>
          <a:p>
            <a:pPr indent="0" marL="0">
              <a:buNone/>
            </a:pPr>
            <a:r>
              <a:rPr lang="en-US" sz="1300" b="1" spc="100" kern="0" dirty="0">
                <a:solidFill>
                  <a:srgbClr val="E2C28A"/>
                </a:solidFill>
                <a:latin typeface="Arial" pitchFamily="34" charset="0"/>
                <a:ea typeface="Arial" pitchFamily="34" charset="-122"/>
                <a:cs typeface="Arial" pitchFamily="34" charset="-120"/>
              </a:rPr>
              <a:t>ROUND 1 SAID</a:t>
            </a:r>
            <a:endParaRPr lang="en-US" sz="1300" dirty="0"/>
          </a:p>
        </p:txBody>
      </p:sp>
      <p:sp>
        <p:nvSpPr>
          <p:cNvPr id="30" name="Text 28"/>
          <p:cNvSpPr/>
          <p:nvPr/>
        </p:nvSpPr>
        <p:spPr>
          <a:xfrm>
            <a:off x="6702552" y="2304288"/>
            <a:ext cx="4754880" cy="566928"/>
          </a:xfrm>
          <a:prstGeom prst="rect">
            <a:avLst/>
          </a:prstGeom>
          <a:noFill/>
          <a:ln/>
        </p:spPr>
        <p:txBody>
          <a:bodyPr wrap="square" lIns="0" tIns="0" rIns="0" bIns="0" rtlCol="0" anchor="t"/>
          <a:lstStyle/>
          <a:p>
            <a:pPr indent="0" marL="0">
              <a:buNone/>
            </a:pPr>
            <a:r>
              <a:rPr lang="en-US" sz="1600" dirty="0">
                <a:solidFill>
                  <a:srgbClr val="F5F5F7"/>
                </a:solidFill>
                <a:latin typeface="Calibri" pitchFamily="34" charset="0"/>
                <a:ea typeface="Calibri" pitchFamily="34" charset="-122"/>
                <a:cs typeface="Calibri" pitchFamily="34" charset="-120"/>
              </a:rPr>
              <a:t>A 14B language model, offline on the Crucible runtime, would decide, with a fine-tuned finance model.</a:t>
            </a:r>
            <a:endParaRPr lang="en-US" sz="1600" dirty="0"/>
          </a:p>
        </p:txBody>
      </p:sp>
      <p:sp>
        <p:nvSpPr>
          <p:cNvPr id="31" name="Text 29"/>
          <p:cNvSpPr/>
          <p:nvPr/>
        </p:nvSpPr>
        <p:spPr>
          <a:xfrm>
            <a:off x="6702552" y="2944368"/>
            <a:ext cx="4754880" cy="274320"/>
          </a:xfrm>
          <a:prstGeom prst="rect">
            <a:avLst/>
          </a:prstGeom>
          <a:noFill/>
          <a:ln/>
        </p:spPr>
        <p:txBody>
          <a:bodyPr wrap="square" lIns="0" tIns="0" rIns="0" bIns="0" rtlCol="0" anchor="ctr"/>
          <a:lstStyle/>
          <a:p>
            <a:pPr indent="0" marL="0">
              <a:buNone/>
            </a:pPr>
            <a:r>
              <a:rPr lang="en-US" sz="1300" b="1" spc="100" kern="0" dirty="0">
                <a:solidFill>
                  <a:srgbClr val="4FD68A"/>
                </a:solidFill>
                <a:latin typeface="Arial" pitchFamily="34" charset="0"/>
                <a:ea typeface="Arial" pitchFamily="34" charset="-122"/>
                <a:cs typeface="Arial" pitchFamily="34" charset="-120"/>
              </a:rPr>
              <a:t>WE MEASURED A MODEL: QWEN2.5 3B, ZERO-SHOT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629400" y="3246120"/>
          <a:ext cx="4846320" cy="914400"/>
        </p:xfrm>
        <a:graphic>
          <a:graphicData uri="http://schemas.openxmlformats.org/drawingml/2006/table">
            <a:tbl>
              <a:tblPr/>
              <a:tblGrid>
                <a:gridCol w="1051560"/>
                <a:gridCol w="1188720"/>
                <a:gridCol w="1371600"/>
                <a:gridCol w="1234440"/>
              </a:tblGrid>
              <a:tr h="310896">
                <a:tc>
                  <a:txBody>
                    <a:bodyPr/>
                    <a:lstStyle/>
                    <a:p>
                      <a:pPr indent="0" marL="0">
                        <a:buNone/>
                      </a:pPr>
                      <a:endParaRPr lang="en-US" sz="13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b="1" dirty="0">
                          <a:solidFill>
                            <a:srgbClr val="7E7E84"/>
                          </a:solidFill>
                          <a:latin typeface="Calibri" pitchFamily="34" charset="0"/>
                          <a:ea typeface="Calibri" pitchFamily="34" charset="-122"/>
                          <a:cs typeface="Calibri" pitchFamily="34" charset="-120"/>
                        </a:rPr>
                        <a:t>Scams caught</a:t>
                      </a:r>
                      <a:endParaRPr lang="en-US" sz="13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b="1" dirty="0">
                          <a:solidFill>
                            <a:srgbClr val="7E7E84"/>
                          </a:solidFill>
                          <a:latin typeface="Calibri" pitchFamily="34" charset="0"/>
                          <a:ea typeface="Calibri" pitchFamily="34" charset="-122"/>
                          <a:cs typeface="Calibri" pitchFamily="34" charset="-120"/>
                        </a:rPr>
                        <a:t>Genuine flagged</a:t>
                      </a:r>
                      <a:endParaRPr lang="en-US" sz="13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b="1" dirty="0">
                          <a:solidFill>
                            <a:srgbClr val="7E7E84"/>
                          </a:solidFill>
                          <a:latin typeface="Calibri" pitchFamily="34" charset="0"/>
                          <a:ea typeface="Calibri" pitchFamily="34" charset="-122"/>
                          <a:cs typeface="Calibri" pitchFamily="34" charset="-120"/>
                        </a:rPr>
                        <a:t>Per message</a:t>
                      </a:r>
                      <a:endParaRPr lang="en-US" sz="13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500" dirty="0">
                          <a:solidFill>
                            <a:srgbClr val="B4B4B8"/>
                          </a:solidFill>
                          <a:latin typeface="Calibri" pitchFamily="34" charset="0"/>
                          <a:ea typeface="Calibri" pitchFamily="34" charset="-122"/>
                          <a:cs typeface="Calibri" pitchFamily="34" charset="-120"/>
                        </a:rPr>
                        <a:t>3B model</a:t>
                      </a:r>
                      <a:endParaRPr lang="en-US" sz="15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500" dirty="0">
                          <a:solidFill>
                            <a:srgbClr val="F5F5F7"/>
                          </a:solidFill>
                          <a:latin typeface="Calibri" pitchFamily="34" charset="0"/>
                          <a:ea typeface="Calibri" pitchFamily="34" charset="-122"/>
                          <a:cs typeface="Calibri" pitchFamily="34" charset="-120"/>
                        </a:rPr>
                        <a:t>99 of 103</a:t>
                      </a:r>
                      <a:endParaRPr lang="en-US" sz="15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500" b="1" dirty="0">
                          <a:solidFill>
                            <a:srgbClr val="E2C28A"/>
                          </a:solidFill>
                          <a:latin typeface="Calibri" pitchFamily="34" charset="0"/>
                          <a:ea typeface="Calibri" pitchFamily="34" charset="-122"/>
                          <a:cs typeface="Calibri" pitchFamily="34" charset="-120"/>
                        </a:rPr>
                        <a:t>21 of 34</a:t>
                      </a:r>
                      <a:endParaRPr lang="en-US" sz="15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500" dirty="0">
                          <a:solidFill>
                            <a:srgbClr val="F5F5F7"/>
                          </a:solidFill>
                          <a:latin typeface="Calibri" pitchFamily="34" charset="0"/>
                          <a:ea typeface="Calibri" pitchFamily="34" charset="-122"/>
                          <a:cs typeface="Calibri" pitchFamily="34" charset="-120"/>
                        </a:rPr>
                        <a:t>2.13 s, GPU</a:t>
                      </a:r>
                      <a:endParaRPr lang="en-US" sz="15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500" b="1" dirty="0">
                          <a:solidFill>
                            <a:srgbClr val="6FA8FF"/>
                          </a:solidFill>
                          <a:latin typeface="Calibri" pitchFamily="34" charset="0"/>
                          <a:ea typeface="Calibri" pitchFamily="34" charset="-122"/>
                          <a:cs typeface="Calibri" pitchFamily="34" charset="-120"/>
                        </a:rPr>
                        <a:t>Sahayak</a:t>
                      </a:r>
                      <a:endParaRPr lang="en-US" sz="15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500" dirty="0">
                          <a:solidFill>
                            <a:srgbClr val="F5F5F7"/>
                          </a:solidFill>
                          <a:latin typeface="Calibri" pitchFamily="34" charset="0"/>
                          <a:ea typeface="Calibri" pitchFamily="34" charset="-122"/>
                          <a:cs typeface="Calibri" pitchFamily="34" charset="-120"/>
                        </a:rPr>
                        <a:t>67 of 103</a:t>
                      </a:r>
                      <a:endParaRPr lang="en-US" sz="15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500" b="1" dirty="0">
                          <a:solidFill>
                            <a:srgbClr val="6FA8FF"/>
                          </a:solidFill>
                          <a:latin typeface="Calibri" pitchFamily="34" charset="0"/>
                          <a:ea typeface="Calibri" pitchFamily="34" charset="-122"/>
                          <a:cs typeface="Calibri" pitchFamily="34" charset="-120"/>
                        </a:rPr>
                        <a:t>11 of 34</a:t>
                      </a:r>
                      <a:endParaRPr lang="en-US" sz="15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500" dirty="0">
                          <a:solidFill>
                            <a:srgbClr val="F5F5F7"/>
                          </a:solidFill>
                          <a:latin typeface="Calibri" pitchFamily="34" charset="0"/>
                          <a:ea typeface="Calibri" pitchFamily="34" charset="-122"/>
                          <a:cs typeface="Calibri" pitchFamily="34" charset="-120"/>
                        </a:rPr>
                        <a:t>1.7 ms, CPU</a:t>
                      </a:r>
                      <a:endParaRPr lang="en-US" sz="1500" dirty="0">
                        <a:latin typeface="Calibri" charset="0"/>
                        <a:ea typeface="Calibri" charset="0"/>
                        <a:cs typeface="Calibri" charset="0"/>
                      </a:endParaRPr>
                    </a:p>
                  </a:txBody>
                  <a:tcPr marL="36576" marR="36576" marT="36576" marB="36576" anchor="ctr">
                    <a:lnL w="0" cap="flat" cmpd="sng" algn="ctr">
                      <a:noFill/>
                    </a:lnL>
                    <a:lnR w="0" cap="flat" cmpd="sng" algn="ctr">
                      <a:noFill/>
                    </a:lnR>
                    <a:lnT w="0" cap="flat" cmpd="sng" algn="ctr">
                      <a:noFill/>
                    </a:lnT>
                    <a:lnB w="0" cap="flat" cmpd="sng" algn="ctr">
                      <a:noFill/>
                    </a:lnB>
                  </a:tcPr>
                </a:tc>
              </a:tr>
            </a:tbl>
          </a:graphicData>
        </a:graphic>
      </p:graphicFrame>
      <p:sp>
        <p:nvSpPr>
          <p:cNvPr id="33" name="Text 30"/>
          <p:cNvSpPr/>
          <p:nvPr/>
        </p:nvSpPr>
        <p:spPr>
          <a:xfrm>
            <a:off x="6702552" y="4261104"/>
            <a:ext cx="4754880" cy="274320"/>
          </a:xfrm>
          <a:prstGeom prst="rect">
            <a:avLst/>
          </a:prstGeom>
          <a:noFill/>
          <a:ln/>
        </p:spPr>
        <p:txBody>
          <a:bodyPr wrap="square" lIns="0" tIns="0" rIns="0" bIns="0" rtlCol="0" anchor="ctr"/>
          <a:lstStyle/>
          <a:p>
            <a:pPr indent="0" marL="0">
              <a:buNone/>
            </a:pPr>
            <a:r>
              <a:rPr lang="en-US" sz="1300" dirty="0">
                <a:solidFill>
                  <a:srgbClr val="7E7E84"/>
                </a:solidFill>
                <a:latin typeface="Calibri" pitchFamily="34" charset="0"/>
                <a:ea typeface="Calibri" pitchFamily="34" charset="-122"/>
                <a:cs typeface="Calibri" pitchFamily="34" charset="-120"/>
              </a:rPr>
              <a:t>The same 137 real published messages · first runs, 7 Oct</a:t>
            </a:r>
            <a:endParaRPr lang="en-US" sz="1300" dirty="0"/>
          </a:p>
        </p:txBody>
      </p:sp>
      <p:sp>
        <p:nvSpPr>
          <p:cNvPr id="34" name="Text 31"/>
          <p:cNvSpPr/>
          <p:nvPr/>
        </p:nvSpPr>
        <p:spPr>
          <a:xfrm>
            <a:off x="6702552" y="4617720"/>
            <a:ext cx="4754880" cy="274320"/>
          </a:xfrm>
          <a:prstGeom prst="rect">
            <a:avLst/>
          </a:prstGeom>
          <a:noFill/>
          <a:ln/>
        </p:spPr>
        <p:txBody>
          <a:bodyPr wrap="square" lIns="0" tIns="0" rIns="0" bIns="0" rtlCol="0" anchor="ctr"/>
          <a:lstStyle/>
          <a:p>
            <a:pPr indent="0" marL="0">
              <a:buNone/>
            </a:pPr>
            <a:r>
              <a:rPr lang="en-US" sz="1300" b="1" spc="100" kern="0" dirty="0">
                <a:solidFill>
                  <a:srgbClr val="6FA8FF"/>
                </a:solidFill>
                <a:latin typeface="Arial" pitchFamily="34" charset="0"/>
                <a:ea typeface="Arial" pitchFamily="34" charset="-122"/>
                <a:cs typeface="Arial" pitchFamily="34" charset="-120"/>
              </a:rPr>
              <a:t>SO</a:t>
            </a:r>
            <a:endParaRPr lang="en-US" sz="1300" dirty="0"/>
          </a:p>
        </p:txBody>
      </p:sp>
      <p:sp>
        <p:nvSpPr>
          <p:cNvPr id="35" name="Text 32"/>
          <p:cNvSpPr/>
          <p:nvPr/>
        </p:nvSpPr>
        <p:spPr>
          <a:xfrm>
            <a:off x="6702552" y="4892040"/>
            <a:ext cx="4754880" cy="1188720"/>
          </a:xfrm>
          <a:prstGeom prst="rect">
            <a:avLst/>
          </a:prstGeom>
          <a:noFill/>
          <a:ln/>
        </p:spPr>
        <p:txBody>
          <a:bodyPr wrap="square" lIns="0" tIns="0" rIns="0" bIns="0" rtlCol="0" anchor="t"/>
          <a:lstStyle/>
          <a:p>
            <a:pPr indent="0" marL="0">
              <a:buNone/>
            </a:pPr>
            <a:r>
              <a:rPr lang="en-US" sz="1500" dirty="0">
                <a:solidFill>
                  <a:srgbClr val="F5F5F7"/>
                </a:solidFill>
                <a:latin typeface="Calibri" pitchFamily="34" charset="0"/>
                <a:ea typeface="Calibri" pitchFamily="34" charset="-122"/>
                <a:cs typeface="Calibri" pitchFamily="34" charset="-120"/>
              </a:rPr>
              <a:t>Rules decide every verdict. A model may only reword the explanation, through a safety gate, and is off by default. Next, a second opinion that can only raise a warning, in languages Sahayak cannot read yet: there the model caught 14 of 15 scams.</a:t>
            </a:r>
            <a:endParaRPr lang="en-US" sz="1500" dirty="0"/>
          </a:p>
        </p:txBody>
      </p:sp>
      <p:sp>
        <p:nvSpPr>
          <p:cNvPr id="36" name="Text 33"/>
          <p:cNvSpPr/>
          <p:nvPr/>
        </p:nvSpPr>
        <p:spPr>
          <a:xfrm>
            <a:off x="548640" y="6382512"/>
            <a:ext cx="11064240" cy="347472"/>
          </a:xfrm>
          <a:prstGeom prst="rect">
            <a:avLst/>
          </a:prstGeom>
          <a:noFill/>
          <a:ln/>
        </p:spPr>
        <p:txBody>
          <a:bodyPr wrap="square" lIns="0" tIns="0" rIns="0" bIns="0" rtlCol="0" anchor="t"/>
          <a:lstStyle/>
          <a:p>
            <a:pPr indent="0" marL="0">
              <a:buNone/>
            </a:pPr>
            <a:r>
              <a:rPr lang="en-US" sz="1200" dirty="0">
                <a:solidFill>
                  <a:srgbClr val="7E7E84"/>
                </a:solidFill>
                <a:latin typeface="Calibri" pitchFamily="34" charset="0"/>
                <a:ea typeface="Calibri" pitchFamily="34" charset="-122"/>
                <a:cs typeface="Calibri" pitchFamily="34" charset="-120"/>
              </a:rPr>
              <a:t>Sources: bench/results/llm_baseline.md (qwen2.5:3b zero-shot, dev Mac's Apple M3 GPU; Sahayak on its CPU), phone_parity.md; docs/APPLICATION_TO_PROTOTYPE.md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010"/>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933"/>
          </a:solidFill>
          <a:ln/>
        </p:spPr>
      </p:sp>
      <p:sp>
        <p:nvSpPr>
          <p:cNvPr id="3" name="Shape 1"/>
          <p:cNvSpPr/>
          <p:nvPr/>
        </p:nvSpPr>
        <p:spPr>
          <a:xfrm>
            <a:off x="11658600" y="384048"/>
            <a:ext cx="109728" cy="109728"/>
          </a:xfrm>
          <a:prstGeom prst="ellipse">
            <a:avLst/>
          </a:prstGeom>
          <a:solidFill>
            <a:srgbClr val="FFFFFF"/>
          </a:solidFill>
          <a:ln/>
        </p:spPr>
      </p:sp>
      <p:sp>
        <p:nvSpPr>
          <p:cNvPr id="4" name="Shape 2"/>
          <p:cNvSpPr/>
          <p:nvPr/>
        </p:nvSpPr>
        <p:spPr>
          <a:xfrm>
            <a:off x="11841480" y="384048"/>
            <a:ext cx="109728" cy="109728"/>
          </a:xfrm>
          <a:prstGeom prst="ellipse">
            <a:avLst/>
          </a:prstGeom>
          <a:solidFill>
            <a:srgbClr val="138808"/>
          </a:solidFill>
          <a:ln/>
        </p:spPr>
      </p:sp>
      <p:sp>
        <p:nvSpPr>
          <p:cNvPr id="5" name="Shape 3"/>
          <p:cNvSpPr/>
          <p:nvPr/>
        </p:nvSpPr>
        <p:spPr>
          <a:xfrm>
            <a:off x="566928" y="603504"/>
            <a:ext cx="137160" cy="137160"/>
          </a:xfrm>
          <a:prstGeom prst="ellipse">
            <a:avLst/>
          </a:prstGeom>
          <a:solidFill>
            <a:srgbClr val="6FA8FF"/>
          </a:solidFill>
          <a:ln/>
        </p:spPr>
      </p:sp>
      <p:sp>
        <p:nvSpPr>
          <p:cNvPr id="6" name="Text 4"/>
          <p:cNvSpPr/>
          <p:nvPr/>
        </p:nvSpPr>
        <p:spPr>
          <a:xfrm>
            <a:off x="795528" y="457200"/>
            <a:ext cx="10424160" cy="429768"/>
          </a:xfrm>
          <a:prstGeom prst="rect">
            <a:avLst/>
          </a:prstGeom>
          <a:noFill/>
          <a:ln/>
        </p:spPr>
        <p:txBody>
          <a:bodyPr wrap="square" lIns="0" tIns="0" rIns="0" bIns="0" rtlCol="0" anchor="ctr"/>
          <a:lstStyle/>
          <a:p>
            <a:pPr indent="0" marL="0">
              <a:buNone/>
            </a:pPr>
            <a:r>
              <a:rPr lang="en-US" sz="1500" b="1" spc="200" kern="0" dirty="0">
                <a:solidFill>
                  <a:srgbClr val="6FA8FF"/>
                </a:solidFill>
                <a:latin typeface="Arial" pitchFamily="34" charset="0"/>
                <a:ea typeface="Arial" pitchFamily="34" charset="-122"/>
                <a:cs typeface="Arial" pitchFamily="34" charset="-120"/>
              </a:rPr>
              <a:t>EVIDENCE: FIRST RUNS</a:t>
            </a:r>
            <a:endParaRPr lang="en-US" sz="1500" dirty="0"/>
          </a:p>
        </p:txBody>
      </p:sp>
      <p:sp>
        <p:nvSpPr>
          <p:cNvPr id="7" name="Text 5"/>
          <p:cNvSpPr/>
          <p:nvPr/>
        </p:nvSpPr>
        <p:spPr>
          <a:xfrm>
            <a:off x="548640" y="896112"/>
            <a:ext cx="11064240" cy="868680"/>
          </a:xfrm>
          <a:prstGeom prst="rect">
            <a:avLst/>
          </a:prstGeom>
          <a:noFill/>
          <a:ln/>
        </p:spPr>
        <p:txBody>
          <a:bodyPr wrap="square" lIns="0" tIns="0" rIns="0" bIns="0" rtlCol="0" anchor="ctr"/>
          <a:lstStyle/>
          <a:p>
            <a:pPr indent="0" marL="0">
              <a:buNone/>
            </a:pPr>
            <a:r>
              <a:rPr lang="en-US" sz="3200" b="1" dirty="0">
                <a:solidFill>
                  <a:srgbClr val="F5F5F7"/>
                </a:solidFill>
                <a:latin typeface="Arial" pitchFamily="34" charset="0"/>
                <a:ea typeface="Arial" pitchFamily="34" charset="-122"/>
                <a:cs typeface="Arial" pitchFamily="34" charset="-120"/>
              </a:rPr>
              <a:t>Real messages are harder: it caught 7 in 10</a:t>
            </a:r>
            <a:endParaRPr lang="en-US" sz="3200" dirty="0"/>
          </a:p>
        </p:txBody>
      </p:sp>
      <p:sp>
        <p:nvSpPr>
          <p:cNvPr id="8" name="Shape 6"/>
          <p:cNvSpPr/>
          <p:nvPr/>
        </p:nvSpPr>
        <p:spPr>
          <a:xfrm>
            <a:off x="548640" y="1810512"/>
            <a:ext cx="11091672" cy="1828800"/>
          </a:xfrm>
          <a:prstGeom prst="roundRect">
            <a:avLst>
              <a:gd name="adj" fmla="val 5000"/>
            </a:avLst>
          </a:prstGeom>
          <a:solidFill>
            <a:srgbClr val="1C1C20"/>
          </a:solidFill>
          <a:ln w="19050">
            <a:solidFill>
              <a:srgbClr val="E2C28A"/>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04672" y="1938528"/>
            <a:ext cx="10607040" cy="292608"/>
          </a:xfrm>
          <a:prstGeom prst="rect">
            <a:avLst/>
          </a:prstGeom>
          <a:noFill/>
          <a:ln/>
        </p:spPr>
        <p:txBody>
          <a:bodyPr wrap="square" lIns="0" tIns="0" rIns="0" bIns="0" rtlCol="0" anchor="ctr"/>
          <a:lstStyle/>
          <a:p>
            <a:pPr indent="0" marL="0">
              <a:buNone/>
            </a:pPr>
            <a:r>
              <a:rPr lang="en-US" sz="1300" b="1" spc="100" kern="0" dirty="0">
                <a:solidFill>
                  <a:srgbClr val="E2C28A"/>
                </a:solidFill>
                <a:latin typeface="Arial" pitchFamily="34" charset="0"/>
                <a:ea typeface="Arial" pitchFamily="34" charset="-122"/>
                <a:cs typeface="Arial" pitchFamily="34" charset="-120"/>
              </a:rPr>
              <a:t>REAL MESSAGES PEOPLE RECEIVED, AS PUBLISHED · FIRST RUN, 7 OCT</a:t>
            </a:r>
            <a:endParaRPr lang="en-US" sz="1300" dirty="0"/>
          </a:p>
        </p:txBody>
      </p:sp>
      <p:sp>
        <p:nvSpPr>
          <p:cNvPr id="10" name="Text 8"/>
          <p:cNvSpPr/>
          <p:nvPr/>
        </p:nvSpPr>
        <p:spPr>
          <a:xfrm>
            <a:off x="804672" y="2286000"/>
            <a:ext cx="2468880" cy="658368"/>
          </a:xfrm>
          <a:prstGeom prst="rect">
            <a:avLst/>
          </a:prstGeom>
          <a:noFill/>
          <a:ln/>
        </p:spPr>
        <p:txBody>
          <a:bodyPr wrap="square" lIns="0" tIns="0" rIns="0" bIns="0" rtlCol="0" anchor="ctr"/>
          <a:lstStyle/>
          <a:p>
            <a:pPr indent="0" marL="0">
              <a:buNone/>
            </a:pPr>
            <a:r>
              <a:rPr lang="en-US" sz="4400" b="1" dirty="0">
                <a:solidFill>
                  <a:srgbClr val="6FA8FF"/>
                </a:solidFill>
                <a:latin typeface="Arial" pitchFamily="34" charset="0"/>
                <a:ea typeface="Arial" pitchFamily="34" charset="-122"/>
                <a:cs typeface="Arial" pitchFamily="34" charset="-120"/>
              </a:rPr>
              <a:t>67</a:t>
            </a:r>
            <a:pPr indent="0" marL="0">
              <a:buNone/>
            </a:pPr>
            <a:r>
              <a:rPr lang="en-US" sz="2200" b="1" dirty="0">
                <a:solidFill>
                  <a:srgbClr val="6FA8FF"/>
                </a:solidFill>
                <a:latin typeface="Arial" pitchFamily="34" charset="0"/>
                <a:ea typeface="Arial" pitchFamily="34" charset="-122"/>
                <a:cs typeface="Arial" pitchFamily="34" charset="-120"/>
              </a:rPr>
              <a:t> of 97</a:t>
            </a:r>
            <a:endParaRPr lang="en-US" sz="4400" dirty="0"/>
          </a:p>
        </p:txBody>
      </p:sp>
      <p:sp>
        <p:nvSpPr>
          <p:cNvPr id="11" name="Text 9"/>
          <p:cNvSpPr/>
          <p:nvPr/>
        </p:nvSpPr>
        <p:spPr>
          <a:xfrm>
            <a:off x="804672" y="2962656"/>
            <a:ext cx="2468880" cy="36576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scams caught (69%)</a:t>
            </a:r>
            <a:endParaRPr lang="en-US" sz="1700" dirty="0"/>
          </a:p>
        </p:txBody>
      </p:sp>
      <p:sp>
        <p:nvSpPr>
          <p:cNvPr id="12" name="Text 10"/>
          <p:cNvSpPr/>
          <p:nvPr/>
        </p:nvSpPr>
        <p:spPr>
          <a:xfrm>
            <a:off x="3364992" y="2286000"/>
            <a:ext cx="2377440" cy="658368"/>
          </a:xfrm>
          <a:prstGeom prst="rect">
            <a:avLst/>
          </a:prstGeom>
          <a:noFill/>
          <a:ln/>
        </p:spPr>
        <p:txBody>
          <a:bodyPr wrap="square" lIns="0" tIns="0" rIns="0" bIns="0" rtlCol="0" anchor="ctr"/>
          <a:lstStyle/>
          <a:p>
            <a:pPr indent="0" marL="0">
              <a:buNone/>
            </a:pPr>
            <a:r>
              <a:rPr lang="en-US" sz="4400" b="1" dirty="0">
                <a:solidFill>
                  <a:srgbClr val="E2C28A"/>
                </a:solidFill>
                <a:latin typeface="Arial" pitchFamily="34" charset="0"/>
                <a:ea typeface="Arial" pitchFamily="34" charset="-122"/>
                <a:cs typeface="Arial" pitchFamily="34" charset="-120"/>
              </a:rPr>
              <a:t>11</a:t>
            </a:r>
            <a:pPr indent="0" marL="0">
              <a:buNone/>
            </a:pPr>
            <a:r>
              <a:rPr lang="en-US" sz="2200" b="1" dirty="0">
                <a:solidFill>
                  <a:srgbClr val="E2C28A"/>
                </a:solidFill>
                <a:latin typeface="Arial" pitchFamily="34" charset="0"/>
                <a:ea typeface="Arial" pitchFamily="34" charset="-122"/>
                <a:cs typeface="Arial" pitchFamily="34" charset="-120"/>
              </a:rPr>
              <a:t> of 34</a:t>
            </a:r>
            <a:endParaRPr lang="en-US" sz="4400" dirty="0"/>
          </a:p>
        </p:txBody>
      </p:sp>
      <p:sp>
        <p:nvSpPr>
          <p:cNvPr id="13" name="Text 11"/>
          <p:cNvSpPr/>
          <p:nvPr/>
        </p:nvSpPr>
        <p:spPr>
          <a:xfrm>
            <a:off x="3364992" y="2962656"/>
            <a:ext cx="2468880" cy="36576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genuine flagged (32%)</a:t>
            </a:r>
            <a:endParaRPr lang="en-US" sz="1700" dirty="0"/>
          </a:p>
        </p:txBody>
      </p:sp>
      <p:sp>
        <p:nvSpPr>
          <p:cNvPr id="14" name="Text 12"/>
          <p:cNvSpPr/>
          <p:nvPr/>
        </p:nvSpPr>
        <p:spPr>
          <a:xfrm>
            <a:off x="5852160" y="2267712"/>
            <a:ext cx="5623560" cy="1298448"/>
          </a:xfrm>
          <a:prstGeom prst="rect">
            <a:avLst/>
          </a:prstGeom>
          <a:noFill/>
          <a:ln/>
        </p:spPr>
        <p:txBody>
          <a:bodyPr wrap="square" lIns="0" tIns="0" rIns="0" bIns="0" rtlCol="0" anchor="t"/>
          <a:lstStyle/>
          <a:p>
            <a:pPr indent="0" marL="0">
              <a:spcAft>
                <a:spcPts val="300"/>
              </a:spcAft>
              <a:buNone/>
            </a:pPr>
            <a:r>
              <a:rPr lang="en-US" sz="1300" dirty="0">
                <a:solidFill>
                  <a:srgbClr val="B4B4B8"/>
                </a:solidFill>
                <a:latin typeface="Calibri" pitchFamily="34" charset="0"/>
                <a:ea typeface="Calibri" pitchFamily="34" charset="-122"/>
                <a:cs typeface="Calibri" pitchFamily="34" charset="-120"/>
              </a:rPr>
              <a:t>137 messages published by the Income Tax portal, PIB Fact Check, courts and fact-checkers; gathered by an AI agent that never saw the code.</a:t>
            </a:r>
            <a:endParaRPr lang="en-US" sz="1300" dirty="0"/>
          </a:p>
          <a:p>
            <a:pPr indent="0" marL="0">
              <a:spcAft>
                <a:spcPts val="300"/>
              </a:spcAft>
              <a:buNone/>
            </a:pPr>
            <a:r>
              <a:rPr lang="en-US" sz="1300" dirty="0">
                <a:solidFill>
                  <a:srgbClr val="B4B4B8"/>
                </a:solidFill>
                <a:latin typeface="Calibri" pitchFamily="34" charset="0"/>
                <a:ea typeface="Calibri" pitchFamily="34" charset="-122"/>
                <a:cs typeface="Calibri" pitchFamily="34" charset="-120"/>
              </a:rPr>
              <a:t>Keyword blocklist: 62 of 97 caught, 17 of 34 flagged. Other languages: 6 of 6 scams “Could not check”, 0 green.</a:t>
            </a:r>
            <a:endParaRPr lang="en-US" sz="1300" dirty="0"/>
          </a:p>
          <a:p>
            <a:pPr indent="0" marL="0">
              <a:spcAft>
                <a:spcPts val="300"/>
              </a:spcAft>
              <a:buNone/>
            </a:pPr>
            <a:r>
              <a:rPr lang="en-US" sz="1300" dirty="0">
                <a:solidFill>
                  <a:srgbClr val="F5F5F7"/>
                </a:solidFill>
                <a:latin typeface="Calibri" pitchFamily="34" charset="0"/>
                <a:ea typeface="Calibri" pitchFamily="34" charset="-122"/>
                <a:cs typeface="Calibri" pitchFamily="34" charset="-120"/>
              </a:rPr>
              <a:t>Fixes learned from one half only. The unread half: 31 of 44 caught (was 28), 6 of 20 flagged (was 6).</a:t>
            </a:r>
            <a:endParaRPr lang="en-US" sz="1300" dirty="0"/>
          </a:p>
        </p:txBody>
      </p:sp>
      <p:sp>
        <p:nvSpPr>
          <p:cNvPr id="15" name="Shape 13"/>
          <p:cNvSpPr/>
          <p:nvPr/>
        </p:nvSpPr>
        <p:spPr>
          <a:xfrm>
            <a:off x="548640" y="3749040"/>
            <a:ext cx="3602736" cy="1828800"/>
          </a:xfrm>
          <a:prstGeom prst="roundRect">
            <a:avLst>
              <a:gd name="adj" fmla="val 5000"/>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16" name="Text 14"/>
          <p:cNvSpPr/>
          <p:nvPr/>
        </p:nvSpPr>
        <p:spPr>
          <a:xfrm>
            <a:off x="777240" y="3877056"/>
            <a:ext cx="3236976" cy="274320"/>
          </a:xfrm>
          <a:prstGeom prst="rect">
            <a:avLst/>
          </a:prstGeom>
          <a:noFill/>
          <a:ln/>
        </p:spPr>
        <p:txBody>
          <a:bodyPr wrap="square" lIns="0" tIns="0" rIns="0" bIns="0" rtlCol="0" anchor="ctr"/>
          <a:lstStyle/>
          <a:p>
            <a:pPr indent="0" marL="0">
              <a:buNone/>
            </a:pPr>
            <a:r>
              <a:rPr lang="en-US" sz="1250" b="1" spc="50" kern="0" dirty="0">
                <a:solidFill>
                  <a:srgbClr val="4FD68A"/>
                </a:solidFill>
                <a:latin typeface="Arial" pitchFamily="34" charset="0"/>
                <a:ea typeface="Arial" pitchFamily="34" charset="-122"/>
                <a:cs typeface="Arial" pitchFamily="34" charset="-120"/>
              </a:rPr>
              <a:t>BLIND RED TEAM (7 OCT)</a:t>
            </a:r>
            <a:endParaRPr lang="en-US" sz="1250" dirty="0"/>
          </a:p>
        </p:txBody>
      </p:sp>
      <p:sp>
        <p:nvSpPr>
          <p:cNvPr id="17" name="Text 15"/>
          <p:cNvSpPr/>
          <p:nvPr/>
        </p:nvSpPr>
        <p:spPr>
          <a:xfrm>
            <a:off x="777240" y="4169664"/>
            <a:ext cx="3236976" cy="512064"/>
          </a:xfrm>
          <a:prstGeom prst="rect">
            <a:avLst/>
          </a:prstGeom>
          <a:noFill/>
          <a:ln/>
        </p:spPr>
        <p:txBody>
          <a:bodyPr wrap="square" lIns="0" tIns="0" rIns="0" bIns="0" rtlCol="0" anchor="ctr"/>
          <a:lstStyle/>
          <a:p>
            <a:pPr indent="0" marL="0">
              <a:buNone/>
            </a:pPr>
            <a:r>
              <a:rPr lang="en-US" sz="3600" b="1" dirty="0">
                <a:solidFill>
                  <a:srgbClr val="4FD68A"/>
                </a:solidFill>
                <a:latin typeface="Arial" pitchFamily="34" charset="0"/>
                <a:ea typeface="Arial" pitchFamily="34" charset="-122"/>
                <a:cs typeface="Arial" pitchFamily="34" charset="-120"/>
              </a:rPr>
              <a:t>92</a:t>
            </a:r>
            <a:pPr indent="0" marL="0">
              <a:buNone/>
            </a:pPr>
            <a:r>
              <a:rPr lang="en-US" sz="1800" b="1" dirty="0">
                <a:solidFill>
                  <a:srgbClr val="4FD68A"/>
                </a:solidFill>
                <a:latin typeface="Arial" pitchFamily="34" charset="0"/>
                <a:ea typeface="Arial" pitchFamily="34" charset="-122"/>
                <a:cs typeface="Arial" pitchFamily="34" charset="-120"/>
              </a:rPr>
              <a:t> of 103</a:t>
            </a:r>
            <a:endParaRPr lang="en-US" sz="3600" dirty="0"/>
          </a:p>
        </p:txBody>
      </p:sp>
      <p:sp>
        <p:nvSpPr>
          <p:cNvPr id="18" name="Text 16"/>
          <p:cNvSpPr/>
          <p:nvPr/>
        </p:nvSpPr>
        <p:spPr>
          <a:xfrm>
            <a:off x="777240" y="4681728"/>
            <a:ext cx="3236976" cy="310896"/>
          </a:xfrm>
          <a:prstGeom prst="rect">
            <a:avLst/>
          </a:prstGeom>
          <a:noFill/>
          <a:ln/>
        </p:spPr>
        <p:txBody>
          <a:bodyPr wrap="square" lIns="0" tIns="0" rIns="0" bIns="0" rtlCol="0" anchor="ctr"/>
          <a:lstStyle/>
          <a:p>
            <a:pPr indent="0" marL="0">
              <a:buNone/>
            </a:pPr>
            <a:r>
              <a:rPr lang="en-US" sz="1600" b="1" dirty="0">
                <a:solidFill>
                  <a:srgbClr val="F5F5F7"/>
                </a:solidFill>
                <a:latin typeface="Calibri" pitchFamily="34" charset="0"/>
                <a:ea typeface="Calibri" pitchFamily="34" charset="-122"/>
                <a:cs typeface="Calibri" pitchFamily="34" charset="-120"/>
              </a:rPr>
              <a:t>scams caught</a:t>
            </a:r>
            <a:endParaRPr lang="en-US" sz="1600" dirty="0"/>
          </a:p>
        </p:txBody>
      </p:sp>
      <p:sp>
        <p:nvSpPr>
          <p:cNvPr id="19" name="Text 17"/>
          <p:cNvSpPr/>
          <p:nvPr/>
        </p:nvSpPr>
        <p:spPr>
          <a:xfrm>
            <a:off x="777240" y="5010912"/>
            <a:ext cx="3236976" cy="493776"/>
          </a:xfrm>
          <a:prstGeom prst="rect">
            <a:avLst/>
          </a:prstGeom>
          <a:noFill/>
          <a:ln/>
        </p:spPr>
        <p:txBody>
          <a:bodyPr wrap="square" lIns="0" tIns="0" rIns="0" bIns="0" rtlCol="0" anchor="t"/>
          <a:lstStyle/>
          <a:p>
            <a:pPr indent="0" marL="0">
              <a:buNone/>
            </a:pPr>
            <a:r>
              <a:rPr lang="en-US" sz="1400" dirty="0">
                <a:solidFill>
                  <a:srgbClr val="B4B4B8"/>
                </a:solidFill>
                <a:latin typeface="Calibri" pitchFamily="34" charset="0"/>
                <a:ea typeface="Calibri" pitchFamily="34" charset="-122"/>
                <a:cs typeface="Calibri" pitchFamily="34" charset="-120"/>
              </a:rPr>
              <a:t>182 by an AI model that never saw the code; 14 of 59 genuine flagged.</a:t>
            </a:r>
            <a:endParaRPr lang="en-US" sz="1400" dirty="0"/>
          </a:p>
        </p:txBody>
      </p:sp>
      <p:sp>
        <p:nvSpPr>
          <p:cNvPr id="20" name="Shape 18"/>
          <p:cNvSpPr/>
          <p:nvPr/>
        </p:nvSpPr>
        <p:spPr>
          <a:xfrm>
            <a:off x="4293108" y="3749040"/>
            <a:ext cx="3602736" cy="1828800"/>
          </a:xfrm>
          <a:prstGeom prst="roundRect">
            <a:avLst>
              <a:gd name="adj" fmla="val 5000"/>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21" name="Text 19"/>
          <p:cNvSpPr/>
          <p:nvPr/>
        </p:nvSpPr>
        <p:spPr>
          <a:xfrm>
            <a:off x="4521708" y="3877056"/>
            <a:ext cx="3236976" cy="274320"/>
          </a:xfrm>
          <a:prstGeom prst="rect">
            <a:avLst/>
          </a:prstGeom>
          <a:noFill/>
          <a:ln/>
        </p:spPr>
        <p:txBody>
          <a:bodyPr wrap="square" lIns="0" tIns="0" rIns="0" bIns="0" rtlCol="0" anchor="ctr"/>
          <a:lstStyle/>
          <a:p>
            <a:pPr indent="0" marL="0">
              <a:buNone/>
            </a:pPr>
            <a:r>
              <a:rPr lang="en-US" sz="1250" b="1" spc="50" kern="0" dirty="0">
                <a:solidFill>
                  <a:srgbClr val="6FA8FF"/>
                </a:solidFill>
                <a:latin typeface="Arial" pitchFamily="34" charset="0"/>
                <a:ea typeface="Arial" pitchFamily="34" charset="-122"/>
                <a:cs typeface="Arial" pitchFamily="34" charset="-120"/>
              </a:rPr>
              <a:t>OUR OWN SET, FROZEN (2 OCT)</a:t>
            </a:r>
            <a:endParaRPr lang="en-US" sz="1250" dirty="0"/>
          </a:p>
        </p:txBody>
      </p:sp>
      <p:sp>
        <p:nvSpPr>
          <p:cNvPr id="22" name="Text 20"/>
          <p:cNvSpPr/>
          <p:nvPr/>
        </p:nvSpPr>
        <p:spPr>
          <a:xfrm>
            <a:off x="4521708" y="4169664"/>
            <a:ext cx="3236976" cy="512064"/>
          </a:xfrm>
          <a:prstGeom prst="rect">
            <a:avLst/>
          </a:prstGeom>
          <a:noFill/>
          <a:ln/>
        </p:spPr>
        <p:txBody>
          <a:bodyPr wrap="square" lIns="0" tIns="0" rIns="0" bIns="0" rtlCol="0" anchor="ctr"/>
          <a:lstStyle/>
          <a:p>
            <a:pPr indent="0" marL="0">
              <a:buNone/>
            </a:pPr>
            <a:r>
              <a:rPr lang="en-US" sz="3600" b="1" dirty="0">
                <a:solidFill>
                  <a:srgbClr val="6FA8FF"/>
                </a:solidFill>
                <a:latin typeface="Arial" pitchFamily="34" charset="0"/>
                <a:ea typeface="Arial" pitchFamily="34" charset="-122"/>
                <a:cs typeface="Arial" pitchFamily="34" charset="-120"/>
              </a:rPr>
              <a:t>34</a:t>
            </a:r>
            <a:pPr indent="0" marL="0">
              <a:buNone/>
            </a:pPr>
            <a:r>
              <a:rPr lang="en-US" sz="1800" b="1" dirty="0">
                <a:solidFill>
                  <a:srgbClr val="6FA8FF"/>
                </a:solidFill>
                <a:latin typeface="Arial" pitchFamily="34" charset="0"/>
                <a:ea typeface="Arial" pitchFamily="34" charset="-122"/>
                <a:cs typeface="Arial" pitchFamily="34" charset="-120"/>
              </a:rPr>
              <a:t> of 37</a:t>
            </a:r>
            <a:endParaRPr lang="en-US" sz="3600" dirty="0"/>
          </a:p>
        </p:txBody>
      </p:sp>
      <p:sp>
        <p:nvSpPr>
          <p:cNvPr id="23" name="Text 21"/>
          <p:cNvSpPr/>
          <p:nvPr/>
        </p:nvSpPr>
        <p:spPr>
          <a:xfrm>
            <a:off x="4521708" y="4681728"/>
            <a:ext cx="3236976" cy="310896"/>
          </a:xfrm>
          <a:prstGeom prst="rect">
            <a:avLst/>
          </a:prstGeom>
          <a:noFill/>
          <a:ln/>
        </p:spPr>
        <p:txBody>
          <a:bodyPr wrap="square" lIns="0" tIns="0" rIns="0" bIns="0" rtlCol="0" anchor="ctr"/>
          <a:lstStyle/>
          <a:p>
            <a:pPr indent="0" marL="0">
              <a:buNone/>
            </a:pPr>
            <a:r>
              <a:rPr lang="en-US" sz="1600" b="1" dirty="0">
                <a:solidFill>
                  <a:srgbClr val="F5F5F7"/>
                </a:solidFill>
                <a:latin typeface="Calibri" pitchFamily="34" charset="0"/>
                <a:ea typeface="Calibri" pitchFamily="34" charset="-122"/>
                <a:cs typeface="Calibri" pitchFamily="34" charset="-120"/>
              </a:rPr>
              <a:t>scams caught · 95% CI 79–97%</a:t>
            </a:r>
            <a:endParaRPr lang="en-US" sz="1600" dirty="0"/>
          </a:p>
        </p:txBody>
      </p:sp>
      <p:sp>
        <p:nvSpPr>
          <p:cNvPr id="24" name="Text 22"/>
          <p:cNvSpPr/>
          <p:nvPr/>
        </p:nvSpPr>
        <p:spPr>
          <a:xfrm>
            <a:off x="4521708" y="5010912"/>
            <a:ext cx="3236976" cy="493776"/>
          </a:xfrm>
          <a:prstGeom prst="rect">
            <a:avLst/>
          </a:prstGeom>
          <a:noFill/>
          <a:ln/>
        </p:spPr>
        <p:txBody>
          <a:bodyPr wrap="square" lIns="0" tIns="0" rIns="0" bIns="0" rtlCol="0" anchor="t"/>
          <a:lstStyle/>
          <a:p>
            <a:pPr indent="0" marL="0">
              <a:buNone/>
            </a:pPr>
            <a:r>
              <a:rPr lang="en-US" sz="1400" dirty="0">
                <a:solidFill>
                  <a:srgbClr val="B4B4B8"/>
                </a:solidFill>
                <a:latin typeface="Calibri" pitchFamily="34" charset="0"/>
                <a:ea typeface="Calibri" pitchFamily="34" charset="-122"/>
                <a:cs typeface="Calibri" pitchFamily="34" charset="-120"/>
              </a:rPr>
              <a:t>Genuine flagged: 2 of 23. A 3B model: 36 of 37 caught, 7 of 23 flagged.</a:t>
            </a:r>
            <a:endParaRPr lang="en-US" sz="1400" dirty="0"/>
          </a:p>
        </p:txBody>
      </p:sp>
      <p:sp>
        <p:nvSpPr>
          <p:cNvPr id="25" name="Shape 23"/>
          <p:cNvSpPr/>
          <p:nvPr/>
        </p:nvSpPr>
        <p:spPr>
          <a:xfrm>
            <a:off x="8037576" y="3749040"/>
            <a:ext cx="3602736" cy="1828800"/>
          </a:xfrm>
          <a:prstGeom prst="roundRect">
            <a:avLst>
              <a:gd name="adj" fmla="val 5000"/>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26" name="Text 24"/>
          <p:cNvSpPr/>
          <p:nvPr/>
        </p:nvSpPr>
        <p:spPr>
          <a:xfrm>
            <a:off x="8266176" y="3877056"/>
            <a:ext cx="3236976" cy="274320"/>
          </a:xfrm>
          <a:prstGeom prst="rect">
            <a:avLst/>
          </a:prstGeom>
          <a:noFill/>
          <a:ln/>
        </p:spPr>
        <p:txBody>
          <a:bodyPr wrap="square" lIns="0" tIns="0" rIns="0" bIns="0" rtlCol="0" anchor="ctr"/>
          <a:lstStyle/>
          <a:p>
            <a:pPr indent="0" marL="0">
              <a:buNone/>
            </a:pPr>
            <a:r>
              <a:rPr lang="en-US" sz="1250" b="1" spc="50" kern="0" dirty="0">
                <a:solidFill>
                  <a:srgbClr val="6FA8FF"/>
                </a:solidFill>
                <a:latin typeface="Arial" pitchFamily="34" charset="0"/>
                <a:ea typeface="Arial" pitchFamily="34" charset="-122"/>
                <a:cs typeface="Arial" pitchFamily="34" charset="-120"/>
              </a:rPr>
              <a:t>STRESS TEST RE-RUN (7 OCT)</a:t>
            </a:r>
            <a:endParaRPr lang="en-US" sz="1250" dirty="0"/>
          </a:p>
        </p:txBody>
      </p:sp>
      <p:sp>
        <p:nvSpPr>
          <p:cNvPr id="27" name="Text 25"/>
          <p:cNvSpPr/>
          <p:nvPr/>
        </p:nvSpPr>
        <p:spPr>
          <a:xfrm>
            <a:off x="8266176" y="4169664"/>
            <a:ext cx="3236976" cy="512064"/>
          </a:xfrm>
          <a:prstGeom prst="rect">
            <a:avLst/>
          </a:prstGeom>
          <a:noFill/>
          <a:ln/>
        </p:spPr>
        <p:txBody>
          <a:bodyPr wrap="square" lIns="0" tIns="0" rIns="0" bIns="0" rtlCol="0" anchor="ctr"/>
          <a:lstStyle/>
          <a:p>
            <a:pPr indent="0" marL="0">
              <a:buNone/>
            </a:pPr>
            <a:r>
              <a:rPr lang="en-US" sz="3600" b="1" dirty="0">
                <a:solidFill>
                  <a:srgbClr val="6FA8FF"/>
                </a:solidFill>
                <a:latin typeface="Arial" pitchFamily="34" charset="0"/>
                <a:ea typeface="Arial" pitchFamily="34" charset="-122"/>
                <a:cs typeface="Arial" pitchFamily="34" charset="-120"/>
              </a:rPr>
              <a:t>0</a:t>
            </a:r>
            <a:pPr indent="0" marL="0">
              <a:buNone/>
            </a:pPr>
            <a:r>
              <a:rPr lang="en-US" sz="1800" b="1" dirty="0">
                <a:solidFill>
                  <a:srgbClr val="6FA8FF"/>
                </a:solidFill>
                <a:latin typeface="Arial" pitchFamily="34" charset="0"/>
                <a:ea typeface="Arial" pitchFamily="34" charset="-122"/>
                <a:cs typeface="Arial" pitchFamily="34" charset="-120"/>
              </a:rPr>
              <a:t> errors</a:t>
            </a:r>
            <a:endParaRPr lang="en-US" sz="3600" dirty="0"/>
          </a:p>
        </p:txBody>
      </p:sp>
      <p:sp>
        <p:nvSpPr>
          <p:cNvPr id="28" name="Text 26"/>
          <p:cNvSpPr/>
          <p:nvPr/>
        </p:nvSpPr>
        <p:spPr>
          <a:xfrm>
            <a:off x="8266176" y="4681728"/>
            <a:ext cx="3236976" cy="310896"/>
          </a:xfrm>
          <a:prstGeom prst="rect">
            <a:avLst/>
          </a:prstGeom>
          <a:noFill/>
          <a:ln/>
        </p:spPr>
        <p:txBody>
          <a:bodyPr wrap="square" lIns="0" tIns="0" rIns="0" bIns="0" rtlCol="0" anchor="ctr"/>
          <a:lstStyle/>
          <a:p>
            <a:pPr indent="0" marL="0">
              <a:buNone/>
            </a:pPr>
            <a:r>
              <a:rPr lang="en-US" sz="1600" b="1" dirty="0">
                <a:solidFill>
                  <a:srgbClr val="F5F5F7"/>
                </a:solidFill>
                <a:latin typeface="Calibri" pitchFamily="34" charset="0"/>
                <a:ea typeface="Calibri" pitchFamily="34" charset="-122"/>
                <a:cs typeface="Calibri" pitchFamily="34" charset="-120"/>
              </a:rPr>
              <a:t>30 phones, 300 checks at once</a:t>
            </a:r>
            <a:endParaRPr lang="en-US" sz="1600" dirty="0"/>
          </a:p>
        </p:txBody>
      </p:sp>
      <p:sp>
        <p:nvSpPr>
          <p:cNvPr id="29" name="Text 27"/>
          <p:cNvSpPr/>
          <p:nvPr/>
        </p:nvSpPr>
        <p:spPr>
          <a:xfrm>
            <a:off x="8266176" y="5010912"/>
            <a:ext cx="3236976" cy="493776"/>
          </a:xfrm>
          <a:prstGeom prst="rect">
            <a:avLst/>
          </a:prstGeom>
          <a:noFill/>
          <a:ln/>
        </p:spPr>
        <p:txBody>
          <a:bodyPr wrap="square" lIns="0" tIns="0" rIns="0" bIns="0" rtlCol="0" anchor="t"/>
          <a:lstStyle/>
          <a:p>
            <a:pPr indent="0" marL="0">
              <a:buNone/>
            </a:pPr>
            <a:r>
              <a:rPr lang="en-US" sz="1400" dirty="0">
                <a:solidFill>
                  <a:srgbClr val="B4B4B8"/>
                </a:solidFill>
                <a:latin typeface="Calibri" pitchFamily="34" charset="0"/>
                <a:ea typeface="Calibri" pitchFamily="34" charset="-122"/>
                <a:cs typeface="Calibri" pitchFamily="34" charset="-120"/>
              </a:rPr>
              <a:t>A 5,000-check soak. Hostile input: 360 cases, 0 unexpected.</a:t>
            </a:r>
            <a:endParaRPr lang="en-US" sz="1400" dirty="0"/>
          </a:p>
        </p:txBody>
      </p:sp>
      <p:sp>
        <p:nvSpPr>
          <p:cNvPr id="30" name="Shape 28"/>
          <p:cNvSpPr/>
          <p:nvPr/>
        </p:nvSpPr>
        <p:spPr>
          <a:xfrm>
            <a:off x="548640" y="5669280"/>
            <a:ext cx="11091672" cy="621792"/>
          </a:xfrm>
          <a:prstGeom prst="roundRect">
            <a:avLst>
              <a:gd name="adj" fmla="val 14706"/>
            </a:avLst>
          </a:prstGeom>
          <a:solidFill>
            <a:srgbClr val="26262B"/>
          </a:solidFill>
          <a:ln w="19050">
            <a:solidFill>
              <a:srgbClr val="E2C28A"/>
            </a:solidFill>
            <a:prstDash val="solid"/>
          </a:ln>
          <a:effectLst>
            <a:outerShdw sx="100000" sy="100000" kx="0" ky="0" algn="bl" rotWithShape="0" blurRad="127000" dist="38100" dir="5400000">
              <a:srgbClr val="000000">
                <a:alpha val="40000"/>
              </a:srgbClr>
            </a:outerShdw>
          </a:effectLst>
        </p:spPr>
      </p:sp>
      <p:sp>
        <p:nvSpPr>
          <p:cNvPr id="31" name="Text 29"/>
          <p:cNvSpPr/>
          <p:nvPr/>
        </p:nvSpPr>
        <p:spPr>
          <a:xfrm>
            <a:off x="777240" y="5669280"/>
            <a:ext cx="10698480" cy="621792"/>
          </a:xfrm>
          <a:prstGeom prst="rect">
            <a:avLst/>
          </a:prstGeom>
          <a:noFill/>
          <a:ln/>
        </p:spPr>
        <p:txBody>
          <a:bodyPr wrap="square" lIns="0" tIns="0" rIns="0" bIns="0" rtlCol="0" anchor="ctr"/>
          <a:lstStyle/>
          <a:p>
            <a:pPr indent="0" marL="0">
              <a:buNone/>
            </a:pPr>
            <a:r>
              <a:rPr lang="en-US" sz="1700" b="1" dirty="0">
                <a:solidFill>
                  <a:srgbClr val="E2C28A"/>
                </a:solidFill>
                <a:latin typeface="Calibri" pitchFamily="34" charset="0"/>
                <a:ea typeface="Calibri" pitchFamily="34" charset="-122"/>
                <a:cs typeface="Calibri" pitchFamily="34" charset="-120"/>
              </a:rPr>
              <a:t>Not yet: real users, and messages from people's own phones.  </a:t>
            </a:r>
            <a:pPr indent="0" marL="0">
              <a:buNone/>
            </a:pPr>
            <a:r>
              <a:rPr lang="en-US" sz="1700" dirty="0">
                <a:solidFill>
                  <a:srgbClr val="F5F5F7"/>
                </a:solidFill>
                <a:latin typeface="Calibri" pitchFamily="34" charset="0"/>
                <a:ea typeface="Calibri" pitchFamily="34" charset="-122"/>
                <a:cs typeface="Calibri" pitchFamily="34" charset="-120"/>
              </a:rPr>
              <a:t>Next: a field morning at a CSC.</a:t>
            </a:r>
            <a:endParaRPr lang="en-US" sz="1700" dirty="0"/>
          </a:p>
        </p:txBody>
      </p:sp>
      <p:sp>
        <p:nvSpPr>
          <p:cNvPr id="32" name="Text 30"/>
          <p:cNvSpPr/>
          <p:nvPr/>
        </p:nvSpPr>
        <p:spPr>
          <a:xfrm>
            <a:off x="548640" y="6382512"/>
            <a:ext cx="11064240" cy="347472"/>
          </a:xfrm>
          <a:prstGeom prst="rect">
            <a:avLst/>
          </a:prstGeom>
          <a:noFill/>
          <a:ln/>
        </p:spPr>
        <p:txBody>
          <a:bodyPr wrap="square" lIns="0" tIns="0" rIns="0" bIns="0" rtlCol="0" anchor="t"/>
          <a:lstStyle/>
          <a:p>
            <a:pPr indent="0" marL="0">
              <a:buNone/>
            </a:pPr>
            <a:r>
              <a:rPr lang="en-US" sz="1200" dirty="0">
                <a:solidFill>
                  <a:srgbClr val="7E7E84"/>
                </a:solidFill>
                <a:latin typeface="Calibri" pitchFamily="34" charset="0"/>
                <a:ea typeface="Calibri" pitchFamily="34" charset="-122"/>
                <a:cs typeface="Calibri" pitchFamily="34" charset="-120"/>
              </a:rPr>
              <a:t>Sources: bench/results/public_v0.md, redteam_v1_blind.md, scambench_v0_test.md, llm_baseline.md, stress_v0.md. First runs; later fixes are logged, not counted here.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010"/>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933"/>
          </a:solidFill>
          <a:ln/>
        </p:spPr>
      </p:sp>
      <p:sp>
        <p:nvSpPr>
          <p:cNvPr id="3" name="Shape 1"/>
          <p:cNvSpPr/>
          <p:nvPr/>
        </p:nvSpPr>
        <p:spPr>
          <a:xfrm>
            <a:off x="11658600" y="384048"/>
            <a:ext cx="109728" cy="109728"/>
          </a:xfrm>
          <a:prstGeom prst="ellipse">
            <a:avLst/>
          </a:prstGeom>
          <a:solidFill>
            <a:srgbClr val="FFFFFF"/>
          </a:solidFill>
          <a:ln/>
        </p:spPr>
      </p:sp>
      <p:sp>
        <p:nvSpPr>
          <p:cNvPr id="4" name="Shape 2"/>
          <p:cNvSpPr/>
          <p:nvPr/>
        </p:nvSpPr>
        <p:spPr>
          <a:xfrm>
            <a:off x="11841480" y="384048"/>
            <a:ext cx="109728" cy="109728"/>
          </a:xfrm>
          <a:prstGeom prst="ellipse">
            <a:avLst/>
          </a:prstGeom>
          <a:solidFill>
            <a:srgbClr val="138808"/>
          </a:solidFill>
          <a:ln/>
        </p:spPr>
      </p:sp>
      <p:sp>
        <p:nvSpPr>
          <p:cNvPr id="5" name="Shape 3"/>
          <p:cNvSpPr/>
          <p:nvPr/>
        </p:nvSpPr>
        <p:spPr>
          <a:xfrm>
            <a:off x="566928" y="603504"/>
            <a:ext cx="137160" cy="137160"/>
          </a:xfrm>
          <a:prstGeom prst="ellipse">
            <a:avLst/>
          </a:prstGeom>
          <a:solidFill>
            <a:srgbClr val="6FA8FF"/>
          </a:solidFill>
          <a:ln/>
        </p:spPr>
      </p:sp>
      <p:sp>
        <p:nvSpPr>
          <p:cNvPr id="6" name="Text 4"/>
          <p:cNvSpPr/>
          <p:nvPr/>
        </p:nvSpPr>
        <p:spPr>
          <a:xfrm>
            <a:off x="795528" y="457200"/>
            <a:ext cx="10424160" cy="429768"/>
          </a:xfrm>
          <a:prstGeom prst="rect">
            <a:avLst/>
          </a:prstGeom>
          <a:noFill/>
          <a:ln/>
        </p:spPr>
        <p:txBody>
          <a:bodyPr wrap="square" lIns="0" tIns="0" rIns="0" bIns="0" rtlCol="0" anchor="ctr"/>
          <a:lstStyle/>
          <a:p>
            <a:pPr indent="0" marL="0">
              <a:buNone/>
            </a:pPr>
            <a:r>
              <a:rPr lang="en-US" sz="1500" b="1" spc="200" kern="0" dirty="0">
                <a:solidFill>
                  <a:srgbClr val="6FA8FF"/>
                </a:solidFill>
                <a:latin typeface="Arial" pitchFamily="34" charset="0"/>
                <a:ea typeface="Arial" pitchFamily="34" charset="-122"/>
                <a:cs typeface="Arial" pitchFamily="34" charset="-120"/>
              </a:rPr>
              <a:t>HEALTH FIRST · IMPACT · WHO PAYS</a:t>
            </a:r>
            <a:endParaRPr lang="en-US" sz="1500" dirty="0"/>
          </a:p>
        </p:txBody>
      </p:sp>
      <p:sp>
        <p:nvSpPr>
          <p:cNvPr id="7" name="Text 5"/>
          <p:cNvSpPr/>
          <p:nvPr/>
        </p:nvSpPr>
        <p:spPr>
          <a:xfrm>
            <a:off x="548640" y="896112"/>
            <a:ext cx="11064240" cy="868680"/>
          </a:xfrm>
          <a:prstGeom prst="rect">
            <a:avLst/>
          </a:prstGeom>
          <a:noFill/>
          <a:ln/>
        </p:spPr>
        <p:txBody>
          <a:bodyPr wrap="square" lIns="0" tIns="0" rIns="0" bIns="0" rtlCol="0" anchor="ctr"/>
          <a:lstStyle/>
          <a:p>
            <a:pPr indent="0" marL="0">
              <a:buNone/>
            </a:pPr>
            <a:r>
              <a:rPr lang="en-US" sz="3200" b="1" dirty="0">
                <a:solidFill>
                  <a:srgbClr val="F5F5F7"/>
                </a:solidFill>
                <a:latin typeface="Arial" pitchFamily="34" charset="0"/>
                <a:ea typeface="Arial" pitchFamily="34" charset="-122"/>
                <a:cs typeface="Arial" pitchFamily="34" charset="-120"/>
              </a:rPr>
              <a:t>Health first, counted every month, and who pays</a:t>
            </a:r>
            <a:endParaRPr lang="en-US" sz="3200" dirty="0"/>
          </a:p>
        </p:txBody>
      </p:sp>
      <p:sp>
        <p:nvSpPr>
          <p:cNvPr id="8" name="Shape 6"/>
          <p:cNvSpPr/>
          <p:nvPr/>
        </p:nvSpPr>
        <p:spPr>
          <a:xfrm>
            <a:off x="548640" y="1828800"/>
            <a:ext cx="3520440" cy="4434840"/>
          </a:xfrm>
          <a:prstGeom prst="roundRect">
            <a:avLst>
              <a:gd name="adj" fmla="val 2597"/>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22960" y="2011680"/>
            <a:ext cx="3017520" cy="457200"/>
          </a:xfrm>
          <a:prstGeom prst="rect">
            <a:avLst/>
          </a:prstGeom>
          <a:noFill/>
          <a:ln/>
        </p:spPr>
        <p:txBody>
          <a:bodyPr wrap="square" lIns="0" tIns="0" rIns="0" bIns="0" rtlCol="0" anchor="t"/>
          <a:lstStyle/>
          <a:p>
            <a:pPr indent="0" marL="0">
              <a:buNone/>
            </a:pPr>
            <a:r>
              <a:rPr lang="en-US" sz="2100" b="1" dirty="0">
                <a:solidFill>
                  <a:srgbClr val="6FA8FF"/>
                </a:solidFill>
                <a:latin typeface="Arial" pitchFamily="34" charset="0"/>
                <a:ea typeface="Arial" pitchFamily="34" charset="-122"/>
                <a:cs typeface="Arial" pitchFamily="34" charset="-120"/>
              </a:rPr>
              <a:t>Health first</a:t>
            </a:r>
            <a:endParaRPr lang="en-US" sz="2100" dirty="0"/>
          </a:p>
        </p:txBody>
      </p:sp>
      <p:sp>
        <p:nvSpPr>
          <p:cNvPr id="10" name="Shape 8"/>
          <p:cNvSpPr/>
          <p:nvPr/>
        </p:nvSpPr>
        <p:spPr>
          <a:xfrm>
            <a:off x="4315968" y="1828800"/>
            <a:ext cx="3520440" cy="4434840"/>
          </a:xfrm>
          <a:prstGeom prst="roundRect">
            <a:avLst>
              <a:gd name="adj" fmla="val 2597"/>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11" name="Text 9"/>
          <p:cNvSpPr/>
          <p:nvPr/>
        </p:nvSpPr>
        <p:spPr>
          <a:xfrm>
            <a:off x="4590288" y="2011680"/>
            <a:ext cx="3017520" cy="457200"/>
          </a:xfrm>
          <a:prstGeom prst="rect">
            <a:avLst/>
          </a:prstGeom>
          <a:noFill/>
          <a:ln/>
        </p:spPr>
        <p:txBody>
          <a:bodyPr wrap="square" lIns="0" tIns="0" rIns="0" bIns="0" rtlCol="0" anchor="t"/>
          <a:lstStyle/>
          <a:p>
            <a:pPr indent="0" marL="0">
              <a:buNone/>
            </a:pPr>
            <a:r>
              <a:rPr lang="en-US" sz="2100" b="1" dirty="0">
                <a:solidFill>
                  <a:srgbClr val="4FD68A"/>
                </a:solidFill>
                <a:latin typeface="Arial" pitchFamily="34" charset="0"/>
                <a:ea typeface="Arial" pitchFamily="34" charset="-122"/>
                <a:cs typeface="Arial" pitchFamily="34" charset="-120"/>
              </a:rPr>
              <a:t>Counted every month</a:t>
            </a:r>
            <a:endParaRPr lang="en-US" sz="2100" dirty="0"/>
          </a:p>
        </p:txBody>
      </p:sp>
      <p:sp>
        <p:nvSpPr>
          <p:cNvPr id="12" name="Shape 10"/>
          <p:cNvSpPr/>
          <p:nvPr/>
        </p:nvSpPr>
        <p:spPr>
          <a:xfrm>
            <a:off x="8083296" y="1828800"/>
            <a:ext cx="3520440" cy="4434840"/>
          </a:xfrm>
          <a:prstGeom prst="roundRect">
            <a:avLst>
              <a:gd name="adj" fmla="val 2597"/>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13" name="Text 11"/>
          <p:cNvSpPr/>
          <p:nvPr/>
        </p:nvSpPr>
        <p:spPr>
          <a:xfrm>
            <a:off x="8357616" y="2011680"/>
            <a:ext cx="3017520" cy="457200"/>
          </a:xfrm>
          <a:prstGeom prst="rect">
            <a:avLst/>
          </a:prstGeom>
          <a:noFill/>
          <a:ln/>
        </p:spPr>
        <p:txBody>
          <a:bodyPr wrap="square" lIns="0" tIns="0" rIns="0" bIns="0" rtlCol="0" anchor="t"/>
          <a:lstStyle/>
          <a:p>
            <a:pPr indent="0" marL="0">
              <a:buNone/>
            </a:pPr>
            <a:r>
              <a:rPr lang="en-US" sz="2100" b="1" dirty="0">
                <a:solidFill>
                  <a:srgbClr val="E2C28A"/>
                </a:solidFill>
                <a:latin typeface="Arial" pitchFamily="34" charset="0"/>
                <a:ea typeface="Arial" pitchFamily="34" charset="-122"/>
                <a:cs typeface="Arial" pitchFamily="34" charset="-120"/>
              </a:rPr>
              <a:t>Who pays</a:t>
            </a:r>
            <a:endParaRPr lang="en-US" sz="2100" dirty="0"/>
          </a:p>
        </p:txBody>
      </p:sp>
      <p:sp>
        <p:nvSpPr>
          <p:cNvPr id="14" name="Text 12"/>
          <p:cNvSpPr/>
          <p:nvPr/>
        </p:nvSpPr>
        <p:spPr>
          <a:xfrm>
            <a:off x="822960" y="2487168"/>
            <a:ext cx="3017520" cy="914400"/>
          </a:xfrm>
          <a:prstGeom prst="rect">
            <a:avLst/>
          </a:prstGeom>
          <a:noFill/>
          <a:ln/>
        </p:spPr>
        <p:txBody>
          <a:bodyPr wrap="square" lIns="0" tIns="0" rIns="0" bIns="0" rtlCol="0" anchor="t"/>
          <a:lstStyle/>
          <a:p>
            <a:pPr indent="0" marL="0">
              <a:buNone/>
            </a:pPr>
            <a:r>
              <a:rPr lang="en-US" sz="3400" b="1" dirty="0">
                <a:solidFill>
                  <a:srgbClr val="E2C28A"/>
                </a:solidFill>
                <a:latin typeface="Arial" pitchFamily="34" charset="0"/>
                <a:ea typeface="Arial" pitchFamily="34" charset="-122"/>
                <a:cs typeface="Arial" pitchFamily="34" charset="-120"/>
              </a:rPr>
              <a:t>1.1 crore</a:t>
            </a:r>
            <a:endParaRPr lang="en-US" sz="3400" dirty="0"/>
          </a:p>
          <a:p>
            <a:pPr indent="0" marL="0">
              <a:buNone/>
            </a:pPr>
            <a:r>
              <a:rPr lang="en-US" sz="2000" b="1" dirty="0">
                <a:solidFill>
                  <a:srgbClr val="E2C28A"/>
                </a:solidFill>
                <a:latin typeface="Arial" pitchFamily="34" charset="0"/>
                <a:ea typeface="Arial" pitchFamily="34" charset="-122"/>
                <a:cs typeface="Arial" pitchFamily="34" charset="-120"/>
              </a:rPr>
              <a:t>of ~6 crore</a:t>
            </a:r>
            <a:endParaRPr lang="en-US" sz="3400" dirty="0"/>
          </a:p>
        </p:txBody>
      </p:sp>
      <p:sp>
        <p:nvSpPr>
          <p:cNvPr id="15" name="Text 13"/>
          <p:cNvSpPr/>
          <p:nvPr/>
        </p:nvSpPr>
        <p:spPr>
          <a:xfrm>
            <a:off x="822960" y="3429000"/>
            <a:ext cx="3017520" cy="731520"/>
          </a:xfrm>
          <a:prstGeom prst="rect">
            <a:avLst/>
          </a:prstGeom>
          <a:noFill/>
          <a:ln/>
        </p:spPr>
        <p:txBody>
          <a:bodyPr wrap="square" lIns="0" tIns="0" rIns="0" bIns="0" rtlCol="0" anchor="t"/>
          <a:lstStyle/>
          <a:p>
            <a:pPr indent="0" marL="0">
              <a:buNone/>
            </a:pPr>
            <a:r>
              <a:rPr lang="en-US" sz="1600" dirty="0">
                <a:solidFill>
                  <a:srgbClr val="F5F5F7"/>
                </a:solidFill>
                <a:latin typeface="Calibri" pitchFamily="34" charset="0"/>
                <a:ea typeface="Calibri" pitchFamily="34" charset="-122"/>
                <a:cs typeface="Calibri" pitchFamily="34" charset="-120"/>
              </a:rPr>
              <a:t>seniors aged 70+ had their Ayushman Vay Vandana card by Feb 2026</a:t>
            </a:r>
            <a:endParaRPr lang="en-US" sz="1600" dirty="0"/>
          </a:p>
        </p:txBody>
      </p:sp>
      <p:sp>
        <p:nvSpPr>
          <p:cNvPr id="16" name="Text 14"/>
          <p:cNvSpPr/>
          <p:nvPr/>
        </p:nvSpPr>
        <p:spPr>
          <a:xfrm>
            <a:off x="822960" y="4251960"/>
            <a:ext cx="3017520" cy="1874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B4B4B8"/>
                </a:solidFill>
                <a:latin typeface="Calibri" pitchFamily="34" charset="0"/>
                <a:ea typeface="Calibri" pitchFamily="34" charset="-122"/>
                <a:cs typeface="Calibri" pitchFamily="34" charset="-120"/>
              </a:rPr>
              <a:t>For anyone 70+, results lead with it: hospital care up to ₹5 lakh a year, shared with a 70+ spouse; not OPD.</a:t>
            </a:r>
            <a:endParaRPr lang="en-US" sz="1500" dirty="0"/>
          </a:p>
          <a:p>
            <a:pPr marL="342900" indent="-342900">
              <a:spcAft>
                <a:spcPts val="600"/>
              </a:spcAft>
              <a:buSzPct val="100000"/>
              <a:buChar char="•"/>
            </a:pPr>
            <a:r>
              <a:rPr lang="en-US" sz="1500" dirty="0">
                <a:solidFill>
                  <a:srgbClr val="B4B4B8"/>
                </a:solidFill>
                <a:latin typeface="Calibri" pitchFamily="34" charset="0"/>
                <a:ea typeface="Calibri" pitchFamily="34" charset="-122"/>
                <a:cs typeface="Calibri" pitchFamily="34" charset="-120"/>
              </a:rPr>
              <a:t>The CSC makes the card, free. The scam check flags “pay ₹500 for your card”.</a:t>
            </a:r>
            <a:endParaRPr lang="en-US" sz="1500" dirty="0"/>
          </a:p>
        </p:txBody>
      </p:sp>
      <p:sp>
        <p:nvSpPr>
          <p:cNvPr id="17" name="Text 15"/>
          <p:cNvSpPr/>
          <p:nvPr/>
        </p:nvSpPr>
        <p:spPr>
          <a:xfrm>
            <a:off x="4590288" y="2487168"/>
            <a:ext cx="3017520" cy="502920"/>
          </a:xfrm>
          <a:prstGeom prst="rect">
            <a:avLst/>
          </a:prstGeom>
          <a:noFill/>
          <a:ln/>
        </p:spPr>
        <p:txBody>
          <a:bodyPr wrap="square" lIns="0" tIns="0" rIns="0" bIns="0" rtlCol="0" anchor="t"/>
          <a:lstStyle/>
          <a:p>
            <a:pPr indent="0" marL="0">
              <a:buNone/>
            </a:pPr>
            <a:r>
              <a:rPr lang="en-US" sz="1600" dirty="0">
                <a:solidFill>
                  <a:srgbClr val="F5F5F7"/>
                </a:solidFill>
                <a:latin typeface="Calibri" pitchFamily="34" charset="0"/>
                <a:ea typeface="Calibri" pitchFamily="34" charset="-122"/>
                <a:cs typeface="Calibri" pitchFamily="34" charset="-120"/>
              </a:rPr>
              <a:t>Counts only: never names, numbers or messages.</a:t>
            </a:r>
            <a:endParaRPr lang="en-US" sz="1600" dirty="0"/>
          </a:p>
        </p:txBody>
      </p:sp>
      <p:sp>
        <p:nvSpPr>
          <p:cNvPr id="18" name="Text 16"/>
          <p:cNvSpPr/>
          <p:nvPr/>
        </p:nvSpPr>
        <p:spPr>
          <a:xfrm>
            <a:off x="4590288" y="3063240"/>
            <a:ext cx="3017520" cy="2606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B4B4B8"/>
                </a:solidFill>
                <a:latin typeface="Calibri" pitchFamily="34" charset="0"/>
                <a:ea typeface="Calibri" pitchFamily="34" charset="-122"/>
                <a:cs typeface="Calibri" pitchFamily="34" charset="-120"/>
              </a:rPr>
              <a:t>Checks, and each verdict</a:t>
            </a:r>
            <a:endParaRPr lang="en-US" sz="1500" dirty="0"/>
          </a:p>
          <a:p>
            <a:pPr marL="342900" indent="-342900">
              <a:spcAft>
                <a:spcPts val="600"/>
              </a:spcAft>
              <a:buSzPct val="100000"/>
              <a:buChar char="•"/>
            </a:pPr>
            <a:r>
              <a:rPr lang="en-US" sz="1500" dirty="0">
                <a:solidFill>
                  <a:srgbClr val="B4B4B8"/>
                </a:solidFill>
                <a:latin typeface="Calibri" pitchFamily="34" charset="0"/>
                <a:ea typeface="Calibri" pitchFamily="34" charset="-122"/>
                <a:cs typeface="Calibri" pitchFamily="34" charset="-120"/>
              </a:rPr>
              <a:t>Rupees at risk: the money a scam asks for, never called “saved”</a:t>
            </a:r>
            <a:endParaRPr lang="en-US" sz="1500" dirty="0"/>
          </a:p>
          <a:p>
            <a:pPr marL="342900" indent="-342900">
              <a:spcAft>
                <a:spcPts val="600"/>
              </a:spcAft>
              <a:buSzPct val="100000"/>
              <a:buChar char="•"/>
            </a:pPr>
            <a:r>
              <a:rPr lang="en-US" sz="1500" dirty="0">
                <a:solidFill>
                  <a:srgbClr val="B4B4B8"/>
                </a:solidFill>
                <a:latin typeface="Calibri" pitchFamily="34" charset="0"/>
                <a:ea typeface="Calibri" pitchFamily="34" charset="-122"/>
                <a:cs typeface="Calibri" pitchFamily="34" charset="-120"/>
              </a:rPr>
              <a:t>People found eligible, by scheme</a:t>
            </a:r>
            <a:endParaRPr lang="en-US" sz="1500" dirty="0"/>
          </a:p>
          <a:p>
            <a:pPr marL="342900" indent="-342900">
              <a:spcAft>
                <a:spcPts val="600"/>
              </a:spcAft>
              <a:buSzPct val="100000"/>
              <a:buChar char="•"/>
            </a:pPr>
            <a:r>
              <a:rPr lang="en-US" sz="1500" dirty="0">
                <a:solidFill>
                  <a:srgbClr val="B4B4B8"/>
                </a:solidFill>
                <a:latin typeface="Calibri" pitchFamily="34" charset="0"/>
                <a:ea typeface="Calibri" pitchFamily="34" charset="-122"/>
                <a:cs typeface="Calibri" pitchFamily="34" charset="-120"/>
              </a:rPr>
              <a:t>Cards made at the counter: the operator ticks each one</a:t>
            </a:r>
            <a:endParaRPr lang="en-US" sz="1500" dirty="0"/>
          </a:p>
          <a:p>
            <a:pPr marL="342900" indent="-342900">
              <a:spcAft>
                <a:spcPts val="600"/>
              </a:spcAft>
              <a:buSzPct val="100000"/>
              <a:buChar char="•"/>
            </a:pPr>
            <a:r>
              <a:rPr lang="en-US" sz="1500" dirty="0">
                <a:solidFill>
                  <a:srgbClr val="B4B4B8"/>
                </a:solidFill>
                <a:latin typeface="Calibri" pitchFamily="34" charset="0"/>
                <a:ea typeface="Calibri" pitchFamily="34" charset="-122"/>
                <a:cs typeface="Calibri" pitchFamily="34" charset="-120"/>
              </a:rPr>
              <a:t>A signed monthly export for the district; counts under 5 hidden</a:t>
            </a:r>
            <a:endParaRPr lang="en-US" sz="1500" dirty="0"/>
          </a:p>
        </p:txBody>
      </p:sp>
      <p:sp>
        <p:nvSpPr>
          <p:cNvPr id="19" name="Text 17"/>
          <p:cNvSpPr/>
          <p:nvPr/>
        </p:nvSpPr>
        <p:spPr>
          <a:xfrm>
            <a:off x="4590288" y="5760720"/>
            <a:ext cx="3017520" cy="365760"/>
          </a:xfrm>
          <a:prstGeom prst="rect">
            <a:avLst/>
          </a:prstGeom>
          <a:noFill/>
          <a:ln/>
        </p:spPr>
        <p:txBody>
          <a:bodyPr wrap="square" lIns="0" tIns="0" rIns="0" bIns="0" rtlCol="0" anchor="ctr"/>
          <a:lstStyle/>
          <a:p>
            <a:pPr indent="0" marL="0">
              <a:buNone/>
            </a:pPr>
            <a:r>
              <a:rPr lang="en-US" sz="1500" b="1" dirty="0">
                <a:solidFill>
                  <a:srgbClr val="E2C28A"/>
                </a:solidFill>
                <a:latin typeface="Calibri" pitchFamily="34" charset="0"/>
                <a:ea typeface="Calibri" pitchFamily="34" charset="-122"/>
                <a:cs typeface="Calibri" pitchFamily="34" charset="-120"/>
              </a:rPr>
              <a:t>Pilot measures, not results yet.</a:t>
            </a:r>
            <a:endParaRPr lang="en-US" sz="1500" dirty="0"/>
          </a:p>
        </p:txBody>
      </p:sp>
      <p:sp>
        <p:nvSpPr>
          <p:cNvPr id="20" name="Text 18"/>
          <p:cNvSpPr/>
          <p:nvPr/>
        </p:nvSpPr>
        <p:spPr>
          <a:xfrm>
            <a:off x="8357616" y="2487168"/>
            <a:ext cx="3017520" cy="566928"/>
          </a:xfrm>
          <a:prstGeom prst="rect">
            <a:avLst/>
          </a:prstGeom>
          <a:noFill/>
          <a:ln/>
        </p:spPr>
        <p:txBody>
          <a:bodyPr wrap="square" lIns="0" tIns="0" rIns="0" bIns="0" rtlCol="0" anchor="ctr"/>
          <a:lstStyle/>
          <a:p>
            <a:pPr indent="0" marL="0">
              <a:buNone/>
            </a:pPr>
            <a:r>
              <a:rPr lang="en-US" sz="3200" b="1" dirty="0">
                <a:solidFill>
                  <a:srgbClr val="F5F5F7"/>
                </a:solidFill>
                <a:latin typeface="Arial" pitchFamily="34" charset="0"/>
                <a:ea typeface="Arial" pitchFamily="34" charset="-122"/>
                <a:cs typeface="Arial" pitchFamily="34" charset="-120"/>
              </a:rPr>
              <a:t>₹39.23 lakh</a:t>
            </a:r>
            <a:endParaRPr lang="en-US" sz="3200" dirty="0"/>
          </a:p>
        </p:txBody>
      </p:sp>
      <p:sp>
        <p:nvSpPr>
          <p:cNvPr id="21" name="Text 19"/>
          <p:cNvSpPr/>
          <p:nvPr/>
        </p:nvSpPr>
        <p:spPr>
          <a:xfrm>
            <a:off x="8357616" y="3090672"/>
            <a:ext cx="3017520" cy="1051560"/>
          </a:xfrm>
          <a:prstGeom prst="rect">
            <a:avLst/>
          </a:prstGeom>
          <a:noFill/>
          <a:ln/>
        </p:spPr>
        <p:txBody>
          <a:bodyPr wrap="square" lIns="0" tIns="0" rIns="0" bIns="0" rtlCol="0" anchor="t"/>
          <a:lstStyle/>
          <a:p>
            <a:pPr indent="0" marL="0">
              <a:buNone/>
            </a:pPr>
            <a:r>
              <a:rPr lang="en-US" sz="1500" dirty="0">
                <a:solidFill>
                  <a:srgbClr val="B4B4B8"/>
                </a:solidFill>
                <a:latin typeface="Calibri" pitchFamily="34" charset="0"/>
                <a:ea typeface="Calibri" pitchFamily="34" charset="-122"/>
                <a:cs typeface="Calibri" pitchFamily="34" charset="-120"/>
              </a:rPr>
              <a:t>One district, 20 villages, 50 counters, 6 months. Estimates, not quotes (round 1 said ₹35–40 lakh). Line items in the appendix.</a:t>
            </a:r>
            <a:endParaRPr lang="en-US" sz="1500" dirty="0"/>
          </a:p>
        </p:txBody>
      </p:sp>
      <p:sp>
        <p:nvSpPr>
          <p:cNvPr id="22" name="Text 20"/>
          <p:cNvSpPr/>
          <p:nvPr/>
        </p:nvSpPr>
        <p:spPr>
          <a:xfrm>
            <a:off x="8357616" y="4206240"/>
            <a:ext cx="301752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5F5F7"/>
                </a:solidFill>
                <a:latin typeface="Calibri" pitchFamily="34" charset="0"/>
                <a:ea typeface="Calibri" pitchFamily="34" charset="-122"/>
                <a:cs typeface="Calibri" pitchFamily="34" charset="-120"/>
              </a:rPr>
              <a:t>At 500 counters: about ₹24,000 a counter a year. The operator's ₹9,600 is the biggest part.</a:t>
            </a:r>
            <a:endParaRPr lang="en-US" sz="1500" dirty="0"/>
          </a:p>
          <a:p>
            <a:pPr marL="342900" indent="-342900">
              <a:spcAft>
                <a:spcPts val="600"/>
              </a:spcAft>
              <a:buSzPct val="100000"/>
              <a:buChar char="•"/>
            </a:pPr>
            <a:r>
              <a:rPr lang="en-US" sz="1500" dirty="0">
                <a:solidFill>
                  <a:srgbClr val="F5F5F7"/>
                </a:solidFill>
                <a:latin typeface="Calibri" pitchFamily="34" charset="0"/>
                <a:ea typeface="Calibri" pitchFamily="34" charset="-122"/>
                <a:cs typeface="Calibri" pitchFamily="34" charset="-120"/>
              </a:rPr>
              <a:t>After month six: bank, health agency, literacy-centre NGOs, card fees. Hypotheses, not commitments.</a:t>
            </a:r>
            <a:endParaRPr lang="en-US" sz="1500" dirty="0"/>
          </a:p>
        </p:txBody>
      </p:sp>
      <p:sp>
        <p:nvSpPr>
          <p:cNvPr id="23" name="Text 21"/>
          <p:cNvSpPr/>
          <p:nvPr/>
        </p:nvSpPr>
        <p:spPr>
          <a:xfrm>
            <a:off x="548640" y="6382512"/>
            <a:ext cx="11064240" cy="347472"/>
          </a:xfrm>
          <a:prstGeom prst="rect">
            <a:avLst/>
          </a:prstGeom>
          <a:noFill/>
          <a:ln/>
        </p:spPr>
        <p:txBody>
          <a:bodyPr wrap="square" lIns="0" tIns="0" rIns="0" bIns="0" rtlCol="0" anchor="t"/>
          <a:lstStyle/>
          <a:p>
            <a:pPr indent="0" marL="0">
              <a:buNone/>
            </a:pPr>
            <a:r>
              <a:rPr lang="en-US" sz="1200" dirty="0">
                <a:solidFill>
                  <a:srgbClr val="7E7E84"/>
                </a:solidFill>
                <a:latin typeface="Calibri" pitchFamily="34" charset="0"/>
                <a:ea typeface="Calibri" pitchFamily="34" charset="-122"/>
                <a:cs typeface="Calibri" pitchFamily="34" charset="-120"/>
              </a:rPr>
              <a:t>Sources: MoHFW, Feb 2026; Cabinet, Sep 2024; NHA–CSC MoU, 2021; Ministry of Labour; budget: the team's line-item estimate, 7 Oct 2026 (appendix).</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010"/>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933"/>
          </a:solidFill>
          <a:ln/>
        </p:spPr>
      </p:sp>
      <p:sp>
        <p:nvSpPr>
          <p:cNvPr id="3" name="Shape 1"/>
          <p:cNvSpPr/>
          <p:nvPr/>
        </p:nvSpPr>
        <p:spPr>
          <a:xfrm>
            <a:off x="11658600" y="384048"/>
            <a:ext cx="109728" cy="109728"/>
          </a:xfrm>
          <a:prstGeom prst="ellipse">
            <a:avLst/>
          </a:prstGeom>
          <a:solidFill>
            <a:srgbClr val="FFFFFF"/>
          </a:solidFill>
          <a:ln/>
        </p:spPr>
      </p:sp>
      <p:sp>
        <p:nvSpPr>
          <p:cNvPr id="4" name="Shape 2"/>
          <p:cNvSpPr/>
          <p:nvPr/>
        </p:nvSpPr>
        <p:spPr>
          <a:xfrm>
            <a:off x="11841480" y="384048"/>
            <a:ext cx="109728" cy="109728"/>
          </a:xfrm>
          <a:prstGeom prst="ellipse">
            <a:avLst/>
          </a:prstGeom>
          <a:solidFill>
            <a:srgbClr val="138808"/>
          </a:solidFill>
          <a:ln/>
        </p:spPr>
      </p:sp>
      <p:sp>
        <p:nvSpPr>
          <p:cNvPr id="5" name="Shape 3"/>
          <p:cNvSpPr/>
          <p:nvPr/>
        </p:nvSpPr>
        <p:spPr>
          <a:xfrm>
            <a:off x="566928" y="603504"/>
            <a:ext cx="137160" cy="137160"/>
          </a:xfrm>
          <a:prstGeom prst="ellipse">
            <a:avLst/>
          </a:prstGeom>
          <a:solidFill>
            <a:srgbClr val="6FA8FF"/>
          </a:solidFill>
          <a:ln/>
        </p:spPr>
      </p:sp>
      <p:sp>
        <p:nvSpPr>
          <p:cNvPr id="6" name="Text 4"/>
          <p:cNvSpPr/>
          <p:nvPr/>
        </p:nvSpPr>
        <p:spPr>
          <a:xfrm>
            <a:off x="795528" y="457200"/>
            <a:ext cx="10424160" cy="429768"/>
          </a:xfrm>
          <a:prstGeom prst="rect">
            <a:avLst/>
          </a:prstGeom>
          <a:noFill/>
          <a:ln/>
        </p:spPr>
        <p:txBody>
          <a:bodyPr wrap="square" lIns="0" tIns="0" rIns="0" bIns="0" rtlCol="0" anchor="ctr"/>
          <a:lstStyle/>
          <a:p>
            <a:pPr indent="0" marL="0">
              <a:buNone/>
            </a:pPr>
            <a:r>
              <a:rPr lang="en-US" sz="1500" b="1" spc="200" kern="0" dirty="0">
                <a:solidFill>
                  <a:srgbClr val="6FA8FF"/>
                </a:solidFill>
                <a:latin typeface="Arial" pitchFamily="34" charset="0"/>
                <a:ea typeface="Arial" pitchFamily="34" charset="-122"/>
                <a:cs typeface="Arial" pitchFamily="34" charset="-120"/>
              </a:rPr>
              <a:t>THE ASK, AND THE NEXT 30 DAYS</a:t>
            </a:r>
            <a:endParaRPr lang="en-US" sz="1500" dirty="0"/>
          </a:p>
        </p:txBody>
      </p:sp>
      <p:sp>
        <p:nvSpPr>
          <p:cNvPr id="7" name="Text 5"/>
          <p:cNvSpPr/>
          <p:nvPr/>
        </p:nvSpPr>
        <p:spPr>
          <a:xfrm>
            <a:off x="548640" y="896112"/>
            <a:ext cx="11064240" cy="868680"/>
          </a:xfrm>
          <a:prstGeom prst="rect">
            <a:avLst/>
          </a:prstGeom>
          <a:noFill/>
          <a:ln/>
        </p:spPr>
        <p:txBody>
          <a:bodyPr wrap="square" lIns="0" tIns="0" rIns="0" bIns="0" rtlCol="0" anchor="ctr"/>
          <a:lstStyle/>
          <a:p>
            <a:pPr indent="0" marL="0">
              <a:buNone/>
            </a:pPr>
            <a:r>
              <a:rPr lang="en-US" sz="3200" b="1" dirty="0">
                <a:solidFill>
                  <a:srgbClr val="F5F5F7"/>
                </a:solidFill>
                <a:latin typeface="Arial" pitchFamily="34" charset="0"/>
                <a:ea typeface="Arial" pitchFamily="34" charset="-122"/>
                <a:cs typeface="Arial" pitchFamily="34" charset="-120"/>
              </a:rPr>
              <a:t>Our ask, and what we do next</a:t>
            </a:r>
            <a:endParaRPr lang="en-US" sz="3200" dirty="0"/>
          </a:p>
        </p:txBody>
      </p:sp>
      <p:sp>
        <p:nvSpPr>
          <p:cNvPr id="8" name="Shape 6"/>
          <p:cNvSpPr/>
          <p:nvPr/>
        </p:nvSpPr>
        <p:spPr>
          <a:xfrm>
            <a:off x="548640" y="1828800"/>
            <a:ext cx="6629400" cy="4389120"/>
          </a:xfrm>
          <a:prstGeom prst="roundRect">
            <a:avLst>
              <a:gd name="adj" fmla="val 2083"/>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22960" y="1965960"/>
            <a:ext cx="6126480" cy="411480"/>
          </a:xfrm>
          <a:prstGeom prst="rect">
            <a:avLst/>
          </a:prstGeom>
          <a:noFill/>
          <a:ln/>
        </p:spPr>
        <p:txBody>
          <a:bodyPr wrap="square" lIns="0" tIns="0" rIns="0" bIns="0" rtlCol="0" anchor="ctr"/>
          <a:lstStyle/>
          <a:p>
            <a:pPr indent="0" marL="0">
              <a:buNone/>
            </a:pPr>
            <a:r>
              <a:rPr lang="en-US" sz="2100" b="1" dirty="0">
                <a:solidFill>
                  <a:srgbClr val="6FA8FF"/>
                </a:solidFill>
                <a:latin typeface="Arial" pitchFamily="34" charset="0"/>
                <a:ea typeface="Arial" pitchFamily="34" charset="-122"/>
                <a:cs typeface="Arial" pitchFamily="34" charset="-120"/>
              </a:rPr>
              <a:t>Next 30 days</a:t>
            </a:r>
            <a:endParaRPr lang="en-US" sz="2100" dirty="0"/>
          </a:p>
        </p:txBody>
      </p:sp>
      <p:sp>
        <p:nvSpPr>
          <p:cNvPr id="10" name="Shape 8"/>
          <p:cNvSpPr/>
          <p:nvPr/>
        </p:nvSpPr>
        <p:spPr>
          <a:xfrm>
            <a:off x="804672" y="2532888"/>
            <a:ext cx="457200" cy="457200"/>
          </a:xfrm>
          <a:prstGeom prst="ellipse">
            <a:avLst/>
          </a:prstGeom>
          <a:solidFill>
            <a:srgbClr val="6FA8FF"/>
          </a:solidFill>
          <a:ln/>
        </p:spPr>
      </p:sp>
      <p:sp>
        <p:nvSpPr>
          <p:cNvPr id="11" name="Text 9"/>
          <p:cNvSpPr/>
          <p:nvPr/>
        </p:nvSpPr>
        <p:spPr>
          <a:xfrm>
            <a:off x="804672" y="2532888"/>
            <a:ext cx="457200" cy="457200"/>
          </a:xfrm>
          <a:prstGeom prst="rect">
            <a:avLst/>
          </a:prstGeom>
          <a:noFill/>
          <a:ln/>
        </p:spPr>
        <p:txBody>
          <a:bodyPr wrap="square" lIns="0" tIns="0" rIns="0" bIns="0" rtlCol="0" anchor="ctr"/>
          <a:lstStyle/>
          <a:p>
            <a:pPr algn="ctr" indent="0" marL="0">
              <a:buNone/>
            </a:pPr>
            <a:r>
              <a:rPr lang="en-US" sz="1800" b="1" dirty="0">
                <a:solidFill>
                  <a:srgbClr val="101010"/>
                </a:solidFill>
                <a:latin typeface="Arial" pitchFamily="34" charset="0"/>
                <a:ea typeface="Arial" pitchFamily="34" charset="-122"/>
                <a:cs typeface="Arial" pitchFamily="34" charset="-120"/>
              </a:rPr>
              <a:t>1</a:t>
            </a:r>
            <a:endParaRPr lang="en-US" sz="1800" dirty="0"/>
          </a:p>
        </p:txBody>
      </p:sp>
      <p:sp>
        <p:nvSpPr>
          <p:cNvPr id="12" name="Text 10"/>
          <p:cNvSpPr/>
          <p:nvPr/>
        </p:nvSpPr>
        <p:spPr>
          <a:xfrm>
            <a:off x="1463040" y="2514600"/>
            <a:ext cx="5532120" cy="384048"/>
          </a:xfrm>
          <a:prstGeom prst="rect">
            <a:avLst/>
          </a:prstGeom>
          <a:noFill/>
          <a:ln/>
        </p:spPr>
        <p:txBody>
          <a:bodyPr wrap="square" lIns="0" tIns="0" rIns="0" bIns="0" rtlCol="0" anchor="ctr"/>
          <a:lstStyle/>
          <a:p>
            <a:pPr indent="0" marL="0">
              <a:buNone/>
            </a:pPr>
            <a:r>
              <a:rPr lang="en-US" sz="1900" b="1" dirty="0">
                <a:solidFill>
                  <a:srgbClr val="F5F5F7"/>
                </a:solidFill>
                <a:latin typeface="Arial" pitchFamily="34" charset="0"/>
                <a:ea typeface="Arial" pitchFamily="34" charset="-122"/>
                <a:cs typeface="Arial" pitchFamily="34" charset="-120"/>
              </a:rPr>
              <a:t>A field morning at a CSC</a:t>
            </a:r>
            <a:endParaRPr lang="en-US" sz="1900" dirty="0"/>
          </a:p>
        </p:txBody>
      </p:sp>
      <p:sp>
        <p:nvSpPr>
          <p:cNvPr id="13" name="Text 11"/>
          <p:cNvSpPr/>
          <p:nvPr/>
        </p:nvSpPr>
        <p:spPr>
          <a:xfrm>
            <a:off x="1463040" y="2916936"/>
            <a:ext cx="5532120" cy="749808"/>
          </a:xfrm>
          <a:prstGeom prst="rect">
            <a:avLst/>
          </a:prstGeom>
          <a:noFill/>
          <a:ln/>
        </p:spPr>
        <p:txBody>
          <a:bodyPr wrap="square" lIns="0" tIns="0" rIns="0" bIns="0" rtlCol="0" anchor="t"/>
          <a:lstStyle/>
          <a:p>
            <a:pPr indent="0" marL="0">
              <a:buNone/>
            </a:pPr>
            <a:r>
              <a:rPr lang="en-US" sz="1500" dirty="0">
                <a:solidFill>
                  <a:srgbClr val="B4B4B8"/>
                </a:solidFill>
                <a:latin typeface="Calibri" pitchFamily="34" charset="0"/>
                <a:ea typeface="Calibri" pitchFamily="34" charset="-122"/>
                <a:cs typeface="Calibri" pitchFamily="34" charset="-120"/>
              </a:rPr>
              <a:t>One morning, with consent: message cards before and after, the benefits interview, the operator's timing. Protocol, consent forms and scoring are ready.</a:t>
            </a:r>
            <a:endParaRPr lang="en-US" sz="1500" dirty="0"/>
          </a:p>
        </p:txBody>
      </p:sp>
      <p:sp>
        <p:nvSpPr>
          <p:cNvPr id="14" name="Shape 12"/>
          <p:cNvSpPr/>
          <p:nvPr/>
        </p:nvSpPr>
        <p:spPr>
          <a:xfrm>
            <a:off x="804672" y="3749040"/>
            <a:ext cx="457200" cy="457200"/>
          </a:xfrm>
          <a:prstGeom prst="ellipse">
            <a:avLst/>
          </a:prstGeom>
          <a:solidFill>
            <a:srgbClr val="6FA8FF"/>
          </a:solidFill>
          <a:ln/>
        </p:spPr>
      </p:sp>
      <p:sp>
        <p:nvSpPr>
          <p:cNvPr id="15" name="Text 13"/>
          <p:cNvSpPr/>
          <p:nvPr/>
        </p:nvSpPr>
        <p:spPr>
          <a:xfrm>
            <a:off x="804672" y="3749040"/>
            <a:ext cx="457200" cy="457200"/>
          </a:xfrm>
          <a:prstGeom prst="rect">
            <a:avLst/>
          </a:prstGeom>
          <a:noFill/>
          <a:ln/>
        </p:spPr>
        <p:txBody>
          <a:bodyPr wrap="square" lIns="0" tIns="0" rIns="0" bIns="0" rtlCol="0" anchor="ctr"/>
          <a:lstStyle/>
          <a:p>
            <a:pPr algn="ctr" indent="0" marL="0">
              <a:buNone/>
            </a:pPr>
            <a:r>
              <a:rPr lang="en-US" sz="1800" b="1" dirty="0">
                <a:solidFill>
                  <a:srgbClr val="101010"/>
                </a:solidFill>
                <a:latin typeface="Arial" pitchFamily="34" charset="0"/>
                <a:ea typeface="Arial" pitchFamily="34" charset="-122"/>
                <a:cs typeface="Arial" pitchFamily="34" charset="-120"/>
              </a:rPr>
              <a:t>2</a:t>
            </a:r>
            <a:endParaRPr lang="en-US" sz="1800" dirty="0"/>
          </a:p>
        </p:txBody>
      </p:sp>
      <p:sp>
        <p:nvSpPr>
          <p:cNvPr id="16" name="Text 14"/>
          <p:cNvSpPr/>
          <p:nvPr/>
        </p:nvSpPr>
        <p:spPr>
          <a:xfrm>
            <a:off x="1463040" y="3730752"/>
            <a:ext cx="5532120" cy="384048"/>
          </a:xfrm>
          <a:prstGeom prst="rect">
            <a:avLst/>
          </a:prstGeom>
          <a:noFill/>
          <a:ln/>
        </p:spPr>
        <p:txBody>
          <a:bodyPr wrap="square" lIns="0" tIns="0" rIns="0" bIns="0" rtlCol="0" anchor="ctr"/>
          <a:lstStyle/>
          <a:p>
            <a:pPr indent="0" marL="0">
              <a:buNone/>
            </a:pPr>
            <a:r>
              <a:rPr lang="en-US" sz="1900" b="1" dirty="0">
                <a:solidFill>
                  <a:srgbClr val="F5F5F7"/>
                </a:solidFill>
                <a:latin typeface="Arial" pitchFamily="34" charset="0"/>
                <a:ea typeface="Arial" pitchFamily="34" charset="-122"/>
                <a:cs typeface="Arial" pitchFamily="34" charset="-120"/>
              </a:rPr>
              <a:t>Messages from people's own phones</a:t>
            </a:r>
            <a:endParaRPr lang="en-US" sz="1900" dirty="0"/>
          </a:p>
        </p:txBody>
      </p:sp>
      <p:sp>
        <p:nvSpPr>
          <p:cNvPr id="17" name="Text 15"/>
          <p:cNvSpPr/>
          <p:nvPr/>
        </p:nvSpPr>
        <p:spPr>
          <a:xfrm>
            <a:off x="1463040" y="4133088"/>
            <a:ext cx="5532120" cy="749808"/>
          </a:xfrm>
          <a:prstGeom prst="rect">
            <a:avLst/>
          </a:prstGeom>
          <a:noFill/>
          <a:ln/>
        </p:spPr>
        <p:txBody>
          <a:bodyPr wrap="square" lIns="0" tIns="0" rIns="0" bIns="0" rtlCol="0" anchor="t"/>
          <a:lstStyle/>
          <a:p>
            <a:pPr indent="0" marL="0">
              <a:buNone/>
            </a:pPr>
            <a:r>
              <a:rPr lang="en-US" sz="1500" dirty="0">
                <a:solidFill>
                  <a:srgbClr val="B4B4B8"/>
                </a:solidFill>
                <a:latin typeface="Calibri" pitchFamily="34" charset="0"/>
                <a:ea typeface="Calibri" pitchFamily="34" charset="-122"/>
                <a:cs typeface="Calibri" pitchFamily="34" charset="-120"/>
              </a:rPr>
              <a:t>Real scam and genuine messages, collected with consent, scored once on a frozen pack, every miss shown.</a:t>
            </a:r>
            <a:endParaRPr lang="en-US" sz="1500" dirty="0"/>
          </a:p>
        </p:txBody>
      </p:sp>
      <p:sp>
        <p:nvSpPr>
          <p:cNvPr id="18" name="Shape 16"/>
          <p:cNvSpPr/>
          <p:nvPr/>
        </p:nvSpPr>
        <p:spPr>
          <a:xfrm>
            <a:off x="804672" y="4965192"/>
            <a:ext cx="457200" cy="457200"/>
          </a:xfrm>
          <a:prstGeom prst="ellipse">
            <a:avLst/>
          </a:prstGeom>
          <a:solidFill>
            <a:srgbClr val="6FA8FF"/>
          </a:solidFill>
          <a:ln/>
        </p:spPr>
      </p:sp>
      <p:sp>
        <p:nvSpPr>
          <p:cNvPr id="19" name="Text 17"/>
          <p:cNvSpPr/>
          <p:nvPr/>
        </p:nvSpPr>
        <p:spPr>
          <a:xfrm>
            <a:off x="804672" y="4965192"/>
            <a:ext cx="457200" cy="457200"/>
          </a:xfrm>
          <a:prstGeom prst="rect">
            <a:avLst/>
          </a:prstGeom>
          <a:noFill/>
          <a:ln/>
        </p:spPr>
        <p:txBody>
          <a:bodyPr wrap="square" lIns="0" tIns="0" rIns="0" bIns="0" rtlCol="0" anchor="ctr"/>
          <a:lstStyle/>
          <a:p>
            <a:pPr algn="ctr" indent="0" marL="0">
              <a:buNone/>
            </a:pPr>
            <a:r>
              <a:rPr lang="en-US" sz="1800" b="1" dirty="0">
                <a:solidFill>
                  <a:srgbClr val="101010"/>
                </a:solidFill>
                <a:latin typeface="Arial" pitchFamily="34" charset="0"/>
                <a:ea typeface="Arial" pitchFamily="34" charset="-122"/>
                <a:cs typeface="Arial" pitchFamily="34" charset="-120"/>
              </a:rPr>
              <a:t>3</a:t>
            </a:r>
            <a:endParaRPr lang="en-US" sz="1800" dirty="0"/>
          </a:p>
        </p:txBody>
      </p:sp>
      <p:sp>
        <p:nvSpPr>
          <p:cNvPr id="20" name="Text 18"/>
          <p:cNvSpPr/>
          <p:nvPr/>
        </p:nvSpPr>
        <p:spPr>
          <a:xfrm>
            <a:off x="1463040" y="4946904"/>
            <a:ext cx="5532120" cy="384048"/>
          </a:xfrm>
          <a:prstGeom prst="rect">
            <a:avLst/>
          </a:prstGeom>
          <a:noFill/>
          <a:ln/>
        </p:spPr>
        <p:txBody>
          <a:bodyPr wrap="square" lIns="0" tIns="0" rIns="0" bIns="0" rtlCol="0" anchor="ctr"/>
          <a:lstStyle/>
          <a:p>
            <a:pPr indent="0" marL="0">
              <a:buNone/>
            </a:pPr>
            <a:r>
              <a:rPr lang="en-US" sz="1900" b="1" dirty="0">
                <a:solidFill>
                  <a:srgbClr val="F5F5F7"/>
                </a:solidFill>
                <a:latin typeface="Arial" pitchFamily="34" charset="0"/>
                <a:ea typeface="Arial" pitchFamily="34" charset="-122"/>
                <a:cs typeface="Arial" pitchFamily="34" charset="-120"/>
              </a:rPr>
              <a:t>A district partner</a:t>
            </a:r>
            <a:endParaRPr lang="en-US" sz="1900" dirty="0"/>
          </a:p>
        </p:txBody>
      </p:sp>
      <p:sp>
        <p:nvSpPr>
          <p:cNvPr id="21" name="Text 19"/>
          <p:cNvSpPr/>
          <p:nvPr/>
        </p:nvSpPr>
        <p:spPr>
          <a:xfrm>
            <a:off x="1463040" y="5349240"/>
            <a:ext cx="5532120" cy="749808"/>
          </a:xfrm>
          <a:prstGeom prst="rect">
            <a:avLst/>
          </a:prstGeom>
          <a:noFill/>
          <a:ln/>
        </p:spPr>
        <p:txBody>
          <a:bodyPr wrap="square" lIns="0" tIns="0" rIns="0" bIns="0" rtlCol="0" anchor="t"/>
          <a:lstStyle/>
          <a:p>
            <a:pPr indent="0" marL="0">
              <a:buNone/>
            </a:pPr>
            <a:r>
              <a:rPr lang="en-US" sz="1500" dirty="0">
                <a:solidFill>
                  <a:srgbClr val="B4B4B8"/>
                </a:solidFill>
                <a:latin typeface="Calibri" pitchFamily="34" charset="0"/>
                <a:ea typeface="Calibri" pitchFamily="34" charset="-122"/>
                <a:cs typeface="Calibri" pitchFamily="34" charset="-120"/>
              </a:rPr>
              <a:t>One district, with a CSC or bank-agent network and an NGO, for a 6-month pilot. Letter-of-intent templates are ready.</a:t>
            </a:r>
            <a:endParaRPr lang="en-US" sz="1500" dirty="0"/>
          </a:p>
        </p:txBody>
      </p:sp>
      <p:sp>
        <p:nvSpPr>
          <p:cNvPr id="22" name="Shape 20"/>
          <p:cNvSpPr/>
          <p:nvPr/>
        </p:nvSpPr>
        <p:spPr>
          <a:xfrm>
            <a:off x="7360920" y="1828800"/>
            <a:ext cx="4279392" cy="2240280"/>
          </a:xfrm>
          <a:prstGeom prst="roundRect">
            <a:avLst>
              <a:gd name="adj" fmla="val 4082"/>
            </a:avLst>
          </a:prstGeom>
          <a:solidFill>
            <a:srgbClr val="26262B"/>
          </a:solidFill>
          <a:ln w="19050">
            <a:solidFill>
              <a:srgbClr val="E2C28A"/>
            </a:solidFill>
            <a:prstDash val="solid"/>
          </a:ln>
          <a:effectLst>
            <a:outerShdw sx="100000" sy="100000" kx="0" ky="0" algn="bl" rotWithShape="0" blurRad="127000" dist="38100" dir="5400000">
              <a:srgbClr val="000000">
                <a:alpha val="40000"/>
              </a:srgbClr>
            </a:outerShdw>
          </a:effectLst>
        </p:spPr>
      </p:sp>
      <p:sp>
        <p:nvSpPr>
          <p:cNvPr id="23" name="Text 21"/>
          <p:cNvSpPr/>
          <p:nvPr/>
        </p:nvSpPr>
        <p:spPr>
          <a:xfrm>
            <a:off x="7616952" y="1956816"/>
            <a:ext cx="3840480" cy="320040"/>
          </a:xfrm>
          <a:prstGeom prst="rect">
            <a:avLst/>
          </a:prstGeom>
          <a:noFill/>
          <a:ln/>
        </p:spPr>
        <p:txBody>
          <a:bodyPr wrap="square" lIns="0" tIns="0" rIns="0" bIns="0" rtlCol="0" anchor="ctr"/>
          <a:lstStyle/>
          <a:p>
            <a:pPr indent="0" marL="0">
              <a:buNone/>
            </a:pPr>
            <a:r>
              <a:rPr lang="en-US" sz="1400" b="1" spc="200" kern="0" dirty="0">
                <a:solidFill>
                  <a:srgbClr val="E2C28A"/>
                </a:solidFill>
                <a:latin typeface="Arial" pitchFamily="34" charset="0"/>
                <a:ea typeface="Arial" pitchFamily="34" charset="-122"/>
                <a:cs typeface="Arial" pitchFamily="34" charset="-120"/>
              </a:rPr>
              <a:t>THE ASK</a:t>
            </a:r>
            <a:endParaRPr lang="en-US" sz="1400" dirty="0"/>
          </a:p>
        </p:txBody>
      </p:sp>
      <p:sp>
        <p:nvSpPr>
          <p:cNvPr id="24" name="Text 22"/>
          <p:cNvSpPr/>
          <p:nvPr/>
        </p:nvSpPr>
        <p:spPr>
          <a:xfrm>
            <a:off x="7616952" y="2304288"/>
            <a:ext cx="3840480" cy="1691640"/>
          </a:xfrm>
          <a:prstGeom prst="rect">
            <a:avLst/>
          </a:prstGeom>
          <a:noFill/>
          <a:ln/>
        </p:spPr>
        <p:txBody>
          <a:bodyPr wrap="square" lIns="0" tIns="0" rIns="0" bIns="0" rtlCol="0" anchor="t"/>
          <a:lstStyle/>
          <a:p>
            <a:pPr indent="0" marL="0">
              <a:buNone/>
            </a:pPr>
            <a:r>
              <a:rPr lang="en-US" sz="1900" dirty="0">
                <a:solidFill>
                  <a:srgbClr val="F5F5F7"/>
                </a:solidFill>
                <a:latin typeface="Calibri" pitchFamily="34" charset="0"/>
                <a:ea typeface="Calibri" pitchFamily="34" charset="-122"/>
                <a:cs typeface="Calibri" pitchFamily="34" charset="-120"/>
              </a:rPr>
              <a:t>Introduce us to one district: a CSC or bank-agent network, or a district office, to host the field morning and then a 6-month pilot.</a:t>
            </a:r>
            <a:endParaRPr lang="en-US" sz="1900" dirty="0"/>
          </a:p>
        </p:txBody>
      </p:sp>
      <p:sp>
        <p:nvSpPr>
          <p:cNvPr id="25" name="Shape 23"/>
          <p:cNvSpPr/>
          <p:nvPr/>
        </p:nvSpPr>
        <p:spPr>
          <a:xfrm>
            <a:off x="7360920" y="4206240"/>
            <a:ext cx="4279392" cy="2011680"/>
          </a:xfrm>
          <a:prstGeom prst="roundRect">
            <a:avLst>
              <a:gd name="adj" fmla="val 4545"/>
            </a:avLst>
          </a:prstGeom>
          <a:solidFill>
            <a:srgbClr val="1C1C20"/>
          </a:solidFill>
          <a:ln w="12700">
            <a:solidFill>
              <a:srgbClr val="34343A"/>
            </a:solidFill>
            <a:prstDash val="solid"/>
          </a:ln>
          <a:effectLst>
            <a:outerShdw sx="100000" sy="100000" kx="0" ky="0" algn="bl" rotWithShape="0" blurRad="127000" dist="38100" dir="5400000">
              <a:srgbClr val="000000">
                <a:alpha val="40000"/>
              </a:srgbClr>
            </a:outerShdw>
          </a:effectLst>
        </p:spPr>
      </p:sp>
      <p:sp>
        <p:nvSpPr>
          <p:cNvPr id="26" name="Text 24"/>
          <p:cNvSpPr/>
          <p:nvPr/>
        </p:nvSpPr>
        <p:spPr>
          <a:xfrm>
            <a:off x="7616952" y="4315968"/>
            <a:ext cx="2743200" cy="1810512"/>
          </a:xfrm>
          <a:prstGeom prst="rect">
            <a:avLst/>
          </a:prstGeom>
          <a:noFill/>
          <a:ln/>
        </p:spPr>
        <p:txBody>
          <a:bodyPr wrap="square" lIns="0" tIns="0" rIns="0" bIns="0" rtlCol="0" anchor="ctr"/>
          <a:lstStyle/>
          <a:p>
            <a:pPr indent="0" marL="0">
              <a:spcAft>
                <a:spcPts val="200"/>
              </a:spcAft>
              <a:buNone/>
            </a:pPr>
            <a:r>
              <a:rPr lang="en-US" sz="1800" b="1" dirty="0">
                <a:solidFill>
                  <a:srgbClr val="F5F5F7"/>
                </a:solidFill>
                <a:latin typeface="Arial" pitchFamily="34" charset="0"/>
                <a:ea typeface="Arial" pitchFamily="34" charset="-122"/>
                <a:cs typeface="Arial" pitchFamily="34" charset="-120"/>
              </a:rPr>
              <a:t>Roshan Raj</a:t>
            </a:r>
            <a:endParaRPr lang="en-US" sz="1800" dirty="0"/>
          </a:p>
          <a:p>
            <a:pPr indent="0" marL="0">
              <a:spcAft>
                <a:spcPts val="200"/>
              </a:spcAft>
              <a:buNone/>
            </a:pPr>
            <a:r>
              <a:rPr lang="en-US" sz="1400" dirty="0">
                <a:solidFill>
                  <a:srgbClr val="B4B4B8"/>
                </a:solidFill>
                <a:latin typeface="Calibri" pitchFamily="34" charset="0"/>
                <a:ea typeface="Calibri" pitchFamily="34" charset="-122"/>
                <a:cs typeface="Calibri" pitchFamily="34" charset="-120"/>
              </a:rPr>
              <a:t>Manipal Institute of Technology · pitches</a:t>
            </a:r>
            <a:endParaRPr lang="en-US" sz="1800" dirty="0"/>
          </a:p>
          <a:p>
            <a:pPr indent="0" marL="0">
              <a:spcAft>
                <a:spcPts val="200"/>
              </a:spcAft>
              <a:buNone/>
            </a:pPr>
            <a:r>
              <a:rPr lang="en-US" sz="1800" b="1" dirty="0">
                <a:solidFill>
                  <a:srgbClr val="F5F5F7"/>
                </a:solidFill>
                <a:latin typeface="Arial" pitchFamily="34" charset="0"/>
                <a:ea typeface="Arial" pitchFamily="34" charset="-122"/>
                <a:cs typeface="Arial" pitchFamily="34" charset="-120"/>
              </a:rPr>
              <a:t>Ishmiit Singh</a:t>
            </a:r>
            <a:endParaRPr lang="en-US" sz="1800" dirty="0"/>
          </a:p>
          <a:p>
            <a:pPr indent="0" marL="0">
              <a:spcAft>
                <a:spcPts val="200"/>
              </a:spcAft>
              <a:buNone/>
            </a:pPr>
            <a:r>
              <a:rPr lang="en-US" sz="1400" dirty="0">
                <a:solidFill>
                  <a:srgbClr val="B4B4B8"/>
                </a:solidFill>
                <a:latin typeface="Calibri" pitchFamily="34" charset="0"/>
                <a:ea typeface="Calibri" pitchFamily="34" charset="-122"/>
                <a:cs typeface="Calibri" pitchFamily="34" charset="-120"/>
              </a:rPr>
              <a:t>Co-builder of the prototype</a:t>
            </a:r>
            <a:endParaRPr lang="en-US" sz="1800" dirty="0"/>
          </a:p>
          <a:p>
            <a:pPr indent="0" marL="0">
              <a:spcAft>
                <a:spcPts val="200"/>
              </a:spcAft>
              <a:buNone/>
            </a:pPr>
            <a:r>
              <a:rPr lang="en-US" sz="1400" b="1" dirty="0">
                <a:solidFill>
                  <a:srgbClr val="E2C28A"/>
                </a:solidFill>
                <a:latin typeface="Calibri" pitchFamily="34" charset="0"/>
                <a:ea typeface="Calibri" pitchFamily="34" charset="-122"/>
                <a:cs typeface="Calibri" pitchFamily="34" charset="-120"/>
              </a:rPr>
              <a:t>[Who built what: team to fill in before 14 Oct]</a:t>
            </a:r>
            <a:endParaRPr lang="en-US" sz="1800" dirty="0"/>
          </a:p>
        </p:txBody>
      </p:sp>
      <p:sp>
        <p:nvSpPr>
          <p:cNvPr id="27" name="Shape 25"/>
          <p:cNvSpPr/>
          <p:nvPr/>
        </p:nvSpPr>
        <p:spPr>
          <a:xfrm>
            <a:off x="10442448" y="4553712"/>
            <a:ext cx="1051560" cy="1051560"/>
          </a:xfrm>
          <a:prstGeom prst="roundRect">
            <a:avLst>
              <a:gd name="adj" fmla="val 5217"/>
            </a:avLst>
          </a:prstGeom>
          <a:solidFill>
            <a:srgbClr val="FFFFFF"/>
          </a:solidFill>
          <a:ln/>
        </p:spPr>
      </p:sp>
      <p:pic>
        <p:nvPicPr>
          <p:cNvPr id="28" name="Image 0" descr="/Users/rosh/Personal/Hackathons/Optum - Inclusive Innovation for Bharat Hackathon/Project/Sahayak/docs/deck/img/tryit_qr.png">    </p:cNvPr>
          <p:cNvPicPr>
            <a:picLocks noChangeAspect="1"/>
          </p:cNvPicPr>
          <p:nvPr/>
        </p:nvPicPr>
        <p:blipFill>
          <a:blip r:embed="rId1"/>
          <a:stretch>
            <a:fillRect/>
          </a:stretch>
        </p:blipFill>
        <p:spPr>
          <a:xfrm>
            <a:off x="10488168" y="4599432"/>
            <a:ext cx="960120" cy="960120"/>
          </a:xfrm>
          <a:prstGeom prst="rect">
            <a:avLst/>
          </a:prstGeom>
        </p:spPr>
      </p:pic>
      <p:sp>
        <p:nvSpPr>
          <p:cNvPr id="29" name="Text 26"/>
          <p:cNvSpPr/>
          <p:nvPr/>
        </p:nvSpPr>
        <p:spPr>
          <a:xfrm>
            <a:off x="10332720" y="5641848"/>
            <a:ext cx="1271016" cy="274320"/>
          </a:xfrm>
          <a:prstGeom prst="rect">
            <a:avLst/>
          </a:prstGeom>
          <a:noFill/>
          <a:ln/>
        </p:spPr>
        <p:txBody>
          <a:bodyPr wrap="square" lIns="0" tIns="0" rIns="0" bIns="0" rtlCol="0" anchor="ctr"/>
          <a:lstStyle/>
          <a:p>
            <a:pPr algn="ctr" indent="0" marL="0">
              <a:buNone/>
            </a:pPr>
            <a:r>
              <a:rPr lang="en-US" sz="1300" b="1" dirty="0">
                <a:solidFill>
                  <a:srgbClr val="6FA8FF"/>
                </a:solidFill>
                <a:latin typeface="Calibri" pitchFamily="34" charset="0"/>
                <a:ea typeface="Calibri" pitchFamily="34" charset="-122"/>
                <a:cs typeface="Calibri" pitchFamily="34" charset="-120"/>
              </a:rPr>
              <a:t>Try it</a:t>
            </a:r>
            <a:endParaRPr lang="en-US" sz="1300" dirty="0"/>
          </a:p>
        </p:txBody>
      </p:sp>
      <p:sp>
        <p:nvSpPr>
          <p:cNvPr id="30" name="Text 27"/>
          <p:cNvSpPr/>
          <p:nvPr/>
        </p:nvSpPr>
        <p:spPr>
          <a:xfrm>
            <a:off x="548640" y="6382512"/>
            <a:ext cx="11064240" cy="347472"/>
          </a:xfrm>
          <a:prstGeom prst="rect">
            <a:avLst/>
          </a:prstGeom>
          <a:noFill/>
          <a:ln/>
        </p:spPr>
        <p:txBody>
          <a:bodyPr wrap="square" lIns="0" tIns="0" rIns="0" bIns="0" rtlCol="0" anchor="t"/>
          <a:lstStyle/>
          <a:p>
            <a:pPr indent="0" marL="0">
              <a:buNone/>
            </a:pPr>
            <a:r>
              <a:rPr lang="en-US" sz="1200" dirty="0">
                <a:solidFill>
                  <a:srgbClr val="7E7E84"/>
                </a:solidFill>
                <a:latin typeface="Calibri" pitchFamily="34" charset="0"/>
                <a:ea typeface="Calibri" pitchFamily="34" charset="-122"/>
                <a:cs typeface="Calibri" pitchFamily="34" charset="-120"/>
              </a:rPr>
              <a:t>Sources: docs/field/ (field protocol, consent in Hindi and English, kit, scoring script, letter-of-intent templates).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Sahayak: Grand Jury Round, Ideas for India 2026</dc:title>
  <dc:subject>PptxGenJS Presentation</dc:subject>
  <dc:creator>Roshan Raj, Ishmiit Singh</dc:creator>
  <cp:lastModifiedBy>Roshan Raj, Ishmiit Singh</cp:lastModifiedBy>
  <cp:revision>1</cp:revision>
  <dcterms:created xsi:type="dcterms:W3CDTF">2026-10-07T21:11:10Z</dcterms:created>
  <dcterms:modified xsi:type="dcterms:W3CDTF">2026-10-07T21:11:10Z</dcterms:modified>
</cp:coreProperties>
</file>